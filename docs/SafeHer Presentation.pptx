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91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-1536" y="-84"/>
      </p:cViewPr>
      <p:guideLst>
        <p:guide orient="horz" pos="291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rgbClr val="282828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rgbClr val="6E6E6E"/>
                </a:solidFill>
                <a:latin typeface="Arial MT"/>
                <a:cs typeface="Arial MT"/>
              </a:defRPr>
            </a:lvl1pPr>
          </a:lstStyle>
          <a:p>
            <a:pPr marL="90805">
              <a:lnSpc>
                <a:spcPts val="2095"/>
              </a:lnSpc>
            </a:pPr>
            <a:r>
              <a:rPr sz="1800" spc="-20" dirty="0"/>
              <a:t>Slide</a:t>
            </a:r>
            <a:r>
              <a:rPr sz="1800" spc="-135" dirty="0"/>
              <a:t> </a:t>
            </a:r>
            <a:fld id="{81D60167-4931-47E6-BA6A-407CBD079E47}" type="slidenum">
              <a:rPr sz="1800" spc="20" dirty="0">
                <a:solidFill>
                  <a:srgbClr val="6B6B6B"/>
                </a:solidFill>
              </a:rPr>
            </a:fld>
            <a:endParaRPr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rgbClr val="282828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rgbClr val="6E6E6E"/>
                </a:solidFill>
                <a:latin typeface="Arial MT"/>
                <a:cs typeface="Arial MT"/>
              </a:defRPr>
            </a:lvl1pPr>
          </a:lstStyle>
          <a:p>
            <a:pPr marL="90805">
              <a:lnSpc>
                <a:spcPts val="2095"/>
              </a:lnSpc>
            </a:pPr>
            <a:r>
              <a:rPr sz="1800" spc="-20" dirty="0"/>
              <a:t>Slide</a:t>
            </a:r>
            <a:r>
              <a:rPr sz="1800" spc="-135" dirty="0"/>
              <a:t> </a:t>
            </a:r>
            <a:fld id="{81D60167-4931-47E6-BA6A-407CBD079E47}" type="slidenum">
              <a:rPr sz="1800" spc="20" dirty="0">
                <a:solidFill>
                  <a:srgbClr val="6B6B6B"/>
                </a:solidFill>
              </a:rPr>
            </a:fld>
            <a:endParaRPr sz="18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rgbClr val="6E6E6E"/>
                </a:solidFill>
                <a:latin typeface="Arial MT"/>
                <a:cs typeface="Arial MT"/>
              </a:defRPr>
            </a:lvl1pPr>
          </a:lstStyle>
          <a:p>
            <a:pPr marL="90805">
              <a:lnSpc>
                <a:spcPts val="2095"/>
              </a:lnSpc>
            </a:pPr>
            <a:r>
              <a:rPr sz="1800" spc="-20" dirty="0"/>
              <a:t>Slide</a:t>
            </a:r>
            <a:r>
              <a:rPr sz="1800" spc="-135" dirty="0"/>
              <a:t> </a:t>
            </a:r>
            <a:fld id="{81D60167-4931-47E6-BA6A-407CBD079E47}" type="slidenum">
              <a:rPr sz="1800" spc="20" dirty="0">
                <a:solidFill>
                  <a:srgbClr val="6B6B6B"/>
                </a:solidFill>
              </a:rPr>
            </a:fld>
            <a:endParaRPr sz="18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rgbClr val="6E6E6E"/>
                </a:solidFill>
                <a:latin typeface="Arial MT"/>
                <a:cs typeface="Arial MT"/>
              </a:defRPr>
            </a:lvl1pPr>
          </a:lstStyle>
          <a:p>
            <a:pPr marL="90805">
              <a:lnSpc>
                <a:spcPts val="2095"/>
              </a:lnSpc>
            </a:pPr>
            <a:r>
              <a:rPr sz="1800" spc="-20" dirty="0"/>
              <a:t>Slide</a:t>
            </a:r>
            <a:r>
              <a:rPr sz="1800" spc="-135" dirty="0"/>
              <a:t> </a:t>
            </a:r>
            <a:fld id="{81D60167-4931-47E6-BA6A-407CBD079E47}" type="slidenum">
              <a:rPr sz="1800" spc="20" dirty="0">
                <a:solidFill>
                  <a:srgbClr val="6B6B6B"/>
                </a:solidFill>
              </a:rPr>
            </a:fld>
            <a:endParaRPr sz="180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rgbClr val="6E6E6E"/>
                </a:solidFill>
                <a:latin typeface="Arial MT"/>
                <a:cs typeface="Arial MT"/>
              </a:defRPr>
            </a:lvl1pPr>
          </a:lstStyle>
          <a:p>
            <a:pPr marL="90805">
              <a:lnSpc>
                <a:spcPts val="2095"/>
              </a:lnSpc>
            </a:pPr>
            <a:r>
              <a:rPr sz="1800" spc="-20" dirty="0"/>
              <a:t>Slide</a:t>
            </a:r>
            <a:r>
              <a:rPr sz="1800" spc="-135" dirty="0"/>
              <a:t> </a:t>
            </a:r>
            <a:fld id="{81D60167-4931-47E6-BA6A-407CBD079E47}" type="slidenum">
              <a:rPr sz="1800" spc="20" dirty="0">
                <a:solidFill>
                  <a:srgbClr val="6B6B6B"/>
                </a:solidFill>
              </a:rPr>
            </a:fld>
            <a:endParaRPr sz="1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29891" y="927062"/>
            <a:ext cx="8636000" cy="575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72472" y="2755540"/>
            <a:ext cx="17592675" cy="67748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rgbClr val="282828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8589011" y="10405277"/>
            <a:ext cx="805180" cy="281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0" i="0">
                <a:solidFill>
                  <a:srgbClr val="6E6E6E"/>
                </a:solidFill>
                <a:latin typeface="Arial MT"/>
                <a:cs typeface="Arial MT"/>
              </a:defRPr>
            </a:lvl1pPr>
          </a:lstStyle>
          <a:p>
            <a:pPr marL="90805">
              <a:lnSpc>
                <a:spcPts val="2095"/>
              </a:lnSpc>
            </a:pPr>
            <a:r>
              <a:rPr sz="1800" spc="-20" dirty="0"/>
              <a:t>Slide</a:t>
            </a:r>
            <a:r>
              <a:rPr sz="1800" spc="-135" dirty="0"/>
              <a:t> </a:t>
            </a:r>
            <a:fld id="{81D60167-4931-47E6-BA6A-407CBD079E47}" type="slidenum">
              <a:rPr sz="1800" spc="20" dirty="0">
                <a:solidFill>
                  <a:srgbClr val="6B6B6B"/>
                </a:solidFill>
              </a:rPr>
            </a:fld>
            <a:endParaRPr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jpeg"/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hyperlink" Target="https://spring.io/projects/string" TargetMode="Externa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706" y="769610"/>
            <a:ext cx="20080605" cy="353695"/>
          </a:xfrm>
          <a:custGeom>
            <a:avLst/>
            <a:gdLst/>
            <a:ahLst/>
            <a:cxnLst/>
            <a:rect l="l" t="t" r="r" b="b"/>
            <a:pathLst>
              <a:path w="20080605" h="353694">
                <a:moveTo>
                  <a:pt x="20080541" y="353392"/>
                </a:moveTo>
                <a:lnTo>
                  <a:pt x="0" y="353392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53392"/>
                </a:lnTo>
                <a:close/>
              </a:path>
            </a:pathLst>
          </a:custGeom>
          <a:solidFill>
            <a:srgbClr val="0F16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04977" y="752328"/>
            <a:ext cx="3465195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90880" algn="l"/>
              </a:tabLst>
            </a:pPr>
            <a:r>
              <a:rPr sz="2450" spc="-50" dirty="0">
                <a:solidFill>
                  <a:srgbClr val="FFFFFF"/>
                </a:solidFill>
                <a:latin typeface="Arial MT"/>
                <a:cs typeface="Arial MT"/>
              </a:rPr>
              <a:t>@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2450" spc="125" dirty="0">
                <a:solidFill>
                  <a:srgbClr val="FFFFFF"/>
                </a:solidFill>
                <a:latin typeface="Arial MT"/>
                <a:cs typeface="Arial MT"/>
              </a:rPr>
              <a:t>SofeHer</a:t>
            </a:r>
            <a:r>
              <a:rPr sz="2450" spc="1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215" dirty="0">
                <a:solidFill>
                  <a:srgbClr val="FFFFFF"/>
                </a:solidFill>
                <a:latin typeface="Arial MT"/>
                <a:cs typeface="Arial MT"/>
              </a:rPr>
              <a:t>Platform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706" y="4005113"/>
            <a:ext cx="20080605" cy="636270"/>
          </a:xfrm>
          <a:custGeom>
            <a:avLst/>
            <a:gdLst/>
            <a:ahLst/>
            <a:cxnLst/>
            <a:rect l="l" t="t" r="r" b="b"/>
            <a:pathLst>
              <a:path w="20080605" h="636270">
                <a:moveTo>
                  <a:pt x="20080541" y="636106"/>
                </a:moveTo>
                <a:lnTo>
                  <a:pt x="0" y="636106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636106"/>
                </a:lnTo>
                <a:close/>
              </a:path>
            </a:pathLst>
          </a:custGeom>
          <a:solidFill>
            <a:srgbClr val="1316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726366" y="3817026"/>
            <a:ext cx="14093190" cy="810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150" spc="-490" dirty="0">
                <a:latin typeface="Arial Black" panose="020B0A04020102020204"/>
                <a:cs typeface="Arial Black" panose="020B0A04020102020204"/>
              </a:rPr>
              <a:t>SofeHer:</a:t>
            </a:r>
            <a:r>
              <a:rPr sz="5150" spc="-335" dirty="0">
                <a:latin typeface="Arial Black" panose="020B0A04020102020204"/>
                <a:cs typeface="Arial Black" panose="020B0A04020102020204"/>
              </a:rPr>
              <a:t> </a:t>
            </a:r>
            <a:r>
              <a:rPr sz="5150" spc="-525" dirty="0">
                <a:latin typeface="Arial Black" panose="020B0A04020102020204"/>
                <a:cs typeface="Arial Black" panose="020B0A04020102020204"/>
              </a:rPr>
              <a:t>An</a:t>
            </a:r>
            <a:r>
              <a:rPr sz="5150" spc="-869" dirty="0">
                <a:latin typeface="Arial Black" panose="020B0A04020102020204"/>
                <a:cs typeface="Arial Black" panose="020B0A04020102020204"/>
              </a:rPr>
              <a:t> </a:t>
            </a:r>
            <a:r>
              <a:rPr sz="5150" spc="-530" dirty="0">
                <a:latin typeface="Arial Black" panose="020B0A04020102020204"/>
                <a:cs typeface="Arial Black" panose="020B0A04020102020204"/>
              </a:rPr>
              <a:t>Intelligent</a:t>
            </a:r>
            <a:r>
              <a:rPr sz="5150" spc="-270" dirty="0">
                <a:latin typeface="Arial Black" panose="020B0A04020102020204"/>
                <a:cs typeface="Arial Black" panose="020B0A04020102020204"/>
              </a:rPr>
              <a:t> </a:t>
            </a:r>
            <a:r>
              <a:rPr sz="5150" spc="-340" dirty="0">
                <a:latin typeface="Arial Black" panose="020B0A04020102020204"/>
                <a:cs typeface="Arial Black" panose="020B0A04020102020204"/>
              </a:rPr>
              <a:t>AI-</a:t>
            </a:r>
            <a:r>
              <a:rPr sz="5150" spc="-395" dirty="0">
                <a:latin typeface="Arial Black" panose="020B0A04020102020204"/>
                <a:cs typeface="Arial Black" panose="020B0A04020102020204"/>
              </a:rPr>
              <a:t>Driven</a:t>
            </a:r>
            <a:r>
              <a:rPr sz="5150" spc="-210" dirty="0">
                <a:latin typeface="Arial Black" panose="020B0A04020102020204"/>
                <a:cs typeface="Arial Black" panose="020B0A04020102020204"/>
              </a:rPr>
              <a:t> </a:t>
            </a:r>
            <a:r>
              <a:rPr sz="5150" spc="-705" dirty="0">
                <a:latin typeface="Arial Black" panose="020B0A04020102020204"/>
                <a:cs typeface="Arial Black" panose="020B0A04020102020204"/>
              </a:rPr>
              <a:t>Women</a:t>
            </a:r>
            <a:r>
              <a:rPr sz="5150" spc="-690" dirty="0">
                <a:latin typeface="Arial Black" panose="020B0A04020102020204"/>
                <a:cs typeface="Arial Black" panose="020B0A04020102020204"/>
              </a:rPr>
              <a:t> </a:t>
            </a:r>
            <a:r>
              <a:rPr sz="5150" spc="-395" dirty="0">
                <a:latin typeface="Arial Black" panose="020B0A04020102020204"/>
                <a:cs typeface="Arial Black" panose="020B0A04020102020204"/>
              </a:rPr>
              <a:t>Safely</a:t>
            </a:r>
            <a:endParaRPr sz="515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5706" y="4790430"/>
            <a:ext cx="20080605" cy="636270"/>
          </a:xfrm>
          <a:custGeom>
            <a:avLst/>
            <a:gdLst/>
            <a:ahLst/>
            <a:cxnLst/>
            <a:rect l="l" t="t" r="r" b="b"/>
            <a:pathLst>
              <a:path w="20080605" h="636270">
                <a:moveTo>
                  <a:pt x="20080541" y="636106"/>
                </a:moveTo>
                <a:lnTo>
                  <a:pt x="0" y="636106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636106"/>
                </a:lnTo>
                <a:close/>
              </a:path>
            </a:pathLst>
          </a:custGeom>
          <a:solidFill>
            <a:srgbClr val="1316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5706" y="5591452"/>
            <a:ext cx="20080605" cy="620395"/>
          </a:xfrm>
          <a:custGeom>
            <a:avLst/>
            <a:gdLst/>
            <a:ahLst/>
            <a:cxnLst/>
            <a:rect l="l" t="t" r="r" b="b"/>
            <a:pathLst>
              <a:path w="20080605" h="620395">
                <a:moveTo>
                  <a:pt x="20080541" y="620399"/>
                </a:moveTo>
                <a:lnTo>
                  <a:pt x="0" y="62039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620399"/>
                </a:lnTo>
                <a:close/>
              </a:path>
            </a:pathLst>
          </a:custGeom>
          <a:solidFill>
            <a:srgbClr val="1316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734050" y="4618703"/>
            <a:ext cx="15259050" cy="1584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6250"/>
              </a:lnSpc>
            </a:pPr>
            <a:r>
              <a:rPr sz="5000" spc="-320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Plofform</a:t>
            </a:r>
            <a:r>
              <a:rPr sz="5000" spc="-459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5000" spc="-515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with</a:t>
            </a:r>
            <a:r>
              <a:rPr sz="5000" spc="-700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5000" spc="-434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Smart</a:t>
            </a:r>
            <a:r>
              <a:rPr sz="5000" spc="-600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5000" spc="-570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Journey</a:t>
            </a:r>
            <a:r>
              <a:rPr sz="5000" spc="-260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5000" spc="-445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Monitoring</a:t>
            </a:r>
            <a:r>
              <a:rPr sz="5000" spc="-320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5000" spc="-805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&amp;</a:t>
            </a:r>
            <a:r>
              <a:rPr sz="5000" spc="-1105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5000" spc="-480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Proactive </a:t>
            </a:r>
            <a:r>
              <a:rPr sz="5000" spc="-620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Emergency</a:t>
            </a:r>
            <a:r>
              <a:rPr sz="5000" spc="35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5000" spc="-650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Response</a:t>
            </a:r>
            <a:endParaRPr sz="50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5706" y="6580951"/>
            <a:ext cx="20080605" cy="290830"/>
          </a:xfrm>
          <a:custGeom>
            <a:avLst/>
            <a:gdLst/>
            <a:ahLst/>
            <a:cxnLst/>
            <a:rect l="l" t="t" r="r" b="b"/>
            <a:pathLst>
              <a:path w="20080605" h="290829">
                <a:moveTo>
                  <a:pt x="20080541" y="290567"/>
                </a:moveTo>
                <a:lnTo>
                  <a:pt x="0" y="290567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90567"/>
                </a:lnTo>
                <a:close/>
              </a:path>
            </a:pathLst>
          </a:custGeom>
          <a:solidFill>
            <a:srgbClr val="1316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5706" y="7005022"/>
            <a:ext cx="20080605" cy="290830"/>
          </a:xfrm>
          <a:custGeom>
            <a:avLst/>
            <a:gdLst/>
            <a:ahLst/>
            <a:cxnLst/>
            <a:rect l="l" t="t" r="r" b="b"/>
            <a:pathLst>
              <a:path w="20080605" h="290829">
                <a:moveTo>
                  <a:pt x="20080541" y="290567"/>
                </a:moveTo>
                <a:lnTo>
                  <a:pt x="0" y="290567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90567"/>
                </a:lnTo>
                <a:close/>
              </a:path>
            </a:pathLst>
          </a:custGeom>
          <a:solidFill>
            <a:srgbClr val="1316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749537" y="6402783"/>
            <a:ext cx="16034385" cy="85344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2400" spc="-459" dirty="0">
                <a:solidFill>
                  <a:schemeClr val="bg1"/>
                </a:solidFill>
                <a:latin typeface="Arial MT"/>
                <a:cs typeface="Arial MT"/>
              </a:rPr>
              <a:t>A</a:t>
            </a:r>
            <a:r>
              <a:rPr sz="2400" spc="-16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chemeClr val="bg1"/>
                </a:solidFill>
                <a:latin typeface="Arial MT"/>
                <a:cs typeface="Arial MT"/>
              </a:rPr>
              <a:t>proactive</a:t>
            </a:r>
            <a:r>
              <a:rPr sz="2400" spc="-8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spc="-105" dirty="0">
                <a:solidFill>
                  <a:schemeClr val="bg1"/>
                </a:solidFill>
                <a:latin typeface="Arial MT"/>
                <a:cs typeface="Arial MT"/>
              </a:rPr>
              <a:t>web</a:t>
            </a:r>
            <a:r>
              <a:rPr sz="2400" spc="-18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spc="-55" dirty="0">
                <a:solidFill>
                  <a:schemeClr val="bg1"/>
                </a:solidFill>
                <a:latin typeface="Arial MT"/>
                <a:cs typeface="Arial MT"/>
              </a:rPr>
              <a:t>application</a:t>
            </a:r>
            <a:r>
              <a:rPr sz="2400" spc="-18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spc="-70" dirty="0">
                <a:solidFill>
                  <a:schemeClr val="bg1"/>
                </a:solidFill>
                <a:latin typeface="Arial MT"/>
                <a:cs typeface="Arial MT"/>
              </a:rPr>
              <a:t>intepratinp</a:t>
            </a:r>
            <a:r>
              <a:rPr sz="2400" spc="-1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spc="-295" dirty="0">
                <a:solidFill>
                  <a:schemeClr val="bg1"/>
                </a:solidFill>
                <a:latin typeface="Arial MT"/>
                <a:cs typeface="Arial MT"/>
              </a:rPr>
              <a:t>real—</a:t>
            </a:r>
            <a:r>
              <a:rPr sz="2400" spc="-260" dirty="0">
                <a:solidFill>
                  <a:schemeClr val="bg1"/>
                </a:solidFill>
                <a:latin typeface="Arial MT"/>
                <a:cs typeface="Arial MT"/>
              </a:rPr>
              <a:t>time</a:t>
            </a:r>
            <a:r>
              <a:rPr sz="2400" spc="10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spc="-75" dirty="0">
                <a:solidFill>
                  <a:schemeClr val="bg1"/>
                </a:solidFill>
                <a:latin typeface="Arial MT"/>
                <a:cs typeface="Arial MT"/>
              </a:rPr>
              <a:t>telemetry.</a:t>
            </a:r>
            <a:r>
              <a:rPr sz="2400" spc="6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spc="-110" dirty="0">
                <a:solidFill>
                  <a:schemeClr val="bg1"/>
                </a:solidFill>
                <a:latin typeface="Arial MT"/>
                <a:cs typeface="Arial MT"/>
              </a:rPr>
              <a:t>spatial</a:t>
            </a:r>
            <a:r>
              <a:rPr sz="2400" spc="-12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spc="-165" dirty="0">
                <a:solidFill>
                  <a:schemeClr val="bg1"/>
                </a:solidFill>
                <a:latin typeface="Arial MT"/>
                <a:cs typeface="Arial MT"/>
              </a:rPr>
              <a:t>risk</a:t>
            </a:r>
            <a:r>
              <a:rPr sz="2400" spc="-10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spc="-165" dirty="0">
                <a:solidFill>
                  <a:schemeClr val="bg1"/>
                </a:solidFill>
                <a:latin typeface="Arial MT"/>
                <a:cs typeface="Arial MT"/>
              </a:rPr>
              <a:t>analysis,</a:t>
            </a:r>
            <a:r>
              <a:rPr sz="2400" spc="-5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spc="-110" dirty="0">
                <a:solidFill>
                  <a:schemeClr val="bg1"/>
                </a:solidFill>
                <a:latin typeface="Arial MT"/>
                <a:cs typeface="Arial MT"/>
              </a:rPr>
              <a:t>dynamic</a:t>
            </a:r>
            <a:r>
              <a:rPr sz="2400" spc="4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spc="-300" dirty="0">
                <a:solidFill>
                  <a:schemeClr val="bg1"/>
                </a:solidFill>
                <a:latin typeface="Arial MT"/>
                <a:cs typeface="Arial MT"/>
              </a:rPr>
              <a:t>check—</a:t>
            </a:r>
            <a:r>
              <a:rPr sz="2400" spc="-195" dirty="0">
                <a:solidFill>
                  <a:schemeClr val="bg1"/>
                </a:solidFill>
                <a:latin typeface="Arial MT"/>
                <a:cs typeface="Arial MT"/>
              </a:rPr>
              <a:t>ins,</a:t>
            </a:r>
            <a:r>
              <a:rPr sz="2400" spc="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spc="-150" dirty="0">
                <a:solidFill>
                  <a:schemeClr val="bg1"/>
                </a:solidFill>
                <a:latin typeface="Arial MT"/>
                <a:cs typeface="Arial MT"/>
              </a:rPr>
              <a:t>and</a:t>
            </a:r>
            <a:r>
              <a:rPr sz="2400" spc="-2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spc="-65" dirty="0">
                <a:solidFill>
                  <a:schemeClr val="bg1"/>
                </a:solidFill>
                <a:latin typeface="Arial MT"/>
                <a:cs typeface="Arial MT"/>
              </a:rPr>
              <a:t>automated</a:t>
            </a:r>
            <a:r>
              <a:rPr sz="2400" spc="-4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spc="-380" dirty="0">
                <a:solidFill>
                  <a:schemeClr val="bg1"/>
                </a:solidFill>
                <a:latin typeface="Arial MT"/>
                <a:cs typeface="Arial MT"/>
              </a:rPr>
              <a:t>multi—</a:t>
            </a:r>
            <a:endParaRPr sz="2400">
              <a:solidFill>
                <a:schemeClr val="bg1"/>
              </a:solidFill>
              <a:latin typeface="Arial MT"/>
              <a:cs typeface="Arial MT"/>
            </a:endParaRPr>
          </a:p>
          <a:p>
            <a:pPr marL="14605">
              <a:lnSpc>
                <a:spcPct val="100000"/>
              </a:lnSpc>
              <a:spcBef>
                <a:spcPts val="380"/>
              </a:spcBef>
            </a:pPr>
            <a:r>
              <a:rPr sz="2400" spc="-35" dirty="0">
                <a:solidFill>
                  <a:schemeClr val="bg1"/>
                </a:solidFill>
                <a:latin typeface="Arial MT"/>
                <a:cs typeface="Arial MT"/>
              </a:rPr>
              <a:t>tier</a:t>
            </a:r>
            <a:r>
              <a:rPr sz="2400" spc="-19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spc="-30" dirty="0">
                <a:solidFill>
                  <a:schemeClr val="bg1"/>
                </a:solidFill>
                <a:latin typeface="Arial MT"/>
                <a:cs typeface="Arial MT"/>
              </a:rPr>
              <a:t>emergency</a:t>
            </a:r>
            <a:r>
              <a:rPr sz="2400" spc="-4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Arial MT"/>
                <a:cs typeface="Arial MT"/>
              </a:rPr>
              <a:t>orchestration.</a:t>
            </a:r>
            <a:endParaRPr sz="2400" spc="-10" dirty="0">
              <a:solidFill>
                <a:schemeClr val="bg1"/>
              </a:solidFill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986968" y="9646037"/>
            <a:ext cx="1555115" cy="2806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50" dirty="0">
                <a:solidFill>
                  <a:srgbClr val="5D5974"/>
                </a:solidFill>
                <a:latin typeface="Arial MT"/>
                <a:cs typeface="Arial MT"/>
              </a:rPr>
              <a:t>Batch</a:t>
            </a:r>
            <a:r>
              <a:rPr sz="1650" spc="185" dirty="0">
                <a:solidFill>
                  <a:srgbClr val="5D5974"/>
                </a:solidFill>
                <a:latin typeface="Arial MT"/>
                <a:cs typeface="Arial MT"/>
              </a:rPr>
              <a:t> </a:t>
            </a:r>
            <a:r>
              <a:rPr sz="1650" spc="65" dirty="0">
                <a:solidFill>
                  <a:srgbClr val="A7A7A7"/>
                </a:solidFill>
                <a:latin typeface="Arial MT"/>
                <a:cs typeface="Arial MT"/>
              </a:rPr>
              <a:t>Identifier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357791" y="9646037"/>
            <a:ext cx="1372235" cy="2806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50" spc="75" dirty="0">
                <a:solidFill>
                  <a:srgbClr val="5D5B6E"/>
                </a:solidFill>
                <a:latin typeface="Arial MT"/>
                <a:cs typeface="Arial MT"/>
              </a:rPr>
              <a:t>Project</a:t>
            </a:r>
            <a:r>
              <a:rPr sz="1650" spc="45" dirty="0">
                <a:solidFill>
                  <a:srgbClr val="5D5B6E"/>
                </a:solidFill>
                <a:latin typeface="Arial MT"/>
                <a:cs typeface="Arial MT"/>
              </a:rPr>
              <a:t> </a:t>
            </a:r>
            <a:r>
              <a:rPr sz="1650" spc="-10" dirty="0">
                <a:solidFill>
                  <a:srgbClr val="3B465E"/>
                </a:solidFill>
                <a:latin typeface="Arial MT"/>
                <a:cs typeface="Arial MT"/>
              </a:rPr>
              <a:t>Guide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5706" y="10067756"/>
            <a:ext cx="20080605" cy="243840"/>
          </a:xfrm>
          <a:custGeom>
            <a:avLst/>
            <a:gdLst/>
            <a:ahLst/>
            <a:cxnLst/>
            <a:rect l="l" t="t" r="r" b="b"/>
            <a:pathLst>
              <a:path w="20080605" h="243840">
                <a:moveTo>
                  <a:pt x="20080541" y="243448"/>
                </a:moveTo>
                <a:lnTo>
                  <a:pt x="0" y="243448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43448"/>
                </a:lnTo>
                <a:close/>
              </a:path>
            </a:pathLst>
          </a:custGeom>
          <a:solidFill>
            <a:srgbClr val="1318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679450" y="9988550"/>
            <a:ext cx="3627120" cy="381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spc="-370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B.</a:t>
            </a:r>
            <a:r>
              <a:rPr sz="2400" spc="-195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2400" spc="-450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Usha</a:t>
            </a:r>
            <a:r>
              <a:rPr sz="2400" spc="-215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2400" spc="-400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Lalith</a:t>
            </a:r>
            <a:r>
              <a:rPr lang="en-US" altLang="en-US" sz="2400" spc="-400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a - 239X1A0504</a:t>
            </a:r>
            <a:endParaRPr lang="en-US" altLang="en-US" sz="2400" spc="-400" dirty="0">
              <a:solidFill>
                <a:srgbClr val="FFFFFF"/>
              </a:solidFill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65650" y="10003790"/>
            <a:ext cx="3067050" cy="3886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spc="-590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J.</a:t>
            </a:r>
            <a:r>
              <a:rPr sz="2450" spc="-185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2450" spc="-375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Shalini</a:t>
            </a:r>
            <a:r>
              <a:rPr lang="en-US" altLang="en-US" sz="2450" spc="-375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-  249X5A05U1</a:t>
            </a:r>
            <a:endParaRPr lang="en-US" altLang="en-US" sz="2450" spc="-375" dirty="0">
              <a:solidFill>
                <a:srgbClr val="FFFFFF"/>
              </a:solidFill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147050" y="9988550"/>
            <a:ext cx="4233545" cy="273050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spc="-235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G.</a:t>
            </a:r>
            <a:r>
              <a:rPr sz="2450" spc="-250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2450" spc="-380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Deekshitha</a:t>
            </a:r>
            <a:r>
              <a:rPr lang="en-US" altLang="en-US" sz="2450" spc="-380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- 239X1X0527</a:t>
            </a:r>
            <a:endParaRPr lang="en-US" altLang="en-US" sz="2450" spc="-380" dirty="0">
              <a:solidFill>
                <a:srgbClr val="FFFFFF"/>
              </a:solidFill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988688" y="9988304"/>
            <a:ext cx="1864360" cy="3790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300" spc="-275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Batch</a:t>
            </a:r>
            <a:r>
              <a:rPr sz="2300" spc="-200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2300" spc="-204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No.</a:t>
            </a:r>
            <a:r>
              <a:rPr sz="2300" spc="-70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2300" spc="-500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B15</a:t>
            </a:r>
            <a:endParaRPr sz="23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7360775" y="9988304"/>
            <a:ext cx="1539875" cy="3790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300" spc="-254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P.</a:t>
            </a:r>
            <a:r>
              <a:rPr sz="2300" spc="-80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2300" spc="-225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Sunanda</a:t>
            </a:r>
            <a:endParaRPr sz="2300">
              <a:latin typeface="Arial Black" panose="020B0A04020102020204"/>
              <a:cs typeface="Arial Black" panose="020B0A040201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3903" y="3109853"/>
            <a:ext cx="117797" cy="607834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32393" y="598537"/>
            <a:ext cx="27051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0" dirty="0">
                <a:solidFill>
                  <a:srgbClr val="DF2F56"/>
                </a:solidFill>
                <a:latin typeface="Arial Black" panose="020B0A04020102020204"/>
                <a:cs typeface="Arial Black" panose="020B0A04020102020204"/>
              </a:rPr>
              <a:t>Ex</a:t>
            </a:r>
            <a:r>
              <a:rPr sz="1800" spc="-370" dirty="0">
                <a:solidFill>
                  <a:srgbClr val="DF2F56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800" spc="-229" dirty="0">
                <a:solidFill>
                  <a:srgbClr val="E12852"/>
                </a:solidFill>
                <a:latin typeface="Arial Black" panose="020B0A04020102020204"/>
                <a:cs typeface="Arial Black" panose="020B0A04020102020204"/>
              </a:rPr>
              <a:t>E</a:t>
            </a:r>
            <a:r>
              <a:rPr sz="1800" spc="-380" dirty="0">
                <a:solidFill>
                  <a:srgbClr val="E12852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800" spc="-60" dirty="0">
                <a:solidFill>
                  <a:srgbClr val="BC244B"/>
                </a:solidFill>
                <a:latin typeface="Arial Black" panose="020B0A04020102020204"/>
                <a:cs typeface="Arial Black" panose="020B0A04020102020204"/>
              </a:rPr>
              <a:t>c</a:t>
            </a:r>
            <a:r>
              <a:rPr sz="1800" spc="-365" dirty="0">
                <a:solidFill>
                  <a:srgbClr val="BC244B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800" dirty="0">
                <a:solidFill>
                  <a:srgbClr val="E41C57"/>
                </a:solidFill>
                <a:latin typeface="Arial Black" panose="020B0A04020102020204"/>
                <a:cs typeface="Arial Black" panose="020B0A04020102020204"/>
              </a:rPr>
              <a:t>uTlVE</a:t>
            </a:r>
            <a:r>
              <a:rPr sz="1800" spc="55" dirty="0">
                <a:solidFill>
                  <a:srgbClr val="E41C57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800" spc="-270" dirty="0">
                <a:solidFill>
                  <a:srgbClr val="D12B59"/>
                </a:solidFill>
                <a:latin typeface="Arial Black" panose="020B0A04020102020204"/>
                <a:cs typeface="Arial Black" panose="020B0A04020102020204"/>
              </a:rPr>
              <a:t>SU</a:t>
            </a:r>
            <a:r>
              <a:rPr sz="1800" spc="-405" dirty="0">
                <a:solidFill>
                  <a:srgbClr val="D12B59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800" spc="-265" dirty="0">
                <a:solidFill>
                  <a:srgbClr val="D11C3D"/>
                </a:solidFill>
                <a:latin typeface="Arial Black" panose="020B0A04020102020204"/>
                <a:cs typeface="Arial Black" panose="020B0A04020102020204"/>
              </a:rPr>
              <a:t>M¥4ARY</a:t>
            </a:r>
            <a:endParaRPr sz="18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6620" y="10405277"/>
            <a:ext cx="447929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5"/>
              </a:lnSpc>
            </a:pPr>
            <a:r>
              <a:rPr sz="1800" spc="-55" dirty="0">
                <a:solidFill>
                  <a:srgbClr val="6E6E6E"/>
                </a:solidFill>
                <a:latin typeface="Arial MT"/>
                <a:cs typeface="Arial MT"/>
              </a:rPr>
              <a:t>Saf</a:t>
            </a:r>
            <a:r>
              <a:rPr sz="1800" spc="-140" dirty="0">
                <a:solidFill>
                  <a:srgbClr val="6E6E6E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676767"/>
                </a:solidFill>
                <a:latin typeface="Arial MT"/>
                <a:cs typeface="Arial MT"/>
              </a:rPr>
              <a:t>eHer:</a:t>
            </a:r>
            <a:r>
              <a:rPr sz="1800" spc="-45" dirty="0">
                <a:solidFill>
                  <a:srgbClr val="676767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95A5C3"/>
                </a:solidFill>
                <a:latin typeface="Arial MT"/>
                <a:cs typeface="Arial MT"/>
              </a:rPr>
              <a:t>AI</a:t>
            </a:r>
            <a:r>
              <a:rPr sz="1800" spc="-20" dirty="0">
                <a:solidFill>
                  <a:srgbClr val="646464"/>
                </a:solidFill>
                <a:latin typeface="Arial MT"/>
                <a:cs typeface="Arial MT"/>
              </a:rPr>
              <a:t>-</a:t>
            </a:r>
            <a:r>
              <a:rPr sz="1800" dirty="0">
                <a:solidFill>
                  <a:srgbClr val="646464"/>
                </a:solidFill>
                <a:latin typeface="Arial MT"/>
                <a:cs typeface="Arial MT"/>
              </a:rPr>
              <a:t>Driven</a:t>
            </a:r>
            <a:r>
              <a:rPr sz="1800" spc="15" dirty="0">
                <a:solidFill>
                  <a:srgbClr val="64646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676767"/>
                </a:solidFill>
                <a:latin typeface="Arial MT"/>
                <a:cs typeface="Arial MT"/>
              </a:rPr>
              <a:t>Women</a:t>
            </a:r>
            <a:r>
              <a:rPr sz="1800" spc="-75" dirty="0">
                <a:solidFill>
                  <a:srgbClr val="676767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6E6E6E"/>
                </a:solidFill>
                <a:latin typeface="Arial MT"/>
                <a:cs typeface="Arial MT"/>
              </a:rPr>
              <a:t>Safety</a:t>
            </a:r>
            <a:r>
              <a:rPr sz="1800" spc="-15" dirty="0">
                <a:solidFill>
                  <a:srgbClr val="6E6E6E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6B6B6B"/>
                </a:solidFill>
                <a:latin typeface="Arial MT"/>
                <a:cs typeface="Arial MT"/>
              </a:rPr>
              <a:t>Platform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0805">
              <a:lnSpc>
                <a:spcPts val="2095"/>
              </a:lnSpc>
            </a:pPr>
            <a:r>
              <a:rPr sz="1800" spc="-20" dirty="0"/>
              <a:t>Slide</a:t>
            </a:r>
            <a:r>
              <a:rPr sz="1800" spc="-135" dirty="0"/>
              <a:t> </a:t>
            </a:r>
            <a:fld id="{81D60167-4931-47E6-BA6A-407CBD079E47}" type="slidenum">
              <a:rPr sz="1800" spc="20" dirty="0">
                <a:solidFill>
                  <a:srgbClr val="6B6B6B"/>
                </a:solidFill>
              </a:rPr>
            </a:fld>
            <a:endParaRPr sz="1800"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125"/>
              </a:spcBef>
            </a:pPr>
            <a:r>
              <a:rPr sz="3450" spc="70" dirty="0">
                <a:solidFill>
                  <a:srgbClr val="111111"/>
                </a:solidFill>
              </a:rPr>
              <a:t>Project</a:t>
            </a:r>
            <a:r>
              <a:rPr sz="3450" spc="-210" dirty="0">
                <a:solidFill>
                  <a:srgbClr val="111111"/>
                </a:solidFill>
              </a:rPr>
              <a:t> </a:t>
            </a:r>
            <a:r>
              <a:rPr sz="3450" spc="110" dirty="0">
                <a:solidFill>
                  <a:srgbClr val="131313"/>
                </a:solidFill>
              </a:rPr>
              <a:t>Abstract</a:t>
            </a:r>
            <a:endParaRPr sz="3450"/>
          </a:p>
        </p:txBody>
      </p:sp>
      <p:sp>
        <p:nvSpPr>
          <p:cNvPr id="5" name="object 5"/>
          <p:cNvSpPr txBox="1"/>
          <p:nvPr/>
        </p:nvSpPr>
        <p:spPr>
          <a:xfrm>
            <a:off x="18143863" y="943423"/>
            <a:ext cx="1001394" cy="555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95275" indent="-282575">
              <a:lnSpc>
                <a:spcPct val="100000"/>
              </a:lnSpc>
              <a:spcBef>
                <a:spcPts val="125"/>
              </a:spcBef>
              <a:buChar char="•"/>
              <a:tabLst>
                <a:tab pos="295275" algn="l"/>
              </a:tabLst>
            </a:pPr>
            <a:r>
              <a:rPr sz="3450" spc="-35" dirty="0">
                <a:solidFill>
                  <a:srgbClr val="4D4D4D"/>
                </a:solidFill>
                <a:latin typeface="Arial MT"/>
                <a:cs typeface="Arial MT"/>
              </a:rPr>
              <a:t>•=••</a:t>
            </a:r>
            <a:endParaRPr sz="34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59103" y="3574917"/>
            <a:ext cx="17269460" cy="49949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635" algn="just">
              <a:lnSpc>
                <a:spcPct val="127000"/>
              </a:lnSpc>
              <a:spcBef>
                <a:spcPts val="95"/>
              </a:spcBef>
            </a:pPr>
            <a:r>
              <a:rPr sz="2950" spc="-250" dirty="0">
                <a:solidFill>
                  <a:srgbClr val="1C1C1C"/>
                </a:solidFill>
                <a:latin typeface="Arial MT"/>
                <a:cs typeface="Arial MT"/>
              </a:rPr>
              <a:t>Women</a:t>
            </a:r>
            <a:r>
              <a:rPr sz="2950" spc="16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2950" spc="-145" dirty="0">
                <a:solidFill>
                  <a:srgbClr val="151515"/>
                </a:solidFill>
                <a:latin typeface="Arial MT"/>
                <a:cs typeface="Arial MT"/>
              </a:rPr>
              <a:t>safety</a:t>
            </a:r>
            <a:r>
              <a:rPr sz="2950" spc="23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2950" spc="-170" dirty="0">
                <a:solidFill>
                  <a:srgbClr val="212121"/>
                </a:solidFill>
                <a:latin typeface="Arial MT"/>
                <a:cs typeface="Arial MT"/>
              </a:rPr>
              <a:t>during</a:t>
            </a:r>
            <a:r>
              <a:rPr sz="2950" spc="204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950" spc="-150" dirty="0">
                <a:solidFill>
                  <a:srgbClr val="1A1A1A"/>
                </a:solidFill>
                <a:latin typeface="Arial MT"/>
                <a:cs typeface="Arial MT"/>
              </a:rPr>
              <a:t>travel</a:t>
            </a:r>
            <a:r>
              <a:rPr sz="2950" spc="17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2950" spc="-235" dirty="0">
                <a:solidFill>
                  <a:srgbClr val="1C2A48"/>
                </a:solidFill>
                <a:latin typeface="Arial MT"/>
                <a:cs typeface="Arial MT"/>
              </a:rPr>
              <a:t>and</a:t>
            </a:r>
            <a:r>
              <a:rPr sz="2950" spc="40" dirty="0">
                <a:solidFill>
                  <a:srgbClr val="1C2A48"/>
                </a:solidFill>
                <a:latin typeface="Arial MT"/>
                <a:cs typeface="Arial MT"/>
              </a:rPr>
              <a:t> </a:t>
            </a:r>
            <a:r>
              <a:rPr sz="2950" spc="-120" dirty="0">
                <a:solidFill>
                  <a:srgbClr val="161616"/>
                </a:solidFill>
                <a:latin typeface="Arial MT"/>
                <a:cs typeface="Arial MT"/>
              </a:rPr>
              <a:t>unpredicted</a:t>
            </a:r>
            <a:r>
              <a:rPr sz="2950" spc="29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2950" spc="-185" dirty="0">
                <a:solidFill>
                  <a:srgbClr val="181818"/>
                </a:solidFill>
                <a:latin typeface="Arial MT"/>
                <a:cs typeface="Arial MT"/>
              </a:rPr>
              <a:t>emergencies</a:t>
            </a:r>
            <a:r>
              <a:rPr sz="2950" spc="434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950" spc="-225" dirty="0">
                <a:solidFill>
                  <a:srgbClr val="181818"/>
                </a:solidFill>
                <a:latin typeface="Arial MT"/>
                <a:cs typeface="Arial MT"/>
              </a:rPr>
              <a:t>remains</a:t>
            </a:r>
            <a:r>
              <a:rPr sz="2950" spc="26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950" spc="-380" dirty="0">
                <a:solidFill>
                  <a:srgbClr val="1C1C1C"/>
                </a:solidFill>
                <a:latin typeface="Arial MT"/>
                <a:cs typeface="Arial MT"/>
              </a:rPr>
              <a:t>a</a:t>
            </a:r>
            <a:r>
              <a:rPr sz="2950" spc="4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2950" spc="-135" dirty="0">
                <a:solidFill>
                  <a:srgbClr val="181818"/>
                </a:solidFill>
                <a:latin typeface="Arial MT"/>
                <a:cs typeface="Arial MT"/>
              </a:rPr>
              <a:t>persistent</a:t>
            </a:r>
            <a:r>
              <a:rPr sz="2950" spc="39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950" spc="-175" dirty="0">
                <a:solidFill>
                  <a:srgbClr val="212121"/>
                </a:solidFill>
                <a:latin typeface="Arial MT"/>
                <a:cs typeface="Arial MT"/>
              </a:rPr>
              <a:t>challenge</a:t>
            </a:r>
            <a:r>
              <a:rPr sz="2950" spc="21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950" spc="-200" dirty="0">
                <a:solidFill>
                  <a:srgbClr val="1C1C1C"/>
                </a:solidFill>
                <a:latin typeface="Arial MT"/>
                <a:cs typeface="Arial MT"/>
              </a:rPr>
              <a:t>due</a:t>
            </a:r>
            <a:r>
              <a:rPr sz="2950" spc="13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2950" spc="30" dirty="0">
                <a:solidFill>
                  <a:srgbClr val="1D1D1D"/>
                </a:solidFill>
                <a:latin typeface="Arial MT"/>
                <a:cs typeface="Arial MT"/>
              </a:rPr>
              <a:t>to</a:t>
            </a:r>
            <a:r>
              <a:rPr sz="2950" spc="45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2950" spc="-155" dirty="0">
                <a:solidFill>
                  <a:srgbClr val="111111"/>
                </a:solidFill>
                <a:latin typeface="Arial MT"/>
                <a:cs typeface="Arial MT"/>
              </a:rPr>
              <a:t>delayed</a:t>
            </a:r>
            <a:r>
              <a:rPr sz="2950" spc="229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2950" spc="-155" dirty="0">
                <a:solidFill>
                  <a:srgbClr val="212121"/>
                </a:solidFill>
                <a:latin typeface="Arial MT"/>
                <a:cs typeface="Arial MT"/>
              </a:rPr>
              <a:t>distress</a:t>
            </a:r>
            <a:r>
              <a:rPr sz="2950" spc="-10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800" spc="-140" dirty="0">
                <a:solidFill>
                  <a:srgbClr val="1C1C1C"/>
                </a:solidFill>
                <a:latin typeface="Arial MT"/>
                <a:cs typeface="Arial MT"/>
              </a:rPr>
              <a:t>signals,</a:t>
            </a:r>
            <a:r>
              <a:rPr sz="2800" spc="54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2800" spc="-75" dirty="0">
                <a:solidFill>
                  <a:srgbClr val="1C1C1C"/>
                </a:solidFill>
                <a:latin typeface="Arial MT"/>
                <a:cs typeface="Arial MT"/>
              </a:rPr>
              <a:t>lack</a:t>
            </a:r>
            <a:r>
              <a:rPr sz="2800" spc="56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2800" spc="5" dirty="0">
                <a:solidFill>
                  <a:srgbClr val="1F1F1F"/>
                </a:solidFill>
                <a:latin typeface="Arial MT"/>
                <a:cs typeface="Arial MT"/>
              </a:rPr>
              <a:t>of</a:t>
            </a:r>
            <a:r>
              <a:rPr sz="2800" spc="66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800" spc="-40" dirty="0">
                <a:solidFill>
                  <a:srgbClr val="181818"/>
                </a:solidFill>
                <a:latin typeface="Arial MT"/>
                <a:cs typeface="Arial MT"/>
              </a:rPr>
              <a:t>real-</a:t>
            </a:r>
            <a:r>
              <a:rPr sz="2800" spc="-45" dirty="0">
                <a:solidFill>
                  <a:srgbClr val="181818"/>
                </a:solidFill>
                <a:latin typeface="Arial MT"/>
                <a:cs typeface="Arial MT"/>
              </a:rPr>
              <a:t>time</a:t>
            </a:r>
            <a:r>
              <a:rPr sz="2800" spc="58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800" spc="-70" dirty="0">
                <a:solidFill>
                  <a:srgbClr val="131313"/>
                </a:solidFill>
                <a:latin typeface="Arial MT"/>
                <a:cs typeface="Arial MT"/>
              </a:rPr>
              <a:t>monitoring,</a:t>
            </a:r>
            <a:r>
              <a:rPr sz="2800" spc="66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2800" spc="-160" dirty="0">
                <a:solidFill>
                  <a:srgbClr val="262626"/>
                </a:solidFill>
                <a:latin typeface="Arial MT"/>
                <a:cs typeface="Arial MT"/>
              </a:rPr>
              <a:t>and</a:t>
            </a:r>
            <a:r>
              <a:rPr sz="2800" spc="50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2800" spc="-105" dirty="0">
                <a:solidFill>
                  <a:srgbClr val="1A1A1A"/>
                </a:solidFill>
                <a:latin typeface="Arial MT"/>
                <a:cs typeface="Arial MT"/>
              </a:rPr>
              <a:t>reliance</a:t>
            </a:r>
            <a:r>
              <a:rPr sz="2800" spc="63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2800" spc="-85" dirty="0">
                <a:solidFill>
                  <a:srgbClr val="1A1A1A"/>
                </a:solidFill>
                <a:latin typeface="Arial MT"/>
                <a:cs typeface="Arial MT"/>
              </a:rPr>
              <a:t>on</a:t>
            </a:r>
            <a:r>
              <a:rPr sz="2800" spc="3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2800" spc="-204" dirty="0">
                <a:solidFill>
                  <a:srgbClr val="161616"/>
                </a:solidFill>
                <a:latin typeface="Arial MT"/>
                <a:cs typeface="Arial MT"/>
              </a:rPr>
              <a:t>manual</a:t>
            </a:r>
            <a:r>
              <a:rPr sz="2800" spc="65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2800" spc="-125" dirty="0">
                <a:solidFill>
                  <a:srgbClr val="1F1F1F"/>
                </a:solidFill>
                <a:latin typeface="Arial MT"/>
                <a:cs typeface="Arial MT"/>
              </a:rPr>
              <a:t>panic</a:t>
            </a:r>
            <a:r>
              <a:rPr sz="2800" spc="73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800" spc="-50" dirty="0">
                <a:solidFill>
                  <a:srgbClr val="1A1A1A"/>
                </a:solidFill>
                <a:latin typeface="Arial MT"/>
                <a:cs typeface="Arial MT"/>
              </a:rPr>
              <a:t>triggers.</a:t>
            </a:r>
            <a:r>
              <a:rPr sz="2800" spc="52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2800" spc="-265" dirty="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sz="2800" spc="50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2800" spc="-50" dirty="0">
                <a:solidFill>
                  <a:srgbClr val="151515"/>
                </a:solidFill>
                <a:latin typeface="Arial MT"/>
                <a:cs typeface="Arial MT"/>
              </a:rPr>
              <a:t>proposed</a:t>
            </a:r>
            <a:r>
              <a:rPr sz="2800" spc="620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2800" spc="-30" dirty="0">
                <a:solidFill>
                  <a:srgbClr val="1F1F1F"/>
                </a:solidFill>
                <a:latin typeface="Arial MT"/>
                <a:cs typeface="Arial MT"/>
              </a:rPr>
              <a:t>platform,</a:t>
            </a:r>
            <a:r>
              <a:rPr sz="2800" spc="47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800" spc="-105" dirty="0">
                <a:solidFill>
                  <a:srgbClr val="1C1C1C"/>
                </a:solidFill>
                <a:latin typeface="Arial MT"/>
                <a:cs typeface="Arial MT"/>
              </a:rPr>
              <a:t>SafeHer,</a:t>
            </a:r>
            <a:r>
              <a:rPr sz="2800" spc="-6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2950" spc="-140" dirty="0">
                <a:solidFill>
                  <a:srgbClr val="131313"/>
                </a:solidFill>
                <a:latin typeface="Arial MT"/>
                <a:cs typeface="Arial MT"/>
              </a:rPr>
              <a:t>introduces</a:t>
            </a:r>
            <a:r>
              <a:rPr sz="2950" spc="1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2950" spc="-285" dirty="0">
                <a:solidFill>
                  <a:srgbClr val="162A48"/>
                </a:solidFill>
                <a:latin typeface="Arial MT"/>
                <a:cs typeface="Arial MT"/>
              </a:rPr>
              <a:t>an</a:t>
            </a:r>
            <a:r>
              <a:rPr sz="2950" spc="-310" dirty="0">
                <a:solidFill>
                  <a:srgbClr val="162A48"/>
                </a:solidFill>
                <a:latin typeface="Arial MT"/>
                <a:cs typeface="Arial MT"/>
              </a:rPr>
              <a:t> </a:t>
            </a:r>
            <a:r>
              <a:rPr sz="2950" spc="-110" dirty="0">
                <a:solidFill>
                  <a:srgbClr val="1A1A1A"/>
                </a:solidFill>
                <a:latin typeface="Arial MT"/>
                <a:cs typeface="Arial MT"/>
              </a:rPr>
              <a:t>intelligent</a:t>
            </a:r>
            <a:r>
              <a:rPr sz="2950" spc="114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2950" spc="-135" dirty="0">
                <a:solidFill>
                  <a:srgbClr val="161616"/>
                </a:solidFill>
                <a:latin typeface="Arial MT"/>
                <a:cs typeface="Arial MT"/>
              </a:rPr>
              <a:t>web-based</a:t>
            </a:r>
            <a:r>
              <a:rPr sz="2950" spc="-5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2950" spc="-215" dirty="0">
                <a:solidFill>
                  <a:srgbClr val="1A1A1A"/>
                </a:solidFill>
                <a:latin typeface="Arial MT"/>
                <a:cs typeface="Arial MT"/>
              </a:rPr>
              <a:t>women</a:t>
            </a:r>
            <a:r>
              <a:rPr sz="2950" spc="-13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2950" spc="-145" dirty="0">
                <a:solidFill>
                  <a:srgbClr val="1C1C1C"/>
                </a:solidFill>
                <a:latin typeface="Arial MT"/>
                <a:cs typeface="Arial MT"/>
              </a:rPr>
              <a:t>safety</a:t>
            </a:r>
            <a:r>
              <a:rPr sz="2950" spc="-8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2950" spc="-145" dirty="0">
                <a:solidFill>
                  <a:srgbClr val="111111"/>
                </a:solidFill>
                <a:latin typeface="Arial MT"/>
                <a:cs typeface="Arial MT"/>
              </a:rPr>
              <a:t>ecosystem</a:t>
            </a:r>
            <a:r>
              <a:rPr sz="2950" spc="-9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2950" spc="-155" dirty="0">
                <a:solidFill>
                  <a:srgbClr val="1C1C1C"/>
                </a:solidFill>
                <a:latin typeface="Arial MT"/>
                <a:cs typeface="Arial MT"/>
              </a:rPr>
              <a:t>designed </a:t>
            </a:r>
            <a:r>
              <a:rPr sz="2950" spc="30" dirty="0">
                <a:solidFill>
                  <a:srgbClr val="1F1F1F"/>
                </a:solidFill>
                <a:latin typeface="Arial MT"/>
                <a:cs typeface="Arial MT"/>
              </a:rPr>
              <a:t>to</a:t>
            </a:r>
            <a:r>
              <a:rPr sz="2950" spc="-21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950" spc="-114" dirty="0">
                <a:solidFill>
                  <a:srgbClr val="1C1C1C"/>
                </a:solidFill>
                <a:latin typeface="Arial MT"/>
                <a:cs typeface="Arial MT"/>
              </a:rPr>
              <a:t>transition</a:t>
            </a:r>
            <a:r>
              <a:rPr sz="2950" spc="-27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2950" spc="-190" dirty="0">
                <a:solidFill>
                  <a:srgbClr val="1A1A1A"/>
                </a:solidFill>
                <a:latin typeface="Arial MT"/>
                <a:cs typeface="Arial MT"/>
              </a:rPr>
              <a:t>personal</a:t>
            </a:r>
            <a:r>
              <a:rPr sz="2950" spc="-3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2950" spc="-140" dirty="0">
                <a:solidFill>
                  <a:srgbClr val="1A1A1A"/>
                </a:solidFill>
                <a:latin typeface="Arial MT"/>
                <a:cs typeface="Arial MT"/>
              </a:rPr>
              <a:t>security</a:t>
            </a:r>
            <a:r>
              <a:rPr sz="2950" spc="5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2950" spc="-90" dirty="0">
                <a:solidFill>
                  <a:srgbClr val="1F1F1F"/>
                </a:solidFill>
                <a:latin typeface="Arial MT"/>
                <a:cs typeface="Arial MT"/>
              </a:rPr>
              <a:t>from</a:t>
            </a:r>
            <a:r>
              <a:rPr sz="2950" spc="-25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950" spc="-135" dirty="0">
                <a:solidFill>
                  <a:srgbClr val="131313"/>
                </a:solidFill>
                <a:latin typeface="Arial MT"/>
                <a:cs typeface="Arial MT"/>
              </a:rPr>
              <a:t>reactive</a:t>
            </a:r>
            <a:r>
              <a:rPr sz="2950" spc="-9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2800" spc="-100" dirty="0">
                <a:solidFill>
                  <a:srgbClr val="151515"/>
                </a:solidFill>
                <a:latin typeface="Arial MT"/>
                <a:cs typeface="Arial MT"/>
              </a:rPr>
              <a:t>distress</a:t>
            </a:r>
            <a:r>
              <a:rPr sz="2800" spc="79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2800" spc="-75" dirty="0">
                <a:solidFill>
                  <a:srgbClr val="212121"/>
                </a:solidFill>
                <a:latin typeface="Arial MT"/>
                <a:cs typeface="Arial MT"/>
              </a:rPr>
              <a:t>calling</a:t>
            </a:r>
            <a:r>
              <a:rPr sz="2800" spc="63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800" spc="90" dirty="0">
                <a:solidFill>
                  <a:srgbClr val="212121"/>
                </a:solidFill>
                <a:latin typeface="Arial MT"/>
                <a:cs typeface="Arial MT"/>
              </a:rPr>
              <a:t>to</a:t>
            </a:r>
            <a:r>
              <a:rPr sz="2800" spc="57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800" spc="-60" dirty="0">
                <a:solidFill>
                  <a:srgbClr val="232323"/>
                </a:solidFill>
                <a:latin typeface="Arial MT"/>
                <a:cs typeface="Arial MT"/>
              </a:rPr>
              <a:t>proactive</a:t>
            </a:r>
            <a:r>
              <a:rPr sz="2800" spc="74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2800" spc="-80" dirty="0">
                <a:solidFill>
                  <a:srgbClr val="111111"/>
                </a:solidFill>
                <a:latin typeface="Arial MT"/>
                <a:cs typeface="Arial MT"/>
              </a:rPr>
              <a:t>threat</a:t>
            </a:r>
            <a:r>
              <a:rPr sz="2800" spc="75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2800" spc="-40" dirty="0">
                <a:solidFill>
                  <a:srgbClr val="1D1D1D"/>
                </a:solidFill>
                <a:latin typeface="Arial MT"/>
                <a:cs typeface="Arial MT"/>
              </a:rPr>
              <a:t>mitigation.</a:t>
            </a:r>
            <a:r>
              <a:rPr sz="2800" spc="725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2800" spc="-135" dirty="0">
                <a:solidFill>
                  <a:srgbClr val="212121"/>
                </a:solidFill>
                <a:latin typeface="Arial MT"/>
                <a:cs typeface="Arial MT"/>
              </a:rPr>
              <a:t>By</a:t>
            </a:r>
            <a:r>
              <a:rPr sz="2800" spc="68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800" spc="-55" dirty="0">
                <a:solidFill>
                  <a:srgbClr val="181818"/>
                </a:solidFill>
                <a:latin typeface="Arial MT"/>
                <a:cs typeface="Arial MT"/>
              </a:rPr>
              <a:t>incorporating</a:t>
            </a:r>
            <a:r>
              <a:rPr sz="2800" spc="72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800" spc="-90" dirty="0">
                <a:solidFill>
                  <a:srgbClr val="1A1A1A"/>
                </a:solidFill>
                <a:latin typeface="Arial MT"/>
                <a:cs typeface="Arial MT"/>
              </a:rPr>
              <a:t>smart</a:t>
            </a:r>
            <a:r>
              <a:rPr sz="2800" spc="76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2800" spc="-70" dirty="0">
                <a:solidFill>
                  <a:srgbClr val="181818"/>
                </a:solidFill>
                <a:latin typeface="Arial MT"/>
                <a:cs typeface="Arial MT"/>
              </a:rPr>
              <a:t>journey</a:t>
            </a:r>
            <a:r>
              <a:rPr sz="2800" spc="83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800" spc="-35" dirty="0">
                <a:solidFill>
                  <a:srgbClr val="1C1C1C"/>
                </a:solidFill>
                <a:latin typeface="Arial MT"/>
                <a:cs typeface="Arial MT"/>
              </a:rPr>
              <a:t>monitoring</a:t>
            </a:r>
            <a:r>
              <a:rPr sz="2800" spc="74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2800" spc="-160" dirty="0">
                <a:solidFill>
                  <a:srgbClr val="1A1A1A"/>
                </a:solidFill>
                <a:latin typeface="Arial MT"/>
                <a:cs typeface="Arial MT"/>
              </a:rPr>
              <a:t>and</a:t>
            </a:r>
            <a:r>
              <a:rPr sz="2800" spc="57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131313"/>
                </a:solidFill>
                <a:latin typeface="Arial MT"/>
                <a:cs typeface="Arial MT"/>
              </a:rPr>
              <a:t>Al-drive</a:t>
            </a:r>
            <a:r>
              <a:rPr sz="2800" dirty="0">
                <a:solidFill>
                  <a:srgbClr val="131313"/>
                </a:solidFill>
                <a:latin typeface="Arial MT"/>
                <a:cs typeface="Arial MT"/>
              </a:rPr>
              <a:t>n  </a:t>
            </a:r>
            <a:r>
              <a:rPr sz="2800" spc="-80" dirty="0">
                <a:solidFill>
                  <a:srgbClr val="1A1A1A"/>
                </a:solidFill>
                <a:latin typeface="Arial MT"/>
                <a:cs typeface="Arial MT"/>
              </a:rPr>
              <a:t>risk</a:t>
            </a:r>
            <a:r>
              <a:rPr sz="2800" spc="-5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2800" spc="5" dirty="0">
                <a:solidFill>
                  <a:srgbClr val="1C1C1C"/>
                </a:solidFill>
                <a:latin typeface="Arial MT"/>
                <a:cs typeface="Arial MT"/>
              </a:rPr>
              <a:t>detection,</a:t>
            </a:r>
            <a:r>
              <a:rPr sz="2800" spc="21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2800" spc="-165" dirty="0">
                <a:solidFill>
                  <a:srgbClr val="212121"/>
                </a:solidFill>
                <a:latin typeface="Arial MT"/>
                <a:cs typeface="Arial MT"/>
              </a:rPr>
              <a:t>SafeHer</a:t>
            </a:r>
            <a:r>
              <a:rPr sz="2800" spc="43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800" spc="-95" dirty="0">
                <a:solidFill>
                  <a:srgbClr val="1D1D1D"/>
                </a:solidFill>
                <a:latin typeface="Arial MT"/>
                <a:cs typeface="Arial MT"/>
              </a:rPr>
              <a:t>continuously</a:t>
            </a:r>
            <a:r>
              <a:rPr sz="2800" spc="40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2800" spc="-150" dirty="0">
                <a:solidFill>
                  <a:srgbClr val="1A1A1A"/>
                </a:solidFill>
                <a:latin typeface="Arial MT"/>
                <a:cs typeface="Arial MT"/>
              </a:rPr>
              <a:t>evaluates</a:t>
            </a:r>
            <a:r>
              <a:rPr sz="2800" spc="40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2800" spc="-85" dirty="0">
                <a:solidFill>
                  <a:srgbClr val="0A0A0A"/>
                </a:solidFill>
                <a:latin typeface="Arial MT"/>
                <a:cs typeface="Arial MT"/>
              </a:rPr>
              <a:t>transit</a:t>
            </a:r>
            <a:r>
              <a:rPr sz="2800" spc="385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2800" spc="-114" dirty="0">
                <a:solidFill>
                  <a:srgbClr val="181818"/>
                </a:solidFill>
                <a:latin typeface="Arial MT"/>
                <a:cs typeface="Arial MT"/>
              </a:rPr>
              <a:t>parameters,</a:t>
            </a:r>
            <a:r>
              <a:rPr sz="2800" spc="32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800" spc="-90" dirty="0">
                <a:solidFill>
                  <a:srgbClr val="151515"/>
                </a:solidFill>
                <a:latin typeface="Arial MT"/>
                <a:cs typeface="Arial MT"/>
              </a:rPr>
              <a:t>deviations,</a:t>
            </a:r>
            <a:r>
              <a:rPr sz="2800" spc="300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2800" spc="-160" dirty="0">
                <a:solidFill>
                  <a:srgbClr val="242424"/>
                </a:solidFill>
                <a:latin typeface="Arial MT"/>
                <a:cs typeface="Arial MT"/>
              </a:rPr>
              <a:t>and</a:t>
            </a:r>
            <a:r>
              <a:rPr sz="2800" spc="13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800" spc="-125" dirty="0">
                <a:solidFill>
                  <a:srgbClr val="1A1A1A"/>
                </a:solidFill>
                <a:latin typeface="Arial MT"/>
                <a:cs typeface="Arial MT"/>
              </a:rPr>
              <a:t>missed</a:t>
            </a:r>
            <a:r>
              <a:rPr sz="2800" spc="25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2800" spc="-35" dirty="0">
                <a:solidFill>
                  <a:srgbClr val="1A1A1A"/>
                </a:solidFill>
                <a:latin typeface="Arial MT"/>
                <a:cs typeface="Arial MT"/>
              </a:rPr>
              <a:t>check-</a:t>
            </a:r>
            <a:r>
              <a:rPr sz="2800" spc="-25" dirty="0">
                <a:solidFill>
                  <a:srgbClr val="1A1A1A"/>
                </a:solidFill>
                <a:latin typeface="Arial MT"/>
                <a:cs typeface="Arial MT"/>
              </a:rPr>
              <a:t>in</a:t>
            </a:r>
            <a:r>
              <a:rPr sz="2800" spc="1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2800" spc="-145" dirty="0">
                <a:solidFill>
                  <a:srgbClr val="1A1A1A"/>
                </a:solidFill>
                <a:latin typeface="Arial MT"/>
                <a:cs typeface="Arial MT"/>
              </a:rPr>
              <a:t>responses</a:t>
            </a:r>
            <a:r>
              <a:rPr sz="2800" spc="45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2800" spc="-135" dirty="0">
                <a:solidFill>
                  <a:srgbClr val="161616"/>
                </a:solidFill>
                <a:latin typeface="Arial MT"/>
                <a:cs typeface="Arial MT"/>
              </a:rPr>
              <a:t>against</a:t>
            </a:r>
            <a:r>
              <a:rPr sz="2800" spc="-8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2800" spc="-70" dirty="0">
                <a:solidFill>
                  <a:srgbClr val="181818"/>
                </a:solidFill>
                <a:latin typeface="Arial MT"/>
                <a:cs typeface="Arial MT"/>
              </a:rPr>
              <a:t>contextual</a:t>
            </a:r>
            <a:r>
              <a:rPr sz="2800" spc="8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800" spc="-65" dirty="0">
                <a:solidFill>
                  <a:srgbClr val="181818"/>
                </a:solidFill>
                <a:latin typeface="Arial MT"/>
                <a:cs typeface="Arial MT"/>
              </a:rPr>
              <a:t>safety</a:t>
            </a:r>
            <a:r>
              <a:rPr sz="2800" spc="-7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800" spc="-135" dirty="0">
                <a:solidFill>
                  <a:srgbClr val="161616"/>
                </a:solidFill>
                <a:latin typeface="Arial MT"/>
                <a:cs typeface="Arial MT"/>
              </a:rPr>
              <a:t>baselines.</a:t>
            </a:r>
            <a:r>
              <a:rPr sz="2800" spc="8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2800" spc="-125" dirty="0">
                <a:solidFill>
                  <a:srgbClr val="1C1C1C"/>
                </a:solidFill>
                <a:latin typeface="Arial MT"/>
                <a:cs typeface="Arial MT"/>
              </a:rPr>
              <a:t>Upon</a:t>
            </a:r>
            <a:r>
              <a:rPr sz="2800" spc="-18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2800" spc="-40" dirty="0">
                <a:solidFill>
                  <a:srgbClr val="181818"/>
                </a:solidFill>
                <a:latin typeface="Arial MT"/>
                <a:cs typeface="Arial MT"/>
              </a:rPr>
              <a:t>identifying</a:t>
            </a:r>
            <a:r>
              <a:rPr sz="2800" spc="10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800" spc="-85" dirty="0">
                <a:solidFill>
                  <a:srgbClr val="181818"/>
                </a:solidFill>
                <a:latin typeface="Arial MT"/>
                <a:cs typeface="Arial MT"/>
              </a:rPr>
              <a:t>elevated</a:t>
            </a:r>
            <a:r>
              <a:rPr sz="2800" spc="-4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800" spc="-110" dirty="0">
                <a:solidFill>
                  <a:srgbClr val="1A1A1A"/>
                </a:solidFill>
                <a:latin typeface="Arial MT"/>
                <a:cs typeface="Arial MT"/>
              </a:rPr>
              <a:t>risk</a:t>
            </a:r>
            <a:r>
              <a:rPr sz="2800" spc="-4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2800" spc="-120" dirty="0">
                <a:solidFill>
                  <a:srgbClr val="1C1C1C"/>
                </a:solidFill>
                <a:latin typeface="Arial MT"/>
                <a:cs typeface="Arial MT"/>
              </a:rPr>
              <a:t>levels,</a:t>
            </a:r>
            <a:r>
              <a:rPr sz="2800" spc="-13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2800" spc="-60" dirty="0">
                <a:solidFill>
                  <a:srgbClr val="181818"/>
                </a:solidFill>
                <a:latin typeface="Arial MT"/>
                <a:cs typeface="Arial MT"/>
              </a:rPr>
              <a:t>the</a:t>
            </a:r>
            <a:r>
              <a:rPr sz="2800" spc="-12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800" spc="-30" dirty="0">
                <a:solidFill>
                  <a:srgbClr val="1C1C1C"/>
                </a:solidFill>
                <a:latin typeface="Arial MT"/>
                <a:cs typeface="Arial MT"/>
              </a:rPr>
              <a:t>platform</a:t>
            </a:r>
            <a:r>
              <a:rPr sz="2800" spc="-9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2800" spc="-80" dirty="0">
                <a:solidFill>
                  <a:srgbClr val="1A1A1A"/>
                </a:solidFill>
                <a:latin typeface="Arial MT"/>
                <a:cs typeface="Arial MT"/>
              </a:rPr>
              <a:t>automatically</a:t>
            </a:r>
            <a:r>
              <a:rPr sz="2800" spc="23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2800" spc="-50" dirty="0">
                <a:solidFill>
                  <a:srgbClr val="1C1C1C"/>
                </a:solidFill>
                <a:latin typeface="Arial MT"/>
                <a:cs typeface="Arial MT"/>
              </a:rPr>
              <a:t>triggers</a:t>
            </a:r>
            <a:r>
              <a:rPr sz="2800" spc="-1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2800" spc="-210" dirty="0">
                <a:solidFill>
                  <a:srgbClr val="282828"/>
                </a:solidFill>
                <a:latin typeface="Arial MT"/>
                <a:cs typeface="Arial MT"/>
              </a:rPr>
              <a:t>an</a:t>
            </a:r>
            <a:r>
              <a:rPr sz="2800" spc="-204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2800" spc="-20" dirty="0">
                <a:solidFill>
                  <a:srgbClr val="1D1D1D"/>
                </a:solidFill>
                <a:latin typeface="Arial MT"/>
                <a:cs typeface="Arial MT"/>
              </a:rPr>
              <a:t>multi-tiered</a:t>
            </a:r>
            <a:r>
              <a:rPr sz="2800" spc="-15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2800" spc="-110" dirty="0">
                <a:solidFill>
                  <a:srgbClr val="1C1C1C"/>
                </a:solidFill>
                <a:latin typeface="Arial MT"/>
                <a:cs typeface="Arial MT"/>
              </a:rPr>
              <a:t>emergency</a:t>
            </a:r>
            <a:r>
              <a:rPr sz="2800" spc="50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2800" spc="-120" dirty="0">
                <a:solidFill>
                  <a:srgbClr val="131313"/>
                </a:solidFill>
                <a:latin typeface="Arial MT"/>
                <a:cs typeface="Arial MT"/>
              </a:rPr>
              <a:t>response</a:t>
            </a:r>
            <a:r>
              <a:rPr sz="2800" spc="42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2800" spc="-160" dirty="0">
                <a:solidFill>
                  <a:srgbClr val="1A1A1A"/>
                </a:solidFill>
                <a:latin typeface="Arial MT"/>
                <a:cs typeface="Arial MT"/>
              </a:rPr>
              <a:t>mechanism,</a:t>
            </a:r>
            <a:r>
              <a:rPr sz="2800" spc="48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2800" spc="-114" dirty="0">
                <a:solidFill>
                  <a:srgbClr val="161616"/>
                </a:solidFill>
                <a:latin typeface="Arial MT"/>
                <a:cs typeface="Arial MT"/>
              </a:rPr>
              <a:t>disseminating</a:t>
            </a:r>
            <a:r>
              <a:rPr sz="2800" spc="59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2800" spc="-65" dirty="0">
                <a:solidFill>
                  <a:srgbClr val="161616"/>
                </a:solidFill>
                <a:latin typeface="Arial MT"/>
                <a:cs typeface="Arial MT"/>
              </a:rPr>
              <a:t>verified</a:t>
            </a:r>
            <a:r>
              <a:rPr sz="2800" spc="35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2800" spc="-40" dirty="0">
                <a:solidFill>
                  <a:srgbClr val="1C1C1C"/>
                </a:solidFill>
                <a:latin typeface="Arial MT"/>
                <a:cs typeface="Arial MT"/>
              </a:rPr>
              <a:t>real-</a:t>
            </a:r>
            <a:r>
              <a:rPr sz="2800" spc="-45" dirty="0">
                <a:solidFill>
                  <a:srgbClr val="1C1C1C"/>
                </a:solidFill>
                <a:latin typeface="Arial MT"/>
                <a:cs typeface="Arial MT"/>
              </a:rPr>
              <a:t>time</a:t>
            </a:r>
            <a:r>
              <a:rPr sz="2800" spc="409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2800" spc="-70" dirty="0">
                <a:solidFill>
                  <a:srgbClr val="151515"/>
                </a:solidFill>
                <a:latin typeface="Arial MT"/>
                <a:cs typeface="Arial MT"/>
              </a:rPr>
              <a:t>coordinates,</a:t>
            </a:r>
            <a:r>
              <a:rPr sz="2800" spc="41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2800" spc="-30" dirty="0">
                <a:solidFill>
                  <a:srgbClr val="1D1D1D"/>
                </a:solidFill>
                <a:latin typeface="Arial MT"/>
                <a:cs typeface="Arial MT"/>
              </a:rPr>
              <a:t>digital</a:t>
            </a:r>
            <a:r>
              <a:rPr sz="2800" spc="405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2800" spc="-70" dirty="0">
                <a:solidFill>
                  <a:srgbClr val="181818"/>
                </a:solidFill>
                <a:latin typeface="Arial MT"/>
                <a:cs typeface="Arial MT"/>
              </a:rPr>
              <a:t>black</a:t>
            </a:r>
            <a:r>
              <a:rPr sz="2800" spc="35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800" spc="-95" dirty="0">
                <a:solidFill>
                  <a:srgbClr val="212121"/>
                </a:solidFill>
                <a:latin typeface="Arial MT"/>
                <a:cs typeface="Arial MT"/>
              </a:rPr>
              <a:t>box</a:t>
            </a:r>
            <a:r>
              <a:rPr sz="2800" spc="37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800" spc="-65" dirty="0">
                <a:solidFill>
                  <a:srgbClr val="1C1C1C"/>
                </a:solidFill>
                <a:latin typeface="Arial MT"/>
                <a:cs typeface="Arial MT"/>
              </a:rPr>
              <a:t>logs,</a:t>
            </a:r>
            <a:r>
              <a:rPr sz="2800" spc="30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2800" spc="-160" dirty="0">
                <a:solidFill>
                  <a:srgbClr val="212121"/>
                </a:solidFill>
                <a:latin typeface="Arial MT"/>
                <a:cs typeface="Arial MT"/>
              </a:rPr>
              <a:t>and</a:t>
            </a:r>
            <a:r>
              <a:rPr sz="2800" spc="26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800" spc="-60" dirty="0">
                <a:solidFill>
                  <a:srgbClr val="1C1C1C"/>
                </a:solidFill>
                <a:latin typeface="Arial MT"/>
                <a:cs typeface="Arial MT"/>
              </a:rPr>
              <a:t>route</a:t>
            </a:r>
            <a:r>
              <a:rPr sz="2800" spc="-4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2800" spc="-55" dirty="0">
                <a:solidFill>
                  <a:srgbClr val="131313"/>
                </a:solidFill>
                <a:latin typeface="Arial MT"/>
                <a:cs typeface="Arial MT"/>
              </a:rPr>
              <a:t>telemetry</a:t>
            </a:r>
            <a:r>
              <a:rPr sz="2800" spc="45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2800" spc="90" dirty="0">
                <a:solidFill>
                  <a:srgbClr val="212121"/>
                </a:solidFill>
                <a:latin typeface="Arial MT"/>
                <a:cs typeface="Arial MT"/>
              </a:rPr>
              <a:t>to</a:t>
            </a:r>
            <a:r>
              <a:rPr sz="2800" spc="229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800" spc="-75" dirty="0">
                <a:solidFill>
                  <a:srgbClr val="161616"/>
                </a:solidFill>
                <a:latin typeface="Arial MT"/>
                <a:cs typeface="Arial MT"/>
              </a:rPr>
              <a:t>designated</a:t>
            </a:r>
            <a:r>
              <a:rPr sz="2800" spc="32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2800" spc="-15" dirty="0">
                <a:solidFill>
                  <a:srgbClr val="131313"/>
                </a:solidFill>
                <a:latin typeface="Arial MT"/>
                <a:cs typeface="Arial MT"/>
              </a:rPr>
              <a:t>contacts</a:t>
            </a:r>
            <a:r>
              <a:rPr sz="2800" spc="38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2800" spc="-160" dirty="0">
                <a:solidFill>
                  <a:srgbClr val="1C1C1C"/>
                </a:solidFill>
                <a:latin typeface="Arial MT"/>
                <a:cs typeface="Arial MT"/>
              </a:rPr>
              <a:t>and</a:t>
            </a:r>
            <a:r>
              <a:rPr sz="2800" spc="21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2800" spc="-95" dirty="0">
                <a:solidFill>
                  <a:srgbClr val="1C1C1C"/>
                </a:solidFill>
                <a:latin typeface="Arial MT"/>
                <a:cs typeface="Arial MT"/>
              </a:rPr>
              <a:t>community</a:t>
            </a:r>
            <a:r>
              <a:rPr sz="2800" spc="50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2800" spc="-125" dirty="0">
                <a:solidFill>
                  <a:srgbClr val="1C1C1C"/>
                </a:solidFill>
                <a:latin typeface="Arial MT"/>
                <a:cs typeface="Arial MT"/>
              </a:rPr>
              <a:t>assistance</a:t>
            </a:r>
            <a:r>
              <a:rPr sz="2800" spc="31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2800" spc="-75" dirty="0">
                <a:solidFill>
                  <a:srgbClr val="131313"/>
                </a:solidFill>
                <a:latin typeface="Arial MT"/>
                <a:cs typeface="Arial MT"/>
              </a:rPr>
              <a:t>networks.</a:t>
            </a:r>
            <a:r>
              <a:rPr sz="2800" spc="35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2800" spc="-65" dirty="0">
                <a:solidFill>
                  <a:srgbClr val="1F1F1F"/>
                </a:solidFill>
                <a:latin typeface="Arial MT"/>
                <a:cs typeface="Arial MT"/>
              </a:rPr>
              <a:t>Ultimately,</a:t>
            </a:r>
            <a:r>
              <a:rPr sz="2800" spc="26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800" spc="-165" dirty="0">
                <a:solidFill>
                  <a:srgbClr val="161616"/>
                </a:solidFill>
                <a:latin typeface="Arial MT"/>
                <a:cs typeface="Arial MT"/>
              </a:rPr>
              <a:t>SafeHer</a:t>
            </a:r>
            <a:r>
              <a:rPr sz="2800" spc="50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2800" spc="-114" dirty="0">
                <a:solidFill>
                  <a:srgbClr val="131313"/>
                </a:solidFill>
                <a:latin typeface="Arial MT"/>
                <a:cs typeface="Arial MT"/>
              </a:rPr>
              <a:t>empowers</a:t>
            </a:r>
            <a:r>
              <a:rPr sz="2800" spc="40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2800" spc="-180" dirty="0">
                <a:solidFill>
                  <a:srgbClr val="111111"/>
                </a:solidFill>
                <a:latin typeface="Arial MT"/>
                <a:cs typeface="Arial MT"/>
              </a:rPr>
              <a:t>users</a:t>
            </a:r>
            <a:r>
              <a:rPr sz="2800" spc="38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2800" spc="-165" dirty="0">
                <a:solidFill>
                  <a:srgbClr val="1A1A1A"/>
                </a:solidFill>
                <a:latin typeface="Arial MT"/>
                <a:cs typeface="Arial MT"/>
              </a:rPr>
              <a:t>and</a:t>
            </a:r>
            <a:r>
              <a:rPr sz="2800" spc="-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2950" spc="-180" dirty="0">
                <a:solidFill>
                  <a:srgbClr val="181818"/>
                </a:solidFill>
                <a:latin typeface="Arial MT"/>
                <a:cs typeface="Arial MT"/>
              </a:rPr>
              <a:t>emergency</a:t>
            </a:r>
            <a:r>
              <a:rPr sz="2950" spc="-16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950" spc="-180" dirty="0">
                <a:solidFill>
                  <a:srgbClr val="151515"/>
                </a:solidFill>
                <a:latin typeface="Arial MT"/>
                <a:cs typeface="Arial MT"/>
              </a:rPr>
              <a:t>responders</a:t>
            </a:r>
            <a:r>
              <a:rPr sz="2950" spc="-80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2950" spc="-100" dirty="0">
                <a:solidFill>
                  <a:srgbClr val="2A2A2A"/>
                </a:solidFill>
                <a:latin typeface="Arial MT"/>
                <a:cs typeface="Arial MT"/>
              </a:rPr>
              <a:t>with</a:t>
            </a:r>
            <a:r>
              <a:rPr sz="2950" spc="-47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2950" spc="-145" dirty="0">
                <a:solidFill>
                  <a:srgbClr val="0F0F0F"/>
                </a:solidFill>
                <a:latin typeface="Arial MT"/>
                <a:cs typeface="Arial MT"/>
              </a:rPr>
              <a:t>immediate</a:t>
            </a:r>
            <a:r>
              <a:rPr sz="2950" spc="-22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2950" spc="-150" dirty="0">
                <a:solidFill>
                  <a:srgbClr val="1A1A1A"/>
                </a:solidFill>
                <a:latin typeface="Arial MT"/>
                <a:cs typeface="Arial MT"/>
              </a:rPr>
              <a:t>situational</a:t>
            </a:r>
            <a:r>
              <a:rPr sz="2950" spc="-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2950" spc="-254" dirty="0">
                <a:solidFill>
                  <a:srgbClr val="0E0E0E"/>
                </a:solidFill>
                <a:latin typeface="Arial MT"/>
                <a:cs typeface="Arial MT"/>
              </a:rPr>
              <a:t>awareness</a:t>
            </a:r>
            <a:r>
              <a:rPr sz="2950" spc="-125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2950" spc="30" dirty="0">
                <a:solidFill>
                  <a:srgbClr val="1F1F1F"/>
                </a:solidFill>
                <a:latin typeface="Arial MT"/>
                <a:cs typeface="Arial MT"/>
              </a:rPr>
              <a:t>to</a:t>
            </a:r>
            <a:r>
              <a:rPr sz="2950" spc="-42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950" spc="-210" dirty="0">
                <a:solidFill>
                  <a:srgbClr val="212121"/>
                </a:solidFill>
                <a:latin typeface="Arial MT"/>
                <a:cs typeface="Arial MT"/>
              </a:rPr>
              <a:t>minimize</a:t>
            </a:r>
            <a:r>
              <a:rPr sz="2950" spc="-23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950" spc="-190" dirty="0">
                <a:solidFill>
                  <a:srgbClr val="0E0E0E"/>
                </a:solidFill>
                <a:latin typeface="Arial MT"/>
                <a:cs typeface="Arial MT"/>
              </a:rPr>
              <a:t>response</a:t>
            </a:r>
            <a:r>
              <a:rPr sz="2950" spc="-290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2950" spc="-135" dirty="0">
                <a:solidFill>
                  <a:srgbClr val="111111"/>
                </a:solidFill>
                <a:latin typeface="Arial MT"/>
                <a:cs typeface="Arial MT"/>
              </a:rPr>
              <a:t>latency</a:t>
            </a:r>
            <a:r>
              <a:rPr sz="2950" spc="-21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2950" spc="-170" dirty="0">
                <a:solidFill>
                  <a:srgbClr val="212121"/>
                </a:solidFill>
                <a:latin typeface="Arial MT"/>
                <a:cs typeface="Arial MT"/>
              </a:rPr>
              <a:t>during</a:t>
            </a:r>
            <a:r>
              <a:rPr sz="2950" spc="-29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950" spc="-80" dirty="0">
                <a:solidFill>
                  <a:srgbClr val="232323"/>
                </a:solidFill>
                <a:latin typeface="Arial MT"/>
                <a:cs typeface="Arial MT"/>
              </a:rPr>
              <a:t>critical</a:t>
            </a:r>
            <a:r>
              <a:rPr sz="2950" spc="-23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2950" spc="-130" dirty="0">
                <a:solidFill>
                  <a:srgbClr val="1C1C1C"/>
                </a:solidFill>
                <a:latin typeface="Arial MT"/>
                <a:cs typeface="Arial MT"/>
              </a:rPr>
              <a:t>incidents.</a:t>
            </a:r>
            <a:endParaRPr sz="2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 txBox="1"/>
          <p:nvPr/>
        </p:nvSpPr>
        <p:spPr>
          <a:xfrm>
            <a:off x="746620" y="10405277"/>
            <a:ext cx="447929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5"/>
              </a:lnSpc>
            </a:pPr>
            <a:r>
              <a:rPr sz="1800" dirty="0">
                <a:solidFill>
                  <a:srgbClr val="666666"/>
                </a:solidFill>
                <a:latin typeface="Arial MT"/>
                <a:cs typeface="Arial MT"/>
              </a:rPr>
              <a:t>Safe</a:t>
            </a:r>
            <a:r>
              <a:rPr sz="1800" spc="-26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676767"/>
                </a:solidFill>
                <a:latin typeface="Arial MT"/>
                <a:cs typeface="Arial MT"/>
              </a:rPr>
              <a:t>Her:</a:t>
            </a:r>
            <a:r>
              <a:rPr sz="1800" spc="-50" dirty="0">
                <a:solidFill>
                  <a:srgbClr val="676767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696969"/>
                </a:solidFill>
                <a:latin typeface="Arial MT"/>
                <a:cs typeface="Arial MT"/>
              </a:rPr>
              <a:t>Al-</a:t>
            </a:r>
            <a:r>
              <a:rPr sz="1800" spc="-260" dirty="0">
                <a:solidFill>
                  <a:srgbClr val="696969"/>
                </a:solidFill>
                <a:latin typeface="Arial MT"/>
                <a:cs typeface="Arial MT"/>
              </a:rPr>
              <a:t> </a:t>
            </a:r>
            <a:r>
              <a:rPr sz="1800" spc="-35" dirty="0">
                <a:solidFill>
                  <a:srgbClr val="707070"/>
                </a:solidFill>
                <a:latin typeface="Arial MT"/>
                <a:cs typeface="Arial MT"/>
              </a:rPr>
              <a:t>Driven</a:t>
            </a:r>
            <a:r>
              <a:rPr sz="1800" spc="-65" dirty="0">
                <a:solidFill>
                  <a:srgbClr val="70707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6B6B6B"/>
                </a:solidFill>
                <a:latin typeface="Arial MT"/>
                <a:cs typeface="Arial MT"/>
              </a:rPr>
              <a:t>Women</a:t>
            </a:r>
            <a:r>
              <a:rPr sz="1800" spc="-35" dirty="0">
                <a:solidFill>
                  <a:srgbClr val="6B6B6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696969"/>
                </a:solidFill>
                <a:latin typeface="Arial MT"/>
                <a:cs typeface="Arial MT"/>
              </a:rPr>
              <a:t>Safety</a:t>
            </a:r>
            <a:r>
              <a:rPr sz="1800" spc="70" dirty="0">
                <a:solidFill>
                  <a:srgbClr val="696969"/>
                </a:solidFill>
                <a:latin typeface="Arial MT"/>
                <a:cs typeface="Arial MT"/>
              </a:rPr>
              <a:t> </a:t>
            </a:r>
            <a:r>
              <a:rPr sz="1800" spc="-35" dirty="0">
                <a:solidFill>
                  <a:srgbClr val="6B6B6B"/>
                </a:solidFill>
                <a:latin typeface="Arial MT"/>
                <a:cs typeface="Arial MT"/>
              </a:rPr>
              <a:t>Platf</a:t>
            </a:r>
            <a:r>
              <a:rPr sz="1800" spc="-55" dirty="0">
                <a:solidFill>
                  <a:srgbClr val="6B6B6B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707070"/>
                </a:solidFill>
                <a:latin typeface="Arial MT"/>
                <a:cs typeface="Arial MT"/>
              </a:rPr>
              <a:t>orm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945"/>
              </a:lnSpc>
            </a:pPr>
            <a:r>
              <a:rPr dirty="0">
                <a:solidFill>
                  <a:srgbClr val="646464"/>
                </a:solidFill>
              </a:rPr>
              <a:t>Slide</a:t>
            </a:r>
            <a:r>
              <a:rPr spc="245" dirty="0">
                <a:solidFill>
                  <a:srgbClr val="646464"/>
                </a:solidFill>
              </a:rPr>
              <a:t> </a:t>
            </a:r>
            <a:fld id="{81D60167-4931-47E6-BA6A-407CBD079E47}" type="slidenum">
              <a:rPr spc="-50" dirty="0">
                <a:solidFill>
                  <a:srgbClr val="777777"/>
                </a:solidFill>
              </a:rPr>
            </a:fld>
            <a:endParaRPr spc="-50" dirty="0">
              <a:solidFill>
                <a:srgbClr val="777777"/>
              </a:solidFill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740499" y="614898"/>
            <a:ext cx="4591050" cy="2806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50" spc="85" dirty="0">
                <a:solidFill>
                  <a:srgbClr val="DB1A4D"/>
                </a:solidFill>
                <a:latin typeface="Arial MT"/>
                <a:cs typeface="Arial MT"/>
              </a:rPr>
              <a:t>PROB</a:t>
            </a:r>
            <a:r>
              <a:rPr sz="1650" spc="-210" dirty="0">
                <a:solidFill>
                  <a:srgbClr val="DB1A4D"/>
                </a:solidFill>
                <a:latin typeface="Arial MT"/>
                <a:cs typeface="Arial MT"/>
              </a:rPr>
              <a:t> </a:t>
            </a:r>
            <a:r>
              <a:rPr sz="1650" spc="65" dirty="0">
                <a:solidFill>
                  <a:srgbClr val="E41644"/>
                </a:solidFill>
                <a:latin typeface="Arial MT"/>
                <a:cs typeface="Arial MT"/>
              </a:rPr>
              <a:t>LE</a:t>
            </a:r>
            <a:r>
              <a:rPr sz="1650" spc="-275" dirty="0">
                <a:solidFill>
                  <a:srgbClr val="E41644"/>
                </a:solidFill>
                <a:latin typeface="Arial MT"/>
                <a:cs typeface="Arial MT"/>
              </a:rPr>
              <a:t> </a:t>
            </a:r>
            <a:r>
              <a:rPr sz="1650" spc="95" dirty="0">
                <a:solidFill>
                  <a:srgbClr val="E81F56"/>
                </a:solidFill>
                <a:latin typeface="Arial MT"/>
                <a:cs typeface="Arial MT"/>
              </a:rPr>
              <a:t>M</a:t>
            </a:r>
            <a:r>
              <a:rPr sz="1650" spc="220" dirty="0">
                <a:solidFill>
                  <a:srgbClr val="E81F56"/>
                </a:solidFill>
                <a:latin typeface="Arial MT"/>
                <a:cs typeface="Arial MT"/>
              </a:rPr>
              <a:t> </a:t>
            </a:r>
            <a:r>
              <a:rPr sz="1650" spc="70" dirty="0">
                <a:solidFill>
                  <a:srgbClr val="CF1D42"/>
                </a:solidFill>
                <a:latin typeface="Arial MT"/>
                <a:cs typeface="Arial MT"/>
              </a:rPr>
              <a:t>STAT</a:t>
            </a:r>
            <a:r>
              <a:rPr sz="1650" spc="-160" dirty="0">
                <a:solidFill>
                  <a:srgbClr val="CF1D42"/>
                </a:solidFill>
                <a:latin typeface="Arial MT"/>
                <a:cs typeface="Arial MT"/>
              </a:rPr>
              <a:t> </a:t>
            </a:r>
            <a:r>
              <a:rPr sz="1650" spc="120" dirty="0">
                <a:solidFill>
                  <a:srgbClr val="E61A4F"/>
                </a:solidFill>
                <a:latin typeface="Arial MT"/>
                <a:cs typeface="Arial MT"/>
              </a:rPr>
              <a:t>E</a:t>
            </a:r>
            <a:r>
              <a:rPr sz="1650" spc="120" dirty="0">
                <a:solidFill>
                  <a:srgbClr val="EB133D"/>
                </a:solidFill>
                <a:latin typeface="Arial MT"/>
                <a:cs typeface="Arial MT"/>
              </a:rPr>
              <a:t>M</a:t>
            </a:r>
            <a:r>
              <a:rPr sz="1650" spc="120" dirty="0">
                <a:solidFill>
                  <a:srgbClr val="E41644"/>
                </a:solidFill>
                <a:latin typeface="Arial MT"/>
                <a:cs typeface="Arial MT"/>
              </a:rPr>
              <a:t>E</a:t>
            </a:r>
            <a:r>
              <a:rPr sz="1650" spc="-280" dirty="0">
                <a:solidFill>
                  <a:srgbClr val="E41644"/>
                </a:solidFill>
                <a:latin typeface="Arial MT"/>
                <a:cs typeface="Arial MT"/>
              </a:rPr>
              <a:t> </a:t>
            </a:r>
            <a:r>
              <a:rPr sz="1650" spc="95" dirty="0">
                <a:solidFill>
                  <a:srgbClr val="C32656"/>
                </a:solidFill>
                <a:latin typeface="Arial MT"/>
                <a:cs typeface="Arial MT"/>
              </a:rPr>
              <a:t>NT</a:t>
            </a:r>
            <a:r>
              <a:rPr sz="1650" spc="290" dirty="0">
                <a:solidFill>
                  <a:srgbClr val="C32656"/>
                </a:solidFill>
                <a:latin typeface="Arial MT"/>
                <a:cs typeface="Arial MT"/>
              </a:rPr>
              <a:t> </a:t>
            </a:r>
            <a:r>
              <a:rPr sz="1650" spc="110" dirty="0">
                <a:solidFill>
                  <a:srgbClr val="D61F44"/>
                </a:solidFill>
                <a:latin typeface="Arial MT"/>
                <a:cs typeface="Arial MT"/>
              </a:rPr>
              <a:t>&amp;</a:t>
            </a:r>
            <a:r>
              <a:rPr sz="1650" spc="135" dirty="0">
                <a:solidFill>
                  <a:srgbClr val="D61F44"/>
                </a:solidFill>
                <a:latin typeface="Arial MT"/>
                <a:cs typeface="Arial MT"/>
              </a:rPr>
              <a:t> </a:t>
            </a:r>
            <a:r>
              <a:rPr sz="1650" spc="140" dirty="0">
                <a:solidFill>
                  <a:srgbClr val="F61854"/>
                </a:solidFill>
                <a:latin typeface="Arial MT"/>
                <a:cs typeface="Arial MT"/>
              </a:rPr>
              <a:t>MOTI</a:t>
            </a:r>
            <a:r>
              <a:rPr sz="1650" spc="-180" dirty="0">
                <a:solidFill>
                  <a:srgbClr val="F61854"/>
                </a:solidFill>
                <a:latin typeface="Arial MT"/>
                <a:cs typeface="Arial MT"/>
              </a:rPr>
              <a:t> </a:t>
            </a:r>
            <a:r>
              <a:rPr sz="1650" spc="70" dirty="0">
                <a:solidFill>
                  <a:srgbClr val="DB1641"/>
                </a:solidFill>
                <a:latin typeface="Arial MT"/>
                <a:cs typeface="Arial MT"/>
              </a:rPr>
              <a:t>VAT</a:t>
            </a:r>
            <a:r>
              <a:rPr sz="1650" spc="-220" dirty="0">
                <a:solidFill>
                  <a:srgbClr val="DB1641"/>
                </a:solidFill>
                <a:latin typeface="Arial MT"/>
                <a:cs typeface="Arial MT"/>
              </a:rPr>
              <a:t> </a:t>
            </a:r>
            <a:r>
              <a:rPr sz="1650" spc="55" dirty="0">
                <a:solidFill>
                  <a:srgbClr val="D8235B"/>
                </a:solidFill>
                <a:latin typeface="Arial MT"/>
                <a:cs typeface="Arial MT"/>
              </a:rPr>
              <a:t>IO</a:t>
            </a:r>
            <a:r>
              <a:rPr sz="1650" spc="-140" dirty="0">
                <a:solidFill>
                  <a:srgbClr val="D8235B"/>
                </a:solidFill>
                <a:latin typeface="Arial MT"/>
                <a:cs typeface="Arial MT"/>
              </a:rPr>
              <a:t> </a:t>
            </a:r>
            <a:r>
              <a:rPr sz="1650" spc="80" dirty="0">
                <a:solidFill>
                  <a:srgbClr val="C62654"/>
                </a:solidFill>
                <a:latin typeface="Arial MT"/>
                <a:cs typeface="Arial MT"/>
              </a:rPr>
              <a:t>N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100"/>
              </a:spcBef>
            </a:pPr>
            <a:r>
              <a:rPr sz="3350" spc="-310" dirty="0">
                <a:solidFill>
                  <a:srgbClr val="111111"/>
                </a:solidFill>
                <a:latin typeface="Arial Black" panose="020B0A04020102020204"/>
                <a:cs typeface="Arial Black" panose="020B0A04020102020204"/>
              </a:rPr>
              <a:t>Introduction</a:t>
            </a:r>
            <a:r>
              <a:rPr sz="3350" spc="-155" dirty="0">
                <a:solidFill>
                  <a:srgbClr val="111111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3350" spc="-480" dirty="0">
                <a:solidFill>
                  <a:srgbClr val="161616"/>
                </a:solidFill>
                <a:latin typeface="Arial Black" panose="020B0A04020102020204"/>
                <a:cs typeface="Arial Black" panose="020B0A04020102020204"/>
              </a:rPr>
              <a:t>&amp;</a:t>
            </a:r>
            <a:r>
              <a:rPr sz="3350" spc="-645" dirty="0">
                <a:solidFill>
                  <a:srgbClr val="161616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3350" spc="-280" dirty="0">
                <a:solidFill>
                  <a:srgbClr val="151515"/>
                </a:solidFill>
                <a:latin typeface="Arial Black" panose="020B0A04020102020204"/>
                <a:cs typeface="Arial Black" panose="020B0A04020102020204"/>
              </a:rPr>
              <a:t>Domain</a:t>
            </a:r>
            <a:r>
              <a:rPr sz="3350" spc="-225" dirty="0">
                <a:solidFill>
                  <a:srgbClr val="151515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3350" spc="-385" dirty="0">
                <a:solidFill>
                  <a:srgbClr val="131313"/>
                </a:solidFill>
                <a:latin typeface="Arial Black" panose="020B0A04020102020204"/>
                <a:cs typeface="Arial Black" panose="020B0A04020102020204"/>
              </a:rPr>
              <a:t>Need</a:t>
            </a:r>
            <a:endParaRPr sz="335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9533" y="2732635"/>
            <a:ext cx="7276465" cy="17760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65735">
              <a:lnSpc>
                <a:spcPct val="100000"/>
              </a:lnSpc>
              <a:spcBef>
                <a:spcPts val="90"/>
              </a:spcBef>
              <a:tabLst>
                <a:tab pos="732155" algn="l"/>
              </a:tabLst>
            </a:pPr>
            <a:r>
              <a:rPr sz="2200" spc="-50" dirty="0">
                <a:solidFill>
                  <a:srgbClr val="E81F4D"/>
                </a:solidFill>
                <a:latin typeface="Arial MT"/>
                <a:cs typeface="Arial MT"/>
              </a:rPr>
              <a:t>A</a:t>
            </a:r>
            <a:r>
              <a:rPr sz="2200" dirty="0">
                <a:solidFill>
                  <a:srgbClr val="E81F4D"/>
                </a:solidFill>
                <a:latin typeface="Arial MT"/>
                <a:cs typeface="Arial MT"/>
              </a:rPr>
              <a:t>	</a:t>
            </a:r>
            <a:r>
              <a:rPr sz="2200" dirty="0">
                <a:solidFill>
                  <a:srgbClr val="131313"/>
                </a:solidFill>
                <a:latin typeface="Arial MT"/>
                <a:cs typeface="Arial MT"/>
              </a:rPr>
              <a:t>Travel</a:t>
            </a:r>
            <a:r>
              <a:rPr sz="2200" spc="18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2200" spc="70" dirty="0">
                <a:solidFill>
                  <a:srgbClr val="0F0F0F"/>
                </a:solidFill>
                <a:latin typeface="Arial MT"/>
                <a:cs typeface="Arial MT"/>
              </a:rPr>
              <a:t>Vulnerabilities</a:t>
            </a:r>
            <a:endParaRPr sz="2200">
              <a:latin typeface="Arial MT"/>
              <a:cs typeface="Arial MT"/>
            </a:endParaRPr>
          </a:p>
          <a:p>
            <a:pPr marL="12700" marR="5080">
              <a:lnSpc>
                <a:spcPct val="112000"/>
              </a:lnSpc>
              <a:spcBef>
                <a:spcPts val="1875"/>
              </a:spcBef>
            </a:pPr>
            <a:r>
              <a:rPr sz="2300" dirty="0">
                <a:solidFill>
                  <a:srgbClr val="2D2D2D"/>
                </a:solidFill>
                <a:latin typeface="Arial MT"/>
                <a:cs typeface="Arial MT"/>
              </a:rPr>
              <a:t>Women</a:t>
            </a:r>
            <a:r>
              <a:rPr sz="2300" spc="15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2300" spc="50" dirty="0">
                <a:solidFill>
                  <a:srgbClr val="383838"/>
                </a:solidFill>
                <a:latin typeface="Arial MT"/>
                <a:cs typeface="Arial MT"/>
              </a:rPr>
              <a:t>face</a:t>
            </a:r>
            <a:r>
              <a:rPr sz="2300" spc="-35" dirty="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333333"/>
                </a:solidFill>
                <a:latin typeface="Arial MT"/>
                <a:cs typeface="Arial MT"/>
              </a:rPr>
              <a:t>heightened</a:t>
            </a:r>
            <a:r>
              <a:rPr sz="2300" spc="18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313131"/>
                </a:solidFill>
                <a:latin typeface="Arial MT"/>
                <a:cs typeface="Arial MT"/>
              </a:rPr>
              <a:t>security</a:t>
            </a:r>
            <a:r>
              <a:rPr sz="2300" spc="10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300" spc="-50" dirty="0">
                <a:solidFill>
                  <a:srgbClr val="2D2D2D"/>
                </a:solidFill>
                <a:latin typeface="Arial MT"/>
                <a:cs typeface="Arial MT"/>
              </a:rPr>
              <a:t>risks</a:t>
            </a:r>
            <a:r>
              <a:rPr sz="2300" spc="15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363636"/>
                </a:solidFill>
                <a:latin typeface="Arial MT"/>
                <a:cs typeface="Arial MT"/>
              </a:rPr>
              <a:t>during</a:t>
            </a:r>
            <a:r>
              <a:rPr sz="2300" spc="-5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2300" spc="55" dirty="0">
                <a:solidFill>
                  <a:srgbClr val="333333"/>
                </a:solidFill>
                <a:latin typeface="Arial MT"/>
                <a:cs typeface="Arial MT"/>
              </a:rPr>
              <a:t>late-</a:t>
            </a:r>
            <a:r>
              <a:rPr sz="2300" spc="50" dirty="0">
                <a:solidFill>
                  <a:srgbClr val="333333"/>
                </a:solidFill>
                <a:latin typeface="Arial MT"/>
                <a:cs typeface="Arial MT"/>
              </a:rPr>
              <a:t>night </a:t>
            </a:r>
            <a:r>
              <a:rPr sz="2300" spc="55" dirty="0">
                <a:solidFill>
                  <a:srgbClr val="383838"/>
                </a:solidFill>
                <a:latin typeface="Arial MT"/>
                <a:cs typeface="Arial MT"/>
              </a:rPr>
              <a:t>commutes,</a:t>
            </a:r>
            <a:r>
              <a:rPr sz="2300" spc="45" dirty="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232323"/>
                </a:solidFill>
                <a:latin typeface="Arial MT"/>
                <a:cs typeface="Arial MT"/>
              </a:rPr>
              <a:t>isolated</a:t>
            </a:r>
            <a:r>
              <a:rPr sz="2300" spc="4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262626"/>
                </a:solidFill>
                <a:latin typeface="Arial MT"/>
                <a:cs typeface="Arial MT"/>
              </a:rPr>
              <a:t>transit</a:t>
            </a:r>
            <a:r>
              <a:rPr sz="2300" spc="10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313131"/>
                </a:solidFill>
                <a:latin typeface="Arial MT"/>
                <a:cs typeface="Arial MT"/>
              </a:rPr>
              <a:t>routes,</a:t>
            </a:r>
            <a:r>
              <a:rPr sz="2300" spc="-45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3D3D3D"/>
                </a:solidFill>
                <a:latin typeface="Arial MT"/>
                <a:cs typeface="Arial MT"/>
              </a:rPr>
              <a:t>and</a:t>
            </a:r>
            <a:r>
              <a:rPr sz="2300" spc="-130" dirty="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sz="2300" spc="-30" dirty="0">
                <a:solidFill>
                  <a:srgbClr val="313131"/>
                </a:solidFill>
                <a:latin typeface="Arial MT"/>
                <a:cs typeface="Arial MT"/>
              </a:rPr>
              <a:t>unfamiliar</a:t>
            </a:r>
            <a:r>
              <a:rPr sz="2300" spc="135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3D3D3D"/>
                </a:solidFill>
                <a:latin typeface="Arial MT"/>
                <a:cs typeface="Arial MT"/>
              </a:rPr>
              <a:t>travel </a:t>
            </a:r>
            <a:r>
              <a:rPr sz="2300" spc="-10" dirty="0">
                <a:solidFill>
                  <a:srgbClr val="333333"/>
                </a:solidFill>
                <a:latin typeface="Arial MT"/>
                <a:cs typeface="Arial MT"/>
              </a:rPr>
              <a:t>environments.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69112" y="5513309"/>
            <a:ext cx="4808220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spc="165" dirty="0">
                <a:solidFill>
                  <a:srgbClr val="161616"/>
                </a:solidFill>
                <a:latin typeface="Arial MT"/>
                <a:cs typeface="Arial MT"/>
              </a:rPr>
              <a:t>Imperative</a:t>
            </a:r>
            <a:r>
              <a:rPr sz="2050" spc="-11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2050" spc="140" dirty="0">
                <a:solidFill>
                  <a:srgbClr val="111111"/>
                </a:solidFill>
                <a:latin typeface="Arial MT"/>
                <a:cs typeface="Arial MT"/>
              </a:rPr>
              <a:t>for</a:t>
            </a:r>
            <a:r>
              <a:rPr sz="2050" spc="19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2050" spc="125" dirty="0">
                <a:solidFill>
                  <a:srgbClr val="0C0C0C"/>
                </a:solidFill>
                <a:latin typeface="Arial MT"/>
                <a:cs typeface="Arial MT"/>
              </a:rPr>
              <a:t>Proactive</a:t>
            </a:r>
            <a:r>
              <a:rPr sz="2050" spc="-75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2050" spc="135" dirty="0">
                <a:solidFill>
                  <a:srgbClr val="0C0C0C"/>
                </a:solidFill>
                <a:latin typeface="Arial MT"/>
                <a:cs typeface="Arial MT"/>
              </a:rPr>
              <a:t>Safeguards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57807" y="6053869"/>
            <a:ext cx="8328025" cy="8108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 marR="5080" indent="-1905">
              <a:lnSpc>
                <a:spcPct val="112000"/>
              </a:lnSpc>
              <a:spcBef>
                <a:spcPts val="95"/>
              </a:spcBef>
            </a:pPr>
            <a:r>
              <a:rPr sz="2300" dirty="0">
                <a:solidFill>
                  <a:srgbClr val="2A2A2A"/>
                </a:solidFill>
                <a:latin typeface="Arial MT"/>
                <a:cs typeface="Arial MT"/>
              </a:rPr>
              <a:t>Shift</a:t>
            </a:r>
            <a:r>
              <a:rPr sz="2300" spc="-2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2300" spc="60" dirty="0">
                <a:solidFill>
                  <a:srgbClr val="383838"/>
                </a:solidFill>
                <a:latin typeface="Arial MT"/>
                <a:cs typeface="Arial MT"/>
              </a:rPr>
              <a:t>priority</a:t>
            </a:r>
            <a:r>
              <a:rPr sz="2300" spc="-75" dirty="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sz="2300" spc="90" dirty="0">
                <a:solidFill>
                  <a:srgbClr val="363636"/>
                </a:solidFill>
                <a:latin typeface="Arial MT"/>
                <a:cs typeface="Arial MT"/>
              </a:rPr>
              <a:t>from</a:t>
            </a:r>
            <a:r>
              <a:rPr sz="2300" spc="-155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2300" spc="85" dirty="0">
                <a:solidFill>
                  <a:srgbClr val="2F2F2F"/>
                </a:solidFill>
                <a:latin typeface="Arial MT"/>
                <a:cs typeface="Arial MT"/>
              </a:rPr>
              <a:t>post-</a:t>
            </a:r>
            <a:r>
              <a:rPr sz="2300" spc="80" dirty="0">
                <a:solidFill>
                  <a:srgbClr val="2F2F2F"/>
                </a:solidFill>
                <a:latin typeface="Arial MT"/>
                <a:cs typeface="Arial MT"/>
              </a:rPr>
              <a:t>incident</a:t>
            </a:r>
            <a:r>
              <a:rPr sz="2300" spc="175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7C8997"/>
                </a:solidFill>
                <a:latin typeface="Arial MT"/>
                <a:cs typeface="Arial MT"/>
              </a:rPr>
              <a:t>panic</a:t>
            </a:r>
            <a:r>
              <a:rPr sz="2300" spc="80" dirty="0">
                <a:solidFill>
                  <a:srgbClr val="7C8997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313131"/>
                </a:solidFill>
                <a:latin typeface="Arial MT"/>
                <a:cs typeface="Arial MT"/>
              </a:rPr>
              <a:t>alerts</a:t>
            </a:r>
            <a:r>
              <a:rPr sz="2300" spc="-7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300" spc="75" dirty="0">
                <a:solidFill>
                  <a:srgbClr val="313131"/>
                </a:solidFill>
                <a:latin typeface="Arial MT"/>
                <a:cs typeface="Arial MT"/>
              </a:rPr>
              <a:t>toward</a:t>
            </a:r>
            <a:r>
              <a:rPr sz="2300" spc="-75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262626"/>
                </a:solidFill>
                <a:latin typeface="Arial MT"/>
                <a:cs typeface="Arial MT"/>
              </a:rPr>
              <a:t>continuous </a:t>
            </a:r>
            <a:r>
              <a:rPr sz="2300" dirty="0">
                <a:solidFill>
                  <a:srgbClr val="2D2D2D"/>
                </a:solidFill>
                <a:latin typeface="Arial MT"/>
                <a:cs typeface="Arial MT"/>
              </a:rPr>
              <a:t>monitoring</a:t>
            </a:r>
            <a:r>
              <a:rPr sz="2300" spc="170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343434"/>
                </a:solidFill>
                <a:latin typeface="Arial MT"/>
                <a:cs typeface="Arial MT"/>
              </a:rPr>
              <a:t>that</a:t>
            </a:r>
            <a:r>
              <a:rPr sz="2300" spc="13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2300" spc="114" dirty="0">
                <a:solidFill>
                  <a:srgbClr val="2F2F2F"/>
                </a:solidFill>
                <a:latin typeface="Arial MT"/>
                <a:cs typeface="Arial MT"/>
              </a:rPr>
              <a:t>detects</a:t>
            </a:r>
            <a:r>
              <a:rPr sz="2300" spc="75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2F2F2F"/>
                </a:solidFill>
                <a:latin typeface="Arial MT"/>
                <a:cs typeface="Arial MT"/>
              </a:rPr>
              <a:t>threats</a:t>
            </a:r>
            <a:r>
              <a:rPr sz="2300" spc="125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2300" spc="80" dirty="0">
                <a:solidFill>
                  <a:srgbClr val="333333"/>
                </a:solidFill>
                <a:latin typeface="Arial MT"/>
                <a:cs typeface="Arial MT"/>
              </a:rPr>
              <a:t>before</a:t>
            </a:r>
            <a:r>
              <a:rPr sz="2300" spc="5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2F2F2F"/>
                </a:solidFill>
                <a:latin typeface="Arial MT"/>
                <a:cs typeface="Arial MT"/>
              </a:rPr>
              <a:t>escalation</a:t>
            </a:r>
            <a:r>
              <a:rPr sz="2300" spc="185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313131"/>
                </a:solidFill>
                <a:latin typeface="Arial MT"/>
                <a:cs typeface="Arial MT"/>
              </a:rPr>
              <a:t>occurs.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52198" y="8245556"/>
            <a:ext cx="17861915" cy="13836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57480">
              <a:lnSpc>
                <a:spcPct val="100000"/>
              </a:lnSpc>
              <a:spcBef>
                <a:spcPts val="90"/>
              </a:spcBef>
              <a:tabLst>
                <a:tab pos="727710" algn="l"/>
              </a:tabLst>
            </a:pPr>
            <a:r>
              <a:rPr sz="2200" spc="-50" dirty="0">
                <a:solidFill>
                  <a:srgbClr val="E21D46"/>
                </a:solidFill>
                <a:latin typeface="Arial MT"/>
                <a:cs typeface="Arial MT"/>
              </a:rPr>
              <a:t>@</a:t>
            </a:r>
            <a:r>
              <a:rPr sz="2200" dirty="0">
                <a:solidFill>
                  <a:srgbClr val="E21D46"/>
                </a:solidFill>
                <a:latin typeface="Arial MT"/>
                <a:cs typeface="Arial MT"/>
              </a:rPr>
              <a:t>	</a:t>
            </a:r>
            <a:r>
              <a:rPr sz="2200" spc="90" dirty="0">
                <a:latin typeface="Arial MT"/>
                <a:cs typeface="Arial MT"/>
              </a:rPr>
              <a:t>Integrated</a:t>
            </a:r>
            <a:r>
              <a:rPr sz="2200" spc="-135" dirty="0">
                <a:latin typeface="Arial MT"/>
                <a:cs typeface="Arial MT"/>
              </a:rPr>
              <a:t> </a:t>
            </a:r>
            <a:r>
              <a:rPr sz="2200" spc="55" dirty="0">
                <a:solidFill>
                  <a:srgbClr val="161616"/>
                </a:solidFill>
                <a:latin typeface="Arial MT"/>
                <a:cs typeface="Arial MT"/>
              </a:rPr>
              <a:t>AI</a:t>
            </a:r>
            <a:r>
              <a:rPr sz="2200" spc="-30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2200" spc="70" dirty="0">
                <a:solidFill>
                  <a:srgbClr val="131313"/>
                </a:solidFill>
                <a:latin typeface="Arial MT"/>
                <a:cs typeface="Arial MT"/>
              </a:rPr>
              <a:t>&amp;</a:t>
            </a:r>
            <a:r>
              <a:rPr sz="2200" spc="-37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2200" spc="50" dirty="0">
                <a:solidFill>
                  <a:srgbClr val="181818"/>
                </a:solidFill>
                <a:latin typeface="Arial MT"/>
                <a:cs typeface="Arial MT"/>
              </a:rPr>
              <a:t>Telemetry</a:t>
            </a:r>
            <a:r>
              <a:rPr sz="2200" spc="4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111111"/>
                </a:solidFill>
                <a:latin typeface="Arial MT"/>
                <a:cs typeface="Arial MT"/>
              </a:rPr>
              <a:t>Fusion</a:t>
            </a:r>
            <a:endParaRPr sz="2200">
              <a:latin typeface="Arial MT"/>
              <a:cs typeface="Arial MT"/>
            </a:endParaRPr>
          </a:p>
          <a:p>
            <a:pPr marL="12700" marR="5080" indent="5080">
              <a:lnSpc>
                <a:spcPct val="112000"/>
              </a:lnSpc>
              <a:spcBef>
                <a:spcPts val="1875"/>
              </a:spcBef>
            </a:pPr>
            <a:r>
              <a:rPr sz="2300" spc="-20" dirty="0">
                <a:solidFill>
                  <a:srgbClr val="2A2A2A"/>
                </a:solidFill>
                <a:latin typeface="Arial MT"/>
                <a:cs typeface="Arial MT"/>
              </a:rPr>
              <a:t>Synthesizes</a:t>
            </a:r>
            <a:r>
              <a:rPr sz="2300" spc="10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2F2F2F"/>
                </a:solidFill>
                <a:latin typeface="Arial MT"/>
                <a:cs typeface="Arial MT"/>
              </a:rPr>
              <a:t>real-</a:t>
            </a:r>
            <a:r>
              <a:rPr sz="2300" spc="50" dirty="0">
                <a:solidFill>
                  <a:srgbClr val="2F2F2F"/>
                </a:solidFill>
                <a:latin typeface="Arial MT"/>
                <a:cs typeface="Arial MT"/>
              </a:rPr>
              <a:t>time</a:t>
            </a:r>
            <a:r>
              <a:rPr sz="2300" spc="145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2300" spc="90" dirty="0">
                <a:solidFill>
                  <a:srgbClr val="2F2F2F"/>
                </a:solidFill>
                <a:latin typeface="Arial MT"/>
                <a:cs typeface="Arial MT"/>
              </a:rPr>
              <a:t>geolocation</a:t>
            </a:r>
            <a:r>
              <a:rPr sz="2300" spc="-20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313131"/>
                </a:solidFill>
                <a:latin typeface="Arial MT"/>
                <a:cs typeface="Arial MT"/>
              </a:rPr>
              <a:t>tracking,</a:t>
            </a:r>
            <a:r>
              <a:rPr sz="2300" spc="4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262626"/>
                </a:solidFill>
                <a:latin typeface="Arial MT"/>
                <a:cs typeface="Arial MT"/>
              </a:rPr>
              <a:t>dynamic</a:t>
            </a:r>
            <a:r>
              <a:rPr sz="2300" spc="28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2300" spc="90" dirty="0">
                <a:solidFill>
                  <a:srgbClr val="262626"/>
                </a:solidFill>
                <a:latin typeface="Arial MT"/>
                <a:cs typeface="Arial MT"/>
              </a:rPr>
              <a:t>geofenced</a:t>
            </a:r>
            <a:r>
              <a:rPr sz="2300" spc="15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212121"/>
                </a:solidFill>
                <a:latin typeface="Arial MT"/>
                <a:cs typeface="Arial MT"/>
              </a:rPr>
              <a:t>safety</a:t>
            </a:r>
            <a:r>
              <a:rPr sz="2300" spc="-2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300" spc="-20" dirty="0">
                <a:solidFill>
                  <a:srgbClr val="2D2D2D"/>
                </a:solidFill>
                <a:latin typeface="Arial MT"/>
                <a:cs typeface="Arial MT"/>
              </a:rPr>
              <a:t>zones,</a:t>
            </a:r>
            <a:r>
              <a:rPr sz="2300" spc="-15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2D2D2D"/>
                </a:solidFill>
                <a:latin typeface="Arial MT"/>
                <a:cs typeface="Arial MT"/>
              </a:rPr>
              <a:t>scheduled</a:t>
            </a:r>
            <a:r>
              <a:rPr sz="2300" spc="70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2300" spc="60" dirty="0">
                <a:solidFill>
                  <a:srgbClr val="343434"/>
                </a:solidFill>
                <a:latin typeface="Arial MT"/>
                <a:cs typeface="Arial MT"/>
              </a:rPr>
              <a:t>check-</a:t>
            </a:r>
            <a:r>
              <a:rPr sz="2300" dirty="0">
                <a:solidFill>
                  <a:srgbClr val="343434"/>
                </a:solidFill>
                <a:latin typeface="Arial MT"/>
                <a:cs typeface="Arial MT"/>
              </a:rPr>
              <a:t>ins,</a:t>
            </a:r>
            <a:r>
              <a:rPr sz="2300" spc="3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313131"/>
                </a:solidFill>
                <a:latin typeface="Arial MT"/>
                <a:cs typeface="Arial MT"/>
              </a:rPr>
              <a:t>and</a:t>
            </a:r>
            <a:r>
              <a:rPr sz="2300" spc="-55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300" spc="60" dirty="0">
                <a:solidFill>
                  <a:srgbClr val="313131"/>
                </a:solidFill>
                <a:latin typeface="Arial MT"/>
                <a:cs typeface="Arial MT"/>
              </a:rPr>
              <a:t>predictive</a:t>
            </a:r>
            <a:r>
              <a:rPr sz="2300" spc="13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300" spc="-140" dirty="0">
                <a:solidFill>
                  <a:srgbClr val="314657"/>
                </a:solidFill>
                <a:latin typeface="Arial MT"/>
                <a:cs typeface="Arial MT"/>
              </a:rPr>
              <a:t>AI</a:t>
            </a:r>
            <a:r>
              <a:rPr sz="2300" spc="-20" dirty="0">
                <a:solidFill>
                  <a:srgbClr val="314657"/>
                </a:solidFill>
                <a:latin typeface="Arial MT"/>
                <a:cs typeface="Arial MT"/>
              </a:rPr>
              <a:t> </a:t>
            </a:r>
            <a:r>
              <a:rPr sz="2300" spc="-45" dirty="0">
                <a:solidFill>
                  <a:srgbClr val="383838"/>
                </a:solidFill>
                <a:latin typeface="Arial MT"/>
                <a:cs typeface="Arial MT"/>
              </a:rPr>
              <a:t>risk</a:t>
            </a:r>
            <a:r>
              <a:rPr sz="2300" spc="15" dirty="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313131"/>
                </a:solidFill>
                <a:latin typeface="Arial MT"/>
                <a:cs typeface="Arial MT"/>
              </a:rPr>
              <a:t>scoring</a:t>
            </a:r>
            <a:r>
              <a:rPr sz="2300" spc="35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300" spc="60" dirty="0">
                <a:solidFill>
                  <a:srgbClr val="7993B5"/>
                </a:solidFill>
                <a:latin typeface="Arial MT"/>
                <a:cs typeface="Arial MT"/>
              </a:rPr>
              <a:t>into</a:t>
            </a:r>
            <a:r>
              <a:rPr sz="2300" spc="-50" dirty="0">
                <a:solidFill>
                  <a:srgbClr val="7993B5"/>
                </a:solidFill>
                <a:latin typeface="Arial MT"/>
                <a:cs typeface="Arial MT"/>
              </a:rPr>
              <a:t> </a:t>
            </a:r>
            <a:r>
              <a:rPr sz="2300" spc="-50" dirty="0">
                <a:solidFill>
                  <a:srgbClr val="485E89"/>
                </a:solidFill>
                <a:latin typeface="Arial MT"/>
                <a:cs typeface="Arial MT"/>
              </a:rPr>
              <a:t>a </a:t>
            </a:r>
            <a:r>
              <a:rPr sz="2300" dirty="0">
                <a:solidFill>
                  <a:srgbClr val="383838"/>
                </a:solidFill>
                <a:latin typeface="Arial MT"/>
                <a:cs typeface="Arial MT"/>
              </a:rPr>
              <a:t>unified</a:t>
            </a:r>
            <a:r>
              <a:rPr sz="2300" spc="60" dirty="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2F2F2F"/>
                </a:solidFill>
                <a:latin typeface="Arial MT"/>
                <a:cs typeface="Arial MT"/>
              </a:rPr>
              <a:t>response</a:t>
            </a:r>
            <a:r>
              <a:rPr sz="2300" spc="125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2300" spc="-20" dirty="0">
                <a:solidFill>
                  <a:srgbClr val="383838"/>
                </a:solidFill>
                <a:latin typeface="Arial MT"/>
                <a:cs typeface="Arial MT"/>
              </a:rPr>
              <a:t>hub.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195618" y="2732635"/>
            <a:ext cx="4411345" cy="359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00" dirty="0">
                <a:solidFill>
                  <a:srgbClr val="131313"/>
                </a:solidFill>
                <a:latin typeface="Arial MT"/>
                <a:cs typeface="Arial MT"/>
              </a:rPr>
              <a:t>Conventional</a:t>
            </a:r>
            <a:r>
              <a:rPr sz="2200" spc="33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51515"/>
                </a:solidFill>
                <a:latin typeface="Arial MT"/>
                <a:cs typeface="Arial MT"/>
              </a:rPr>
              <a:t>System</a:t>
            </a:r>
            <a:r>
              <a:rPr sz="2200" spc="120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50505"/>
                </a:solidFill>
                <a:latin typeface="Arial MT"/>
                <a:cs typeface="Arial MT"/>
              </a:rPr>
              <a:t>Deficiencies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313844" y="1117500"/>
            <a:ext cx="815975" cy="2806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50" spc="55" dirty="0">
                <a:solidFill>
                  <a:srgbClr val="4B4B4B"/>
                </a:solidFill>
                <a:latin typeface="Arial MT"/>
                <a:cs typeface="Arial MT"/>
              </a:rPr>
              <a:t>Context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479386" y="3305261"/>
            <a:ext cx="8166734" cy="1203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605" marR="5080" indent="-2540" algn="just">
              <a:lnSpc>
                <a:spcPct val="112000"/>
              </a:lnSpc>
              <a:spcBef>
                <a:spcPts val="95"/>
              </a:spcBef>
            </a:pPr>
            <a:r>
              <a:rPr sz="2300" spc="-10" dirty="0">
                <a:solidFill>
                  <a:srgbClr val="2D2D2D"/>
                </a:solidFill>
                <a:latin typeface="Arial MT"/>
                <a:cs typeface="Arial MT"/>
              </a:rPr>
              <a:t>Existing</a:t>
            </a:r>
            <a:r>
              <a:rPr sz="2300" spc="-85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343434"/>
                </a:solidFill>
                <a:latin typeface="Arial MT"/>
                <a:cs typeface="Arial MT"/>
              </a:rPr>
              <a:t>safety</a:t>
            </a:r>
            <a:r>
              <a:rPr sz="2300" spc="-7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2300" spc="50" dirty="0">
                <a:solidFill>
                  <a:srgbClr val="383838"/>
                </a:solidFill>
                <a:latin typeface="Arial MT"/>
                <a:cs typeface="Arial MT"/>
              </a:rPr>
              <a:t>applications</a:t>
            </a:r>
            <a:r>
              <a:rPr sz="2300" spc="5" dirty="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2D2D2D"/>
                </a:solidFill>
                <a:latin typeface="Arial MT"/>
                <a:cs typeface="Arial MT"/>
              </a:rPr>
              <a:t>rely</a:t>
            </a:r>
            <a:r>
              <a:rPr sz="2300" spc="-110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2300" spc="-30" dirty="0">
                <a:solidFill>
                  <a:srgbClr val="3B3B3B"/>
                </a:solidFill>
                <a:latin typeface="Arial MT"/>
                <a:cs typeface="Arial MT"/>
              </a:rPr>
              <a:t>heavily</a:t>
            </a:r>
            <a:r>
              <a:rPr sz="2300" spc="15" dirty="0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sz="2300" spc="10" dirty="0">
                <a:solidFill>
                  <a:srgbClr val="363636"/>
                </a:solidFill>
                <a:latin typeface="Arial MT"/>
                <a:cs typeface="Arial MT"/>
              </a:rPr>
              <a:t>on</a:t>
            </a:r>
            <a:r>
              <a:rPr sz="2300" spc="-160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2300" spc="-60" dirty="0">
                <a:solidFill>
                  <a:srgbClr val="3B3B3B"/>
                </a:solidFill>
                <a:latin typeface="Arial MT"/>
                <a:cs typeface="Arial MT"/>
              </a:rPr>
              <a:t>manual</a:t>
            </a:r>
            <a:r>
              <a:rPr sz="2300" spc="-100" dirty="0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sz="2300" spc="-35" dirty="0">
                <a:solidFill>
                  <a:srgbClr val="3D3D3D"/>
                </a:solidFill>
                <a:latin typeface="Arial MT"/>
                <a:cs typeface="Arial MT"/>
              </a:rPr>
              <a:t>SOS</a:t>
            </a:r>
            <a:r>
              <a:rPr sz="2300" spc="-25" dirty="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sz="2300" spc="100" dirty="0">
                <a:solidFill>
                  <a:srgbClr val="333333"/>
                </a:solidFill>
                <a:latin typeface="Arial MT"/>
                <a:cs typeface="Arial MT"/>
              </a:rPr>
              <a:t>button </a:t>
            </a:r>
            <a:r>
              <a:rPr sz="2300" spc="50" dirty="0">
                <a:solidFill>
                  <a:srgbClr val="3A3A3A"/>
                </a:solidFill>
                <a:latin typeface="Arial MT"/>
                <a:cs typeface="Arial MT"/>
              </a:rPr>
              <a:t>triggers,</a:t>
            </a:r>
            <a:r>
              <a:rPr sz="2300" spc="-25" dirty="0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313131"/>
                </a:solidFill>
                <a:latin typeface="Arial MT"/>
                <a:cs typeface="Arial MT"/>
              </a:rPr>
              <a:t>which</a:t>
            </a:r>
            <a:r>
              <a:rPr sz="2300" spc="-7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300" spc="-55" dirty="0">
                <a:solidFill>
                  <a:srgbClr val="363636"/>
                </a:solidFill>
                <a:latin typeface="Arial MT"/>
                <a:cs typeface="Arial MT"/>
              </a:rPr>
              <a:t>are</a:t>
            </a:r>
            <a:r>
              <a:rPr sz="2300" spc="-75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343434"/>
                </a:solidFill>
                <a:latin typeface="Arial MT"/>
                <a:cs typeface="Arial MT"/>
              </a:rPr>
              <a:t>impossible</a:t>
            </a:r>
            <a:r>
              <a:rPr sz="2300" spc="3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363636"/>
                </a:solidFill>
                <a:latin typeface="Arial MT"/>
                <a:cs typeface="Arial MT"/>
              </a:rPr>
              <a:t>to</a:t>
            </a:r>
            <a:r>
              <a:rPr sz="2300" spc="225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363636"/>
                </a:solidFill>
                <a:latin typeface="Arial MT"/>
                <a:cs typeface="Arial MT"/>
              </a:rPr>
              <a:t>press</a:t>
            </a:r>
            <a:r>
              <a:rPr sz="2300" spc="40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3B3B3B"/>
                </a:solidFill>
                <a:latin typeface="Arial MT"/>
                <a:cs typeface="Arial MT"/>
              </a:rPr>
              <a:t>during</a:t>
            </a:r>
            <a:r>
              <a:rPr sz="2300" spc="-5" dirty="0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383838"/>
                </a:solidFill>
                <a:latin typeface="Arial MT"/>
                <a:cs typeface="Arial MT"/>
              </a:rPr>
              <a:t>sudden</a:t>
            </a:r>
            <a:r>
              <a:rPr sz="2300" spc="-50" dirty="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383838"/>
                </a:solidFill>
                <a:latin typeface="Arial MT"/>
                <a:cs typeface="Arial MT"/>
              </a:rPr>
              <a:t>physical </a:t>
            </a:r>
            <a:r>
              <a:rPr sz="2300" spc="-10" dirty="0">
                <a:solidFill>
                  <a:srgbClr val="282828"/>
                </a:solidFill>
                <a:latin typeface="Arial MT"/>
                <a:cs typeface="Arial MT"/>
              </a:rPr>
              <a:t>threats.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206078" y="5496948"/>
            <a:ext cx="4579620" cy="359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00" dirty="0">
                <a:solidFill>
                  <a:srgbClr val="070707"/>
                </a:solidFill>
                <a:latin typeface="Arial MT"/>
                <a:cs typeface="Arial MT"/>
              </a:rPr>
              <a:t>Web-Based</a:t>
            </a:r>
            <a:r>
              <a:rPr sz="2200" spc="25" dirty="0">
                <a:solidFill>
                  <a:srgbClr val="070707"/>
                </a:solidFill>
                <a:latin typeface="Arial MT"/>
                <a:cs typeface="Arial MT"/>
              </a:rPr>
              <a:t> </a:t>
            </a:r>
            <a:r>
              <a:rPr sz="2200" spc="45" dirty="0">
                <a:solidFill>
                  <a:srgbClr val="0A0A0A"/>
                </a:solidFill>
                <a:latin typeface="Arial MT"/>
                <a:cs typeface="Arial MT"/>
              </a:rPr>
              <a:t>Accessibility</a:t>
            </a:r>
            <a:r>
              <a:rPr sz="2200" spc="165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2200" spc="80" dirty="0">
                <a:solidFill>
                  <a:srgbClr val="0C0C0C"/>
                </a:solidFill>
                <a:latin typeface="Arial MT"/>
                <a:cs typeface="Arial MT"/>
              </a:rPr>
              <a:t>Paradigm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481601" y="6053869"/>
            <a:ext cx="8424545" cy="1203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 marR="5080" indent="-1905">
              <a:lnSpc>
                <a:spcPct val="112000"/>
              </a:lnSpc>
              <a:spcBef>
                <a:spcPts val="95"/>
              </a:spcBef>
            </a:pPr>
            <a:r>
              <a:rPr sz="2300" spc="-10" dirty="0">
                <a:solidFill>
                  <a:srgbClr val="2A2A2A"/>
                </a:solidFill>
                <a:latin typeface="Arial MT"/>
                <a:cs typeface="Arial MT"/>
              </a:rPr>
              <a:t>SafeHer</a:t>
            </a:r>
            <a:r>
              <a:rPr sz="2300" spc="4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2300" spc="55" dirty="0">
                <a:solidFill>
                  <a:srgbClr val="2F2F2F"/>
                </a:solidFill>
                <a:latin typeface="Arial MT"/>
                <a:cs typeface="Arial MT"/>
              </a:rPr>
              <a:t>operates</a:t>
            </a:r>
            <a:r>
              <a:rPr sz="2300" spc="80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2300" spc="-130" dirty="0">
                <a:solidFill>
                  <a:srgbClr val="343434"/>
                </a:solidFill>
                <a:latin typeface="Arial MT"/>
                <a:cs typeface="Arial MT"/>
              </a:rPr>
              <a:t>as</a:t>
            </a:r>
            <a:r>
              <a:rPr sz="2300" spc="-4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2300" spc="-175" dirty="0">
                <a:solidFill>
                  <a:srgbClr val="3D547B"/>
                </a:solidFill>
                <a:latin typeface="Arial MT"/>
                <a:cs typeface="Arial MT"/>
              </a:rPr>
              <a:t>a</a:t>
            </a:r>
            <a:r>
              <a:rPr sz="2300" spc="-95" dirty="0">
                <a:solidFill>
                  <a:srgbClr val="3D547B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343434"/>
                </a:solidFill>
                <a:latin typeface="Arial MT"/>
                <a:cs typeface="Arial MT"/>
              </a:rPr>
              <a:t>high-availability</a:t>
            </a:r>
            <a:r>
              <a:rPr sz="2300" spc="-5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2300" spc="65" dirty="0">
                <a:solidFill>
                  <a:srgbClr val="363636"/>
                </a:solidFill>
                <a:latin typeface="Arial MT"/>
                <a:cs typeface="Arial MT"/>
              </a:rPr>
              <a:t>web</a:t>
            </a:r>
            <a:r>
              <a:rPr sz="2300" spc="-65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2300" spc="55" dirty="0">
                <a:solidFill>
                  <a:srgbClr val="242424"/>
                </a:solidFill>
                <a:latin typeface="Arial MT"/>
                <a:cs typeface="Arial MT"/>
              </a:rPr>
              <a:t>platform,</a:t>
            </a:r>
            <a:r>
              <a:rPr sz="2300" spc="1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2F2F2F"/>
                </a:solidFill>
                <a:latin typeface="Arial MT"/>
                <a:cs typeface="Arial MT"/>
              </a:rPr>
              <a:t>eliminating </a:t>
            </a:r>
            <a:r>
              <a:rPr sz="2300" spc="70" dirty="0">
                <a:solidFill>
                  <a:srgbClr val="445B75"/>
                </a:solidFill>
                <a:latin typeface="Arial MT"/>
                <a:cs typeface="Arial MT"/>
              </a:rPr>
              <a:t>app</a:t>
            </a:r>
            <a:r>
              <a:rPr sz="2300" spc="-120" dirty="0">
                <a:solidFill>
                  <a:srgbClr val="445B75"/>
                </a:solidFill>
                <a:latin typeface="Arial MT"/>
                <a:cs typeface="Arial MT"/>
              </a:rPr>
              <a:t> </a:t>
            </a:r>
            <a:r>
              <a:rPr sz="2300" spc="55" dirty="0">
                <a:solidFill>
                  <a:srgbClr val="2D2D2D"/>
                </a:solidFill>
                <a:latin typeface="Arial MT"/>
                <a:cs typeface="Arial MT"/>
              </a:rPr>
              <a:t>store</a:t>
            </a:r>
            <a:r>
              <a:rPr sz="2300" spc="-130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2300" spc="55" dirty="0">
                <a:solidFill>
                  <a:srgbClr val="2D2D2D"/>
                </a:solidFill>
                <a:latin typeface="Arial MT"/>
                <a:cs typeface="Arial MT"/>
              </a:rPr>
              <a:t>dependencies</a:t>
            </a:r>
            <a:r>
              <a:rPr sz="2300" spc="35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3B3B3B"/>
                </a:solidFill>
                <a:latin typeface="Arial MT"/>
                <a:cs typeface="Arial MT"/>
              </a:rPr>
              <a:t>and</a:t>
            </a:r>
            <a:r>
              <a:rPr sz="2300" spc="-150" dirty="0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2D2D2D"/>
                </a:solidFill>
                <a:latin typeface="Arial MT"/>
                <a:cs typeface="Arial MT"/>
              </a:rPr>
              <a:t>ensuring</a:t>
            </a:r>
            <a:r>
              <a:rPr sz="2300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2300" spc="-90" dirty="0">
                <a:solidFill>
                  <a:srgbClr val="333333"/>
                </a:solidFill>
                <a:latin typeface="Arial MT"/>
                <a:cs typeface="Arial MT"/>
              </a:rPr>
              <a:t>cross—</a:t>
            </a:r>
            <a:r>
              <a:rPr sz="2300" spc="-10" dirty="0">
                <a:solidFill>
                  <a:srgbClr val="333333"/>
                </a:solidFill>
                <a:latin typeface="Arial MT"/>
                <a:cs typeface="Arial MT"/>
              </a:rPr>
              <a:t>device </a:t>
            </a:r>
            <a:r>
              <a:rPr sz="2300" spc="70" dirty="0">
                <a:solidFill>
                  <a:srgbClr val="262626"/>
                </a:solidFill>
                <a:latin typeface="Arial MT"/>
                <a:cs typeface="Arial MT"/>
              </a:rPr>
              <a:t>compatibility.</a:t>
            </a:r>
            <a:endParaRPr sz="2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01022" y="5151675"/>
            <a:ext cx="3542029" cy="71120"/>
            <a:chOff x="801022" y="5151675"/>
            <a:chExt cx="3542029" cy="71120"/>
          </a:xfrm>
        </p:grpSpPr>
        <p:sp>
          <p:nvSpPr>
            <p:cNvPr id="3" name="object 3"/>
            <p:cNvSpPr/>
            <p:nvPr/>
          </p:nvSpPr>
          <p:spPr>
            <a:xfrm>
              <a:off x="801022" y="5210574"/>
              <a:ext cx="3542029" cy="0"/>
            </a:xfrm>
            <a:custGeom>
              <a:avLst/>
              <a:gdLst/>
              <a:ahLst/>
              <a:cxnLst/>
              <a:rect l="l" t="t" r="r" b="b"/>
              <a:pathLst>
                <a:path w="3542029">
                  <a:moveTo>
                    <a:pt x="0" y="0"/>
                  </a:moveTo>
                  <a:lnTo>
                    <a:pt x="3541777" y="0"/>
                  </a:lnTo>
                </a:path>
              </a:pathLst>
            </a:custGeom>
            <a:ln w="23559">
              <a:solidFill>
                <a:srgbClr val="0880B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840288" y="5163455"/>
              <a:ext cx="3455670" cy="0"/>
            </a:xfrm>
            <a:custGeom>
              <a:avLst/>
              <a:gdLst/>
              <a:ahLst/>
              <a:cxnLst/>
              <a:rect l="l" t="t" r="r" b="b"/>
              <a:pathLst>
                <a:path w="3455670">
                  <a:moveTo>
                    <a:pt x="0" y="0"/>
                  </a:moveTo>
                  <a:lnTo>
                    <a:pt x="3455392" y="0"/>
                  </a:lnTo>
                </a:path>
              </a:pathLst>
            </a:custGeom>
            <a:ln w="23559">
              <a:solidFill>
                <a:srgbClr val="0880B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/>
          <p:cNvGrpSpPr/>
          <p:nvPr/>
        </p:nvGrpSpPr>
        <p:grpSpPr>
          <a:xfrm>
            <a:off x="4554835" y="5151675"/>
            <a:ext cx="3542029" cy="71120"/>
            <a:chOff x="4554835" y="5151675"/>
            <a:chExt cx="3542029" cy="71120"/>
          </a:xfrm>
        </p:grpSpPr>
        <p:sp>
          <p:nvSpPr>
            <p:cNvPr id="6" name="object 6"/>
            <p:cNvSpPr/>
            <p:nvPr/>
          </p:nvSpPr>
          <p:spPr>
            <a:xfrm>
              <a:off x="4554835" y="5210574"/>
              <a:ext cx="3542029" cy="0"/>
            </a:xfrm>
            <a:custGeom>
              <a:avLst/>
              <a:gdLst/>
              <a:ahLst/>
              <a:cxnLst/>
              <a:rect l="l" t="t" r="r" b="b"/>
              <a:pathLst>
                <a:path w="3542029">
                  <a:moveTo>
                    <a:pt x="0" y="0"/>
                  </a:moveTo>
                  <a:lnTo>
                    <a:pt x="3541777" y="0"/>
                  </a:lnTo>
                </a:path>
              </a:pathLst>
            </a:custGeom>
            <a:ln w="23559">
              <a:solidFill>
                <a:srgbClr val="0C80B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594100" y="5163455"/>
              <a:ext cx="3455670" cy="0"/>
            </a:xfrm>
            <a:custGeom>
              <a:avLst/>
              <a:gdLst/>
              <a:ahLst/>
              <a:cxnLst/>
              <a:rect l="l" t="t" r="r" b="b"/>
              <a:pathLst>
                <a:path w="3455670">
                  <a:moveTo>
                    <a:pt x="0" y="0"/>
                  </a:moveTo>
                  <a:lnTo>
                    <a:pt x="3455392" y="0"/>
                  </a:lnTo>
                </a:path>
              </a:pathLst>
            </a:custGeom>
            <a:ln w="23559">
              <a:solidFill>
                <a:srgbClr val="0C80B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8308647" y="5151675"/>
            <a:ext cx="3557904" cy="71120"/>
            <a:chOff x="8308647" y="5151675"/>
            <a:chExt cx="3557904" cy="71120"/>
          </a:xfrm>
        </p:grpSpPr>
        <p:sp>
          <p:nvSpPr>
            <p:cNvPr id="9" name="object 9"/>
            <p:cNvSpPr/>
            <p:nvPr/>
          </p:nvSpPr>
          <p:spPr>
            <a:xfrm>
              <a:off x="8308647" y="5210574"/>
              <a:ext cx="3557904" cy="0"/>
            </a:xfrm>
            <a:custGeom>
              <a:avLst/>
              <a:gdLst/>
              <a:ahLst/>
              <a:cxnLst/>
              <a:rect l="l" t="t" r="r" b="b"/>
              <a:pathLst>
                <a:path w="3557904">
                  <a:moveTo>
                    <a:pt x="0" y="0"/>
                  </a:moveTo>
                  <a:lnTo>
                    <a:pt x="3557483" y="0"/>
                  </a:lnTo>
                </a:path>
              </a:pathLst>
            </a:custGeom>
            <a:ln w="23559">
              <a:solidFill>
                <a:srgbClr val="0880B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8347913" y="5163455"/>
              <a:ext cx="3471545" cy="0"/>
            </a:xfrm>
            <a:custGeom>
              <a:avLst/>
              <a:gdLst/>
              <a:ahLst/>
              <a:cxnLst/>
              <a:rect l="l" t="t" r="r" b="b"/>
              <a:pathLst>
                <a:path w="3471545">
                  <a:moveTo>
                    <a:pt x="0" y="0"/>
                  </a:moveTo>
                  <a:lnTo>
                    <a:pt x="3471098" y="0"/>
                  </a:lnTo>
                </a:path>
              </a:pathLst>
            </a:custGeom>
            <a:ln w="23559">
              <a:solidFill>
                <a:srgbClr val="0880B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/>
          <p:cNvGrpSpPr/>
          <p:nvPr/>
        </p:nvGrpSpPr>
        <p:grpSpPr>
          <a:xfrm>
            <a:off x="12078166" y="5151675"/>
            <a:ext cx="3542029" cy="71120"/>
            <a:chOff x="12078166" y="5151675"/>
            <a:chExt cx="3542029" cy="71120"/>
          </a:xfrm>
        </p:grpSpPr>
        <p:sp>
          <p:nvSpPr>
            <p:cNvPr id="12" name="object 12"/>
            <p:cNvSpPr/>
            <p:nvPr/>
          </p:nvSpPr>
          <p:spPr>
            <a:xfrm>
              <a:off x="12078166" y="5210574"/>
              <a:ext cx="3542029" cy="0"/>
            </a:xfrm>
            <a:custGeom>
              <a:avLst/>
              <a:gdLst/>
              <a:ahLst/>
              <a:cxnLst/>
              <a:rect l="l" t="t" r="r" b="b"/>
              <a:pathLst>
                <a:path w="3542030">
                  <a:moveTo>
                    <a:pt x="0" y="0"/>
                  </a:moveTo>
                  <a:lnTo>
                    <a:pt x="3541777" y="0"/>
                  </a:lnTo>
                </a:path>
              </a:pathLst>
            </a:custGeom>
            <a:ln w="23559">
              <a:solidFill>
                <a:srgbClr val="0C80B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2117432" y="5163455"/>
              <a:ext cx="3455670" cy="0"/>
            </a:xfrm>
            <a:custGeom>
              <a:avLst/>
              <a:gdLst/>
              <a:ahLst/>
              <a:cxnLst/>
              <a:rect l="l" t="t" r="r" b="b"/>
              <a:pathLst>
                <a:path w="3455669">
                  <a:moveTo>
                    <a:pt x="0" y="0"/>
                  </a:moveTo>
                  <a:lnTo>
                    <a:pt x="3455392" y="0"/>
                  </a:lnTo>
                </a:path>
              </a:pathLst>
            </a:custGeom>
            <a:ln w="23559">
              <a:solidFill>
                <a:srgbClr val="0C80B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/>
          <p:cNvGrpSpPr/>
          <p:nvPr/>
        </p:nvGrpSpPr>
        <p:grpSpPr>
          <a:xfrm>
            <a:off x="15831979" y="5151675"/>
            <a:ext cx="3542029" cy="71120"/>
            <a:chOff x="15831979" y="5151675"/>
            <a:chExt cx="3542029" cy="71120"/>
          </a:xfrm>
        </p:grpSpPr>
        <p:sp>
          <p:nvSpPr>
            <p:cNvPr id="15" name="object 15"/>
            <p:cNvSpPr/>
            <p:nvPr/>
          </p:nvSpPr>
          <p:spPr>
            <a:xfrm>
              <a:off x="15831979" y="5210574"/>
              <a:ext cx="3542029" cy="0"/>
            </a:xfrm>
            <a:custGeom>
              <a:avLst/>
              <a:gdLst/>
              <a:ahLst/>
              <a:cxnLst/>
              <a:rect l="l" t="t" r="r" b="b"/>
              <a:pathLst>
                <a:path w="3542030">
                  <a:moveTo>
                    <a:pt x="0" y="0"/>
                  </a:moveTo>
                  <a:lnTo>
                    <a:pt x="3541777" y="0"/>
                  </a:lnTo>
                </a:path>
              </a:pathLst>
            </a:custGeom>
            <a:ln w="23559">
              <a:solidFill>
                <a:srgbClr val="0C80B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5863392" y="5163455"/>
              <a:ext cx="3463290" cy="0"/>
            </a:xfrm>
            <a:custGeom>
              <a:avLst/>
              <a:gdLst/>
              <a:ahLst/>
              <a:cxnLst/>
              <a:rect l="l" t="t" r="r" b="b"/>
              <a:pathLst>
                <a:path w="3463290">
                  <a:moveTo>
                    <a:pt x="0" y="0"/>
                  </a:moveTo>
                  <a:lnTo>
                    <a:pt x="3463245" y="0"/>
                  </a:lnTo>
                </a:path>
              </a:pathLst>
            </a:custGeom>
            <a:ln w="23559">
              <a:solidFill>
                <a:srgbClr val="0C80B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" name="object 17"/>
          <p:cNvGrpSpPr/>
          <p:nvPr/>
        </p:nvGrpSpPr>
        <p:grpSpPr>
          <a:xfrm>
            <a:off x="801022" y="3298328"/>
            <a:ext cx="3542029" cy="71120"/>
            <a:chOff x="801022" y="3298328"/>
            <a:chExt cx="3542029" cy="71120"/>
          </a:xfrm>
        </p:grpSpPr>
        <p:sp>
          <p:nvSpPr>
            <p:cNvPr id="18" name="object 18"/>
            <p:cNvSpPr/>
            <p:nvPr/>
          </p:nvSpPr>
          <p:spPr>
            <a:xfrm>
              <a:off x="801022" y="3357227"/>
              <a:ext cx="3542029" cy="0"/>
            </a:xfrm>
            <a:custGeom>
              <a:avLst/>
              <a:gdLst/>
              <a:ahLst/>
              <a:cxnLst/>
              <a:rect l="l" t="t" r="r" b="b"/>
              <a:pathLst>
                <a:path w="3542029">
                  <a:moveTo>
                    <a:pt x="0" y="0"/>
                  </a:moveTo>
                  <a:lnTo>
                    <a:pt x="3541777" y="0"/>
                  </a:lnTo>
                </a:path>
              </a:pathLst>
            </a:custGeom>
            <a:ln w="23559">
              <a:solidFill>
                <a:srgbClr val="D41F4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832435" y="3310108"/>
              <a:ext cx="3463290" cy="0"/>
            </a:xfrm>
            <a:custGeom>
              <a:avLst/>
              <a:gdLst/>
              <a:ahLst/>
              <a:cxnLst/>
              <a:rect l="l" t="t" r="r" b="b"/>
              <a:pathLst>
                <a:path w="3463290">
                  <a:moveTo>
                    <a:pt x="0" y="0"/>
                  </a:moveTo>
                  <a:lnTo>
                    <a:pt x="3463245" y="0"/>
                  </a:lnTo>
                </a:path>
              </a:pathLst>
            </a:custGeom>
            <a:ln w="23559">
              <a:solidFill>
                <a:srgbClr val="D41F4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/>
          <p:cNvGrpSpPr/>
          <p:nvPr/>
        </p:nvGrpSpPr>
        <p:grpSpPr>
          <a:xfrm>
            <a:off x="4554835" y="3290475"/>
            <a:ext cx="3534410" cy="62865"/>
            <a:chOff x="4554835" y="3290475"/>
            <a:chExt cx="3534410" cy="62865"/>
          </a:xfrm>
        </p:grpSpPr>
        <p:sp>
          <p:nvSpPr>
            <p:cNvPr id="21" name="object 21"/>
            <p:cNvSpPr/>
            <p:nvPr/>
          </p:nvSpPr>
          <p:spPr>
            <a:xfrm>
              <a:off x="4554835" y="3341521"/>
              <a:ext cx="3534410" cy="0"/>
            </a:xfrm>
            <a:custGeom>
              <a:avLst/>
              <a:gdLst/>
              <a:ahLst/>
              <a:cxnLst/>
              <a:rect l="l" t="t" r="r" b="b"/>
              <a:pathLst>
                <a:path w="3534409">
                  <a:moveTo>
                    <a:pt x="0" y="0"/>
                  </a:moveTo>
                  <a:lnTo>
                    <a:pt x="3533924" y="0"/>
                  </a:lnTo>
                </a:path>
              </a:pathLst>
            </a:custGeom>
            <a:ln w="23559">
              <a:solidFill>
                <a:srgbClr val="D41F4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617660" y="3302255"/>
              <a:ext cx="3408679" cy="0"/>
            </a:xfrm>
            <a:custGeom>
              <a:avLst/>
              <a:gdLst/>
              <a:ahLst/>
              <a:cxnLst/>
              <a:rect l="l" t="t" r="r" b="b"/>
              <a:pathLst>
                <a:path w="3408679">
                  <a:moveTo>
                    <a:pt x="0" y="0"/>
                  </a:moveTo>
                  <a:lnTo>
                    <a:pt x="3408273" y="0"/>
                  </a:lnTo>
                </a:path>
              </a:pathLst>
            </a:custGeom>
            <a:ln w="23559">
              <a:solidFill>
                <a:srgbClr val="D41F4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" name="object 23"/>
          <p:cNvGrpSpPr/>
          <p:nvPr/>
        </p:nvGrpSpPr>
        <p:grpSpPr>
          <a:xfrm>
            <a:off x="8308647" y="3298328"/>
            <a:ext cx="3549650" cy="62865"/>
            <a:chOff x="8308647" y="3298328"/>
            <a:chExt cx="3549650" cy="62865"/>
          </a:xfrm>
        </p:grpSpPr>
        <p:sp>
          <p:nvSpPr>
            <p:cNvPr id="24" name="object 24"/>
            <p:cNvSpPr/>
            <p:nvPr/>
          </p:nvSpPr>
          <p:spPr>
            <a:xfrm>
              <a:off x="8308647" y="3349374"/>
              <a:ext cx="3549650" cy="0"/>
            </a:xfrm>
            <a:custGeom>
              <a:avLst/>
              <a:gdLst/>
              <a:ahLst/>
              <a:cxnLst/>
              <a:rect l="l" t="t" r="r" b="b"/>
              <a:pathLst>
                <a:path w="3549650">
                  <a:moveTo>
                    <a:pt x="0" y="0"/>
                  </a:moveTo>
                  <a:lnTo>
                    <a:pt x="3549630" y="0"/>
                  </a:lnTo>
                </a:path>
              </a:pathLst>
            </a:custGeom>
            <a:ln w="23559">
              <a:solidFill>
                <a:srgbClr val="D41F4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8355766" y="3310108"/>
              <a:ext cx="3455670" cy="0"/>
            </a:xfrm>
            <a:custGeom>
              <a:avLst/>
              <a:gdLst/>
              <a:ahLst/>
              <a:cxnLst/>
              <a:rect l="l" t="t" r="r" b="b"/>
              <a:pathLst>
                <a:path w="3455670">
                  <a:moveTo>
                    <a:pt x="0" y="0"/>
                  </a:moveTo>
                  <a:lnTo>
                    <a:pt x="3455392" y="0"/>
                  </a:lnTo>
                </a:path>
              </a:pathLst>
            </a:custGeom>
            <a:ln w="23559">
              <a:solidFill>
                <a:srgbClr val="D41F4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6" name="object 26"/>
          <p:cNvGrpSpPr/>
          <p:nvPr/>
        </p:nvGrpSpPr>
        <p:grpSpPr>
          <a:xfrm>
            <a:off x="12078166" y="3298328"/>
            <a:ext cx="3542029" cy="71120"/>
            <a:chOff x="12078166" y="3298328"/>
            <a:chExt cx="3542029" cy="71120"/>
          </a:xfrm>
        </p:grpSpPr>
        <p:sp>
          <p:nvSpPr>
            <p:cNvPr id="27" name="object 27"/>
            <p:cNvSpPr/>
            <p:nvPr/>
          </p:nvSpPr>
          <p:spPr>
            <a:xfrm>
              <a:off x="12078166" y="3357227"/>
              <a:ext cx="3542029" cy="0"/>
            </a:xfrm>
            <a:custGeom>
              <a:avLst/>
              <a:gdLst/>
              <a:ahLst/>
              <a:cxnLst/>
              <a:rect l="l" t="t" r="r" b="b"/>
              <a:pathLst>
                <a:path w="3542030">
                  <a:moveTo>
                    <a:pt x="0" y="0"/>
                  </a:moveTo>
                  <a:lnTo>
                    <a:pt x="3541777" y="0"/>
                  </a:lnTo>
                </a:path>
              </a:pathLst>
            </a:custGeom>
            <a:ln w="23559">
              <a:solidFill>
                <a:srgbClr val="D41F4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2117432" y="3310108"/>
              <a:ext cx="3455670" cy="0"/>
            </a:xfrm>
            <a:custGeom>
              <a:avLst/>
              <a:gdLst/>
              <a:ahLst/>
              <a:cxnLst/>
              <a:rect l="l" t="t" r="r" b="b"/>
              <a:pathLst>
                <a:path w="3455669">
                  <a:moveTo>
                    <a:pt x="0" y="0"/>
                  </a:moveTo>
                  <a:lnTo>
                    <a:pt x="3455392" y="0"/>
                  </a:lnTo>
                </a:path>
              </a:pathLst>
            </a:custGeom>
            <a:ln w="23559">
              <a:solidFill>
                <a:srgbClr val="D41F4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9" name="object 29"/>
          <p:cNvGrpSpPr/>
          <p:nvPr/>
        </p:nvGrpSpPr>
        <p:grpSpPr>
          <a:xfrm>
            <a:off x="15831979" y="3298328"/>
            <a:ext cx="3542029" cy="71120"/>
            <a:chOff x="15831979" y="3298328"/>
            <a:chExt cx="3542029" cy="71120"/>
          </a:xfrm>
        </p:grpSpPr>
        <p:sp>
          <p:nvSpPr>
            <p:cNvPr id="30" name="object 30"/>
            <p:cNvSpPr/>
            <p:nvPr/>
          </p:nvSpPr>
          <p:spPr>
            <a:xfrm>
              <a:off x="15831979" y="3357227"/>
              <a:ext cx="3542029" cy="0"/>
            </a:xfrm>
            <a:custGeom>
              <a:avLst/>
              <a:gdLst/>
              <a:ahLst/>
              <a:cxnLst/>
              <a:rect l="l" t="t" r="r" b="b"/>
              <a:pathLst>
                <a:path w="3542030">
                  <a:moveTo>
                    <a:pt x="0" y="0"/>
                  </a:moveTo>
                  <a:lnTo>
                    <a:pt x="3541777" y="0"/>
                  </a:lnTo>
                </a:path>
              </a:pathLst>
            </a:custGeom>
            <a:ln w="23559">
              <a:solidFill>
                <a:srgbClr val="D41F4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15863392" y="3310108"/>
              <a:ext cx="3471545" cy="0"/>
            </a:xfrm>
            <a:custGeom>
              <a:avLst/>
              <a:gdLst/>
              <a:ahLst/>
              <a:cxnLst/>
              <a:rect l="l" t="t" r="r" b="b"/>
              <a:pathLst>
                <a:path w="3471544">
                  <a:moveTo>
                    <a:pt x="0" y="0"/>
                  </a:moveTo>
                  <a:lnTo>
                    <a:pt x="3471098" y="0"/>
                  </a:lnTo>
                </a:path>
              </a:pathLst>
            </a:custGeom>
            <a:ln w="23559">
              <a:solidFill>
                <a:srgbClr val="D41F4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/>
          <p:nvPr/>
        </p:nvSpPr>
        <p:spPr>
          <a:xfrm>
            <a:off x="738197" y="6926490"/>
            <a:ext cx="18682970" cy="2034539"/>
          </a:xfrm>
          <a:custGeom>
            <a:avLst/>
            <a:gdLst/>
            <a:ahLst/>
            <a:cxnLst/>
            <a:rect l="l" t="t" r="r" b="b"/>
            <a:pathLst>
              <a:path w="18682970" h="2034540">
                <a:moveTo>
                  <a:pt x="18682678" y="2033969"/>
                </a:moveTo>
                <a:lnTo>
                  <a:pt x="0" y="2033969"/>
                </a:lnTo>
                <a:lnTo>
                  <a:pt x="0" y="0"/>
                </a:lnTo>
                <a:lnTo>
                  <a:pt x="18682678" y="0"/>
                </a:lnTo>
                <a:lnTo>
                  <a:pt x="18682678" y="203396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1127298" y="7792036"/>
            <a:ext cx="13652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solidFill>
                  <a:srgbClr val="FFFFFF"/>
                </a:solidFill>
                <a:latin typeface="Arial MT"/>
                <a:cs typeface="Arial MT"/>
              </a:rPr>
              <a:t>CORE</a:t>
            </a:r>
            <a:r>
              <a:rPr sz="18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FLOW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46620" y="10405277"/>
            <a:ext cx="447929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5"/>
              </a:lnSpc>
            </a:pPr>
            <a:r>
              <a:rPr sz="1800" dirty="0">
                <a:solidFill>
                  <a:srgbClr val="666666"/>
                </a:solidFill>
                <a:latin typeface="Arial MT"/>
                <a:cs typeface="Arial MT"/>
              </a:rPr>
              <a:t>Safe</a:t>
            </a:r>
            <a:r>
              <a:rPr sz="1800" spc="-26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676767"/>
                </a:solidFill>
                <a:latin typeface="Arial MT"/>
                <a:cs typeface="Arial MT"/>
              </a:rPr>
              <a:t>Her:</a:t>
            </a:r>
            <a:r>
              <a:rPr sz="1800" spc="-50" dirty="0">
                <a:solidFill>
                  <a:srgbClr val="676767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696969"/>
                </a:solidFill>
                <a:latin typeface="Arial MT"/>
                <a:cs typeface="Arial MT"/>
              </a:rPr>
              <a:t>Al-</a:t>
            </a:r>
            <a:r>
              <a:rPr sz="1800" spc="-260" dirty="0">
                <a:solidFill>
                  <a:srgbClr val="696969"/>
                </a:solidFill>
                <a:latin typeface="Arial MT"/>
                <a:cs typeface="Arial MT"/>
              </a:rPr>
              <a:t> </a:t>
            </a:r>
            <a:r>
              <a:rPr sz="1800" spc="-35" dirty="0">
                <a:solidFill>
                  <a:srgbClr val="707070"/>
                </a:solidFill>
                <a:latin typeface="Arial MT"/>
                <a:cs typeface="Arial MT"/>
              </a:rPr>
              <a:t>Driven</a:t>
            </a:r>
            <a:r>
              <a:rPr sz="1800" spc="-65" dirty="0">
                <a:solidFill>
                  <a:srgbClr val="70707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6B6B6B"/>
                </a:solidFill>
                <a:latin typeface="Arial MT"/>
                <a:cs typeface="Arial MT"/>
              </a:rPr>
              <a:t>Women</a:t>
            </a:r>
            <a:r>
              <a:rPr sz="1800" spc="-35" dirty="0">
                <a:solidFill>
                  <a:srgbClr val="6B6B6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696969"/>
                </a:solidFill>
                <a:latin typeface="Arial MT"/>
                <a:cs typeface="Arial MT"/>
              </a:rPr>
              <a:t>Safety</a:t>
            </a:r>
            <a:r>
              <a:rPr sz="1800" spc="70" dirty="0">
                <a:solidFill>
                  <a:srgbClr val="696969"/>
                </a:solidFill>
                <a:latin typeface="Arial MT"/>
                <a:cs typeface="Arial MT"/>
              </a:rPr>
              <a:t> </a:t>
            </a:r>
            <a:r>
              <a:rPr sz="1800" spc="-35" dirty="0">
                <a:solidFill>
                  <a:srgbClr val="6B6B6B"/>
                </a:solidFill>
                <a:latin typeface="Arial MT"/>
                <a:cs typeface="Arial MT"/>
              </a:rPr>
              <a:t>Platf</a:t>
            </a:r>
            <a:r>
              <a:rPr sz="1800" spc="-55" dirty="0">
                <a:solidFill>
                  <a:srgbClr val="6B6B6B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707070"/>
                </a:solidFill>
                <a:latin typeface="Arial MT"/>
                <a:cs typeface="Arial MT"/>
              </a:rPr>
              <a:t>orm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3" name="object 5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945"/>
              </a:lnSpc>
            </a:pPr>
            <a:r>
              <a:rPr dirty="0">
                <a:solidFill>
                  <a:srgbClr val="646464"/>
                </a:solidFill>
              </a:rPr>
              <a:t>Slide</a:t>
            </a:r>
            <a:r>
              <a:rPr spc="245" dirty="0">
                <a:solidFill>
                  <a:srgbClr val="646464"/>
                </a:solidFill>
              </a:rPr>
              <a:t> </a:t>
            </a:r>
            <a:fld id="{81D60167-4931-47E6-BA6A-407CBD079E47}" type="slidenum">
              <a:rPr spc="-50" dirty="0">
                <a:solidFill>
                  <a:srgbClr val="777777"/>
                </a:solidFill>
              </a:rPr>
            </a:fld>
            <a:endParaRPr spc="-50" dirty="0">
              <a:solidFill>
                <a:srgbClr val="777777"/>
              </a:solidFill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030444" y="7914414"/>
            <a:ext cx="1929130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450" spc="-120" dirty="0">
                <a:solidFill>
                  <a:srgbClr val="FFFFFF"/>
                </a:solidFill>
                <a:latin typeface="Arial MT"/>
                <a:cs typeface="Arial MT"/>
              </a:rPr>
              <a:t>User</a:t>
            </a:r>
            <a:r>
              <a:rPr sz="2450" spc="-1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FFFFFF"/>
                </a:solidFill>
                <a:latin typeface="Arial MT"/>
                <a:cs typeface="Arial MT"/>
              </a:rPr>
              <a:t>Interface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472749" y="7725938"/>
            <a:ext cx="1791335" cy="76009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295910" marR="5080" indent="-296545">
              <a:lnSpc>
                <a:spcPts val="2840"/>
              </a:lnSpc>
              <a:spcBef>
                <a:spcPts val="275"/>
              </a:spcBef>
            </a:pPr>
            <a:r>
              <a:rPr sz="2450" spc="-75" dirty="0">
                <a:solidFill>
                  <a:srgbClr val="FFFFFF"/>
                </a:solidFill>
                <a:latin typeface="Arial MT"/>
                <a:cs typeface="Arial MT"/>
              </a:rPr>
              <a:t>SafeHer</a:t>
            </a:r>
            <a:r>
              <a:rPr sz="245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55" dirty="0">
                <a:solidFill>
                  <a:srgbClr val="FFFFFF"/>
                </a:solidFill>
                <a:latin typeface="Arial MT"/>
                <a:cs typeface="Arial MT"/>
              </a:rPr>
              <a:t>Web </a:t>
            </a:r>
            <a:r>
              <a:rPr sz="2450" spc="-10" dirty="0">
                <a:solidFill>
                  <a:srgbClr val="FFFFFF"/>
                </a:solidFill>
                <a:latin typeface="Arial MT"/>
                <a:cs typeface="Arial MT"/>
              </a:rPr>
              <a:t>Platform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784736" y="7914414"/>
            <a:ext cx="1875789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450" spc="-459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AI</a:t>
            </a:r>
            <a:r>
              <a:rPr sz="2450" spc="-315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2450" spc="-275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+</a:t>
            </a:r>
            <a:r>
              <a:rPr sz="2450" spc="-395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2450" spc="-380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Telemetry</a:t>
            </a:r>
            <a:endParaRPr sz="245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3263114" y="7914414"/>
            <a:ext cx="1672589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450" spc="-145" dirty="0">
                <a:solidFill>
                  <a:srgbClr val="FFFFFF"/>
                </a:solidFill>
                <a:latin typeface="Arial MT"/>
                <a:cs typeface="Arial MT"/>
              </a:rPr>
              <a:t>Risk</a:t>
            </a:r>
            <a:r>
              <a:rPr sz="2450" spc="-1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100" dirty="0">
                <a:solidFill>
                  <a:srgbClr val="FFFFFF"/>
                </a:solidFill>
                <a:latin typeface="Arial MT"/>
                <a:cs typeface="Arial MT"/>
              </a:rPr>
              <a:t>Analysis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6663385" y="7725938"/>
            <a:ext cx="1584960" cy="767715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5730" marR="5080" indent="-126365">
              <a:lnSpc>
                <a:spcPts val="2910"/>
              </a:lnSpc>
              <a:spcBef>
                <a:spcPts val="220"/>
              </a:spcBef>
            </a:pPr>
            <a:r>
              <a:rPr sz="2450" spc="-10" dirty="0">
                <a:solidFill>
                  <a:srgbClr val="FFFFFF"/>
                </a:solidFill>
                <a:latin typeface="Arial MT"/>
                <a:cs typeface="Arial MT"/>
              </a:rPr>
              <a:t>Emergency Response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39502" y="614898"/>
            <a:ext cx="2733675" cy="2806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50" spc="50" dirty="0">
                <a:solidFill>
                  <a:srgbClr val="DD2F54"/>
                </a:solidFill>
                <a:latin typeface="Arial MT"/>
                <a:cs typeface="Arial MT"/>
              </a:rPr>
              <a:t>SYST</a:t>
            </a:r>
            <a:r>
              <a:rPr sz="1650" spc="-175" dirty="0">
                <a:solidFill>
                  <a:srgbClr val="DD2F54"/>
                </a:solidFill>
                <a:latin typeface="Arial MT"/>
                <a:cs typeface="Arial MT"/>
              </a:rPr>
              <a:t> </a:t>
            </a:r>
            <a:r>
              <a:rPr sz="1650" spc="114" dirty="0">
                <a:solidFill>
                  <a:srgbClr val="ED1148"/>
                </a:solidFill>
                <a:latin typeface="Arial MT"/>
                <a:cs typeface="Arial MT"/>
              </a:rPr>
              <a:t>E</a:t>
            </a:r>
            <a:r>
              <a:rPr sz="1650" spc="114" dirty="0">
                <a:solidFill>
                  <a:srgbClr val="EB214D"/>
                </a:solidFill>
                <a:latin typeface="Arial MT"/>
                <a:cs typeface="Arial MT"/>
              </a:rPr>
              <a:t>M</a:t>
            </a:r>
            <a:r>
              <a:rPr sz="1650" spc="220" dirty="0">
                <a:solidFill>
                  <a:srgbClr val="EB214D"/>
                </a:solidFill>
                <a:latin typeface="Arial MT"/>
                <a:cs typeface="Arial MT"/>
              </a:rPr>
              <a:t> </a:t>
            </a:r>
            <a:r>
              <a:rPr sz="1650" spc="140" dirty="0">
                <a:solidFill>
                  <a:srgbClr val="D8164D"/>
                </a:solidFill>
                <a:latin typeface="Arial MT"/>
                <a:cs typeface="Arial MT"/>
              </a:rPr>
              <a:t>CAPAB</a:t>
            </a:r>
            <a:r>
              <a:rPr sz="1650" spc="-265" dirty="0">
                <a:solidFill>
                  <a:srgbClr val="D8164D"/>
                </a:solidFill>
                <a:latin typeface="Arial MT"/>
                <a:cs typeface="Arial MT"/>
              </a:rPr>
              <a:t> </a:t>
            </a:r>
            <a:r>
              <a:rPr sz="1650" spc="204" dirty="0">
                <a:solidFill>
                  <a:srgbClr val="D62A59"/>
                </a:solidFill>
                <a:latin typeface="Arial MT"/>
                <a:cs typeface="Arial MT"/>
              </a:rPr>
              <a:t>I</a:t>
            </a:r>
            <a:r>
              <a:rPr sz="1650" spc="204" dirty="0">
                <a:solidFill>
                  <a:srgbClr val="E62156"/>
                </a:solidFill>
                <a:latin typeface="Arial MT"/>
                <a:cs typeface="Arial MT"/>
              </a:rPr>
              <a:t>LlTl</a:t>
            </a:r>
            <a:r>
              <a:rPr sz="1650" spc="-295" dirty="0">
                <a:solidFill>
                  <a:srgbClr val="E62156"/>
                </a:solidFill>
                <a:latin typeface="Arial MT"/>
                <a:cs typeface="Arial MT"/>
              </a:rPr>
              <a:t> </a:t>
            </a:r>
            <a:r>
              <a:rPr sz="1650" spc="-25" dirty="0">
                <a:solidFill>
                  <a:srgbClr val="EB1A44"/>
                </a:solidFill>
                <a:latin typeface="Arial MT"/>
                <a:cs typeface="Arial MT"/>
              </a:rPr>
              <a:t>ES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40" name="object 4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125"/>
              </a:spcBef>
            </a:pPr>
            <a:r>
              <a:rPr sz="3450" dirty="0">
                <a:solidFill>
                  <a:srgbClr val="151515"/>
                </a:solidFill>
              </a:rPr>
              <a:t>Proposed</a:t>
            </a:r>
            <a:r>
              <a:rPr sz="3450" spc="25" dirty="0">
                <a:solidFill>
                  <a:srgbClr val="151515"/>
                </a:solidFill>
              </a:rPr>
              <a:t> </a:t>
            </a:r>
            <a:r>
              <a:rPr sz="3450" spc="-40" dirty="0">
                <a:solidFill>
                  <a:srgbClr val="0F0F0F"/>
                </a:solidFill>
              </a:rPr>
              <a:t>System</a:t>
            </a:r>
            <a:r>
              <a:rPr sz="3450" spc="-160" dirty="0">
                <a:solidFill>
                  <a:srgbClr val="0F0F0F"/>
                </a:solidFill>
              </a:rPr>
              <a:t> </a:t>
            </a:r>
            <a:r>
              <a:rPr sz="3450" spc="110" dirty="0">
                <a:solidFill>
                  <a:srgbClr val="131313"/>
                </a:solidFill>
              </a:rPr>
              <a:t>&amp;Core</a:t>
            </a:r>
            <a:r>
              <a:rPr sz="3450" spc="-275" dirty="0">
                <a:solidFill>
                  <a:srgbClr val="131313"/>
                </a:solidFill>
              </a:rPr>
              <a:t> </a:t>
            </a:r>
            <a:r>
              <a:rPr sz="3450" spc="-10" dirty="0">
                <a:solidFill>
                  <a:srgbClr val="131313"/>
                </a:solidFill>
              </a:rPr>
              <a:t>Features</a:t>
            </a:r>
            <a:endParaRPr sz="3450"/>
          </a:p>
        </p:txBody>
      </p:sp>
      <p:sp>
        <p:nvSpPr>
          <p:cNvPr id="41" name="object 41"/>
          <p:cNvSpPr txBox="1"/>
          <p:nvPr/>
        </p:nvSpPr>
        <p:spPr>
          <a:xfrm>
            <a:off x="912591" y="3496354"/>
            <a:ext cx="3060700" cy="1030605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800" spc="-10" dirty="0">
                <a:solidFill>
                  <a:srgbClr val="0F0F0F"/>
                </a:solidFill>
                <a:latin typeface="Arial MT"/>
                <a:cs typeface="Arial MT"/>
              </a:rPr>
              <a:t>1.</a:t>
            </a:r>
            <a:r>
              <a:rPr sz="1800" spc="-6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800" spc="60" dirty="0">
                <a:solidFill>
                  <a:srgbClr val="0A0A0A"/>
                </a:solidFill>
                <a:latin typeface="Arial MT"/>
                <a:cs typeface="Arial MT"/>
              </a:rPr>
              <a:t>Journey</a:t>
            </a:r>
            <a:r>
              <a:rPr sz="1800" spc="10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1800" spc="110" dirty="0">
                <a:solidFill>
                  <a:srgbClr val="0F0F0F"/>
                </a:solidFill>
                <a:latin typeface="Arial MT"/>
                <a:cs typeface="Arial MT"/>
              </a:rPr>
              <a:t>Monitoring</a:t>
            </a:r>
            <a:endParaRPr sz="1800">
              <a:latin typeface="Arial MT"/>
              <a:cs typeface="Arial MT"/>
            </a:endParaRPr>
          </a:p>
          <a:p>
            <a:pPr marL="38100" marR="5080" indent="-3175">
              <a:lnSpc>
                <a:spcPct val="103000"/>
              </a:lnSpc>
              <a:spcBef>
                <a:spcPts val="620"/>
              </a:spcBef>
            </a:pPr>
            <a:r>
              <a:rPr sz="1800" spc="-145" dirty="0">
                <a:solidFill>
                  <a:srgbClr val="464646"/>
                </a:solidFill>
                <a:latin typeface="Arial MT"/>
                <a:cs typeface="Arial MT"/>
              </a:rPr>
              <a:t>Real—</a:t>
            </a:r>
            <a:r>
              <a:rPr sz="1800" spc="-85" dirty="0">
                <a:solidFill>
                  <a:srgbClr val="464646"/>
                </a:solidFill>
                <a:latin typeface="Arial MT"/>
                <a:cs typeface="Arial MT"/>
              </a:rPr>
              <a:t>time</a:t>
            </a:r>
            <a:r>
              <a:rPr sz="1800" spc="9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85" dirty="0">
                <a:solidFill>
                  <a:srgbClr val="4F4F4F"/>
                </a:solidFill>
                <a:latin typeface="Arial MT"/>
                <a:cs typeface="Arial MT"/>
              </a:rPr>
              <a:t>G</a:t>
            </a:r>
            <a:r>
              <a:rPr sz="1800" spc="-85" dirty="0">
                <a:solidFill>
                  <a:srgbClr val="484848"/>
                </a:solidFill>
                <a:latin typeface="Arial MT"/>
                <a:cs typeface="Arial MT"/>
              </a:rPr>
              <a:t>PS</a:t>
            </a:r>
            <a:r>
              <a:rPr sz="1800" spc="-80" dirty="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B4B4B"/>
                </a:solidFill>
                <a:latin typeface="Arial MT"/>
                <a:cs typeface="Arial MT"/>
              </a:rPr>
              <a:t>tracking</a:t>
            </a:r>
            <a:r>
              <a:rPr sz="1800" spc="-10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84848"/>
                </a:solidFill>
                <a:latin typeface="Arial MT"/>
                <a:cs typeface="Arial MT"/>
              </a:rPr>
              <a:t>along </a:t>
            </a:r>
            <a:r>
              <a:rPr sz="1800" spc="50" dirty="0">
                <a:solidFill>
                  <a:srgbClr val="424242"/>
                </a:solidFill>
                <a:latin typeface="Arial MT"/>
                <a:cs typeface="Arial MT"/>
              </a:rPr>
              <a:t>selected</a:t>
            </a:r>
            <a:r>
              <a:rPr sz="1800" spc="-155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travel</a:t>
            </a:r>
            <a:r>
              <a:rPr sz="1800" spc="-13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94949"/>
                </a:solidFill>
                <a:latin typeface="Arial MT"/>
                <a:cs typeface="Arial MT"/>
              </a:rPr>
              <a:t>routes.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684545" y="3496354"/>
            <a:ext cx="2738120" cy="1030605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800" dirty="0">
                <a:solidFill>
                  <a:srgbClr val="050505"/>
                </a:solidFill>
                <a:latin typeface="Arial MT"/>
                <a:cs typeface="Arial MT"/>
              </a:rPr>
              <a:t>2.</a:t>
            </a:r>
            <a:r>
              <a:rPr sz="1800" spc="150" dirty="0">
                <a:solidFill>
                  <a:srgbClr val="050505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C0C0C"/>
                </a:solidFill>
                <a:latin typeface="Arial MT"/>
                <a:cs typeface="Arial MT"/>
              </a:rPr>
              <a:t>Emergency</a:t>
            </a:r>
            <a:r>
              <a:rPr sz="1800" spc="345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0F0F"/>
                </a:solidFill>
                <a:latin typeface="Arial MT"/>
                <a:cs typeface="Arial MT"/>
              </a:rPr>
              <a:t>Check-</a:t>
            </a:r>
            <a:r>
              <a:rPr sz="1800" spc="-25" dirty="0">
                <a:solidFill>
                  <a:srgbClr val="0F0F0F"/>
                </a:solidFill>
                <a:latin typeface="Arial MT"/>
                <a:cs typeface="Arial MT"/>
              </a:rPr>
              <a:t>ins</a:t>
            </a:r>
            <a:endParaRPr sz="1800">
              <a:latin typeface="Arial MT"/>
              <a:cs typeface="Arial MT"/>
            </a:endParaRPr>
          </a:p>
          <a:p>
            <a:pPr marL="12700" marR="5080" indent="4445">
              <a:lnSpc>
                <a:spcPct val="103000"/>
              </a:lnSpc>
              <a:spcBef>
                <a:spcPts val="620"/>
              </a:spcBef>
            </a:pPr>
            <a:r>
              <a:rPr sz="1800" dirty="0">
                <a:solidFill>
                  <a:srgbClr val="414141"/>
                </a:solidFill>
                <a:latin typeface="Arial MT"/>
                <a:cs typeface="Arial MT"/>
              </a:rPr>
              <a:t>Periodic</a:t>
            </a:r>
            <a:r>
              <a:rPr sz="1800" spc="-40" dirty="0">
                <a:solidFill>
                  <a:srgbClr val="414141"/>
                </a:solidFill>
                <a:latin typeface="Arial MT"/>
                <a:cs typeface="Arial MT"/>
              </a:rPr>
              <a:t> </a:t>
            </a:r>
            <a:r>
              <a:rPr sz="1800" spc="65" dirty="0">
                <a:solidFill>
                  <a:srgbClr val="464646"/>
                </a:solidFill>
                <a:latin typeface="Arial MT"/>
                <a:cs typeface="Arial MT"/>
              </a:rPr>
              <a:t>prompts</a:t>
            </a:r>
            <a:r>
              <a:rPr sz="1800" spc="-114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14141"/>
                </a:solidFill>
                <a:latin typeface="Arial MT"/>
                <a:cs typeface="Arial MT"/>
              </a:rPr>
              <a:t>verifying </a:t>
            </a:r>
            <a:r>
              <a:rPr sz="1800" dirty="0">
                <a:solidFill>
                  <a:srgbClr val="444444"/>
                </a:solidFill>
                <a:latin typeface="Arial MT"/>
                <a:cs typeface="Arial MT"/>
              </a:rPr>
              <a:t>user</a:t>
            </a:r>
            <a:r>
              <a:rPr sz="1800" spc="3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B4B4B"/>
                </a:solidFill>
                <a:latin typeface="Arial MT"/>
                <a:cs typeface="Arial MT"/>
              </a:rPr>
              <a:t>safety</a:t>
            </a:r>
            <a:r>
              <a:rPr sz="1800" spc="100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44444"/>
                </a:solidFill>
                <a:latin typeface="Arial MT"/>
                <a:cs typeface="Arial MT"/>
              </a:rPr>
              <a:t>state.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928921" y="5349701"/>
            <a:ext cx="2743200" cy="1030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" marR="768985" indent="-6985">
              <a:lnSpc>
                <a:spcPct val="132000"/>
              </a:lnSpc>
              <a:spcBef>
                <a:spcPts val="100"/>
              </a:spcBef>
            </a:pPr>
            <a:r>
              <a:rPr sz="1800" dirty="0">
                <a:solidFill>
                  <a:srgbClr val="0E0E0E"/>
                </a:solidFill>
                <a:latin typeface="Arial MT"/>
                <a:cs typeface="Arial MT"/>
              </a:rPr>
              <a:t>6.</a:t>
            </a:r>
            <a:r>
              <a:rPr sz="1800" spc="60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800" spc="60" dirty="0">
                <a:solidFill>
                  <a:srgbClr val="161616"/>
                </a:solidFill>
                <a:latin typeface="Arial MT"/>
                <a:cs typeface="Arial MT"/>
              </a:rPr>
              <a:t>Hidden</a:t>
            </a:r>
            <a:r>
              <a:rPr sz="1800" spc="-3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0C0C0C"/>
                </a:solidFill>
                <a:latin typeface="Arial MT"/>
                <a:cs typeface="Arial MT"/>
              </a:rPr>
              <a:t>SOS </a:t>
            </a:r>
            <a:r>
              <a:rPr sz="1800" dirty="0">
                <a:solidFill>
                  <a:srgbClr val="444444"/>
                </a:solidFill>
                <a:latin typeface="Arial MT"/>
                <a:cs typeface="Arial MT"/>
              </a:rPr>
              <a:t>Discreet</a:t>
            </a:r>
            <a:r>
              <a:rPr sz="1800" spc="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800" spc="-170" dirty="0">
                <a:solidFill>
                  <a:srgbClr val="494949"/>
                </a:solidFill>
                <a:latin typeface="Arial MT"/>
                <a:cs typeface="Arial MT"/>
              </a:rPr>
              <a:t>non—</a:t>
            </a:r>
            <a:r>
              <a:rPr sz="1800" spc="-100" dirty="0">
                <a:solidFill>
                  <a:srgbClr val="494949"/>
                </a:solidFill>
                <a:latin typeface="Arial MT"/>
                <a:cs typeface="Arial MT"/>
              </a:rPr>
              <a:t>visual</a:t>
            </a:r>
            <a:endParaRPr sz="180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  <a:spcBef>
                <a:spcPts val="65"/>
              </a:spcBef>
            </a:pPr>
            <a:r>
              <a:rPr sz="1800" dirty="0">
                <a:solidFill>
                  <a:srgbClr val="414141"/>
                </a:solidFill>
                <a:latin typeface="Arial MT"/>
                <a:cs typeface="Arial MT"/>
              </a:rPr>
              <a:t>emergency</a:t>
            </a:r>
            <a:r>
              <a:rPr sz="1800" spc="420" dirty="0">
                <a:solidFill>
                  <a:srgbClr val="41414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24242"/>
                </a:solidFill>
                <a:latin typeface="Arial MT"/>
                <a:cs typeface="Arial MT"/>
              </a:rPr>
              <a:t>trigger</a:t>
            </a:r>
            <a:r>
              <a:rPr sz="1800" spc="250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64646"/>
                </a:solidFill>
                <a:latin typeface="Arial MT"/>
                <a:cs typeface="Arial MT"/>
              </a:rPr>
              <a:t>option.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443390" y="3496354"/>
            <a:ext cx="2829560" cy="1313815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800" dirty="0">
                <a:solidFill>
                  <a:srgbClr val="0F0F0F"/>
                </a:solidFill>
                <a:latin typeface="Arial MT"/>
                <a:cs typeface="Arial MT"/>
              </a:rPr>
              <a:t>3.</a:t>
            </a:r>
            <a:r>
              <a:rPr sz="1800" spc="-6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800" spc="95" dirty="0">
                <a:solidFill>
                  <a:srgbClr val="0F0F0F"/>
                </a:solidFill>
                <a:latin typeface="Arial MT"/>
                <a:cs typeface="Arial MT"/>
              </a:rPr>
              <a:t>Safe</a:t>
            </a:r>
            <a:r>
              <a:rPr sz="1800" spc="-8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A0A0A"/>
                </a:solidFill>
                <a:latin typeface="Arial MT"/>
                <a:cs typeface="Arial MT"/>
              </a:rPr>
              <a:t>Zones</a:t>
            </a:r>
            <a:endParaRPr sz="1800">
              <a:latin typeface="Arial MT"/>
              <a:cs typeface="Arial MT"/>
            </a:endParaRPr>
          </a:p>
          <a:p>
            <a:pPr marL="20955" marR="5080" indent="-3810">
              <a:lnSpc>
                <a:spcPct val="103000"/>
              </a:lnSpc>
              <a:spcBef>
                <a:spcPts val="620"/>
              </a:spcBef>
            </a:pPr>
            <a:r>
              <a:rPr sz="1800" spc="70" dirty="0">
                <a:solidFill>
                  <a:srgbClr val="464646"/>
                </a:solidFill>
                <a:latin typeface="Arial MT"/>
                <a:cs typeface="Arial MT"/>
              </a:rPr>
              <a:t>G</a:t>
            </a:r>
            <a:r>
              <a:rPr sz="1800" spc="70" dirty="0">
                <a:solidFill>
                  <a:srgbClr val="444444"/>
                </a:solidFill>
                <a:latin typeface="Arial MT"/>
                <a:cs typeface="Arial MT"/>
              </a:rPr>
              <a:t>e</a:t>
            </a:r>
            <a:r>
              <a:rPr sz="1800" spc="70" dirty="0">
                <a:solidFill>
                  <a:srgbClr val="424242"/>
                </a:solidFill>
                <a:latin typeface="Arial MT"/>
                <a:cs typeface="Arial MT"/>
              </a:rPr>
              <a:t>of</a:t>
            </a:r>
            <a:r>
              <a:rPr sz="1800" spc="-185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24242"/>
                </a:solidFill>
                <a:latin typeface="Arial MT"/>
                <a:cs typeface="Arial MT"/>
              </a:rPr>
              <a:t>ence</a:t>
            </a:r>
            <a:r>
              <a:rPr sz="1800" spc="-290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D526E"/>
                </a:solidFill>
                <a:latin typeface="Arial MT"/>
                <a:cs typeface="Arial MT"/>
              </a:rPr>
              <a:t>d</a:t>
            </a:r>
            <a:r>
              <a:rPr sz="1800" spc="-125" dirty="0">
                <a:solidFill>
                  <a:srgbClr val="3D526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44444"/>
                </a:solidFill>
                <a:latin typeface="Arial MT"/>
                <a:cs typeface="Arial MT"/>
              </a:rPr>
              <a:t>alerts</a:t>
            </a:r>
            <a:r>
              <a:rPr sz="1800" spc="-8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800" spc="35" dirty="0">
                <a:solidFill>
                  <a:srgbClr val="3F3F3F"/>
                </a:solidFill>
                <a:latin typeface="Arial MT"/>
                <a:cs typeface="Arial MT"/>
              </a:rPr>
              <a:t>for </a:t>
            </a:r>
            <a:r>
              <a:rPr sz="1800" spc="10" dirty="0">
                <a:solidFill>
                  <a:srgbClr val="444444"/>
                </a:solidFill>
                <a:latin typeface="Arial MT"/>
                <a:cs typeface="Arial MT"/>
              </a:rPr>
              <a:t>designated</a:t>
            </a:r>
            <a:r>
              <a:rPr sz="1800" spc="5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800" spc="10" dirty="0">
                <a:solidFill>
                  <a:srgbClr val="4F4F4F"/>
                </a:solidFill>
                <a:latin typeface="Arial MT"/>
                <a:cs typeface="Arial MT"/>
              </a:rPr>
              <a:t>high/low</a:t>
            </a:r>
            <a:r>
              <a:rPr sz="1800" spc="195" dirty="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44444"/>
                </a:solidFill>
                <a:latin typeface="Arial MT"/>
                <a:cs typeface="Arial MT"/>
              </a:rPr>
              <a:t>safety </a:t>
            </a:r>
            <a:r>
              <a:rPr sz="1800" spc="-10" dirty="0">
                <a:solidFill>
                  <a:srgbClr val="3F3F3F"/>
                </a:solidFill>
                <a:latin typeface="Arial MT"/>
                <a:cs typeface="Arial MT"/>
              </a:rPr>
              <a:t>corridors.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2200022" y="3496354"/>
            <a:ext cx="2862580" cy="1030605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780"/>
              </a:spcBef>
            </a:pPr>
            <a:r>
              <a:rPr sz="1800" spc="70" dirty="0">
                <a:solidFill>
                  <a:srgbClr val="0F0F0F"/>
                </a:solidFill>
                <a:latin typeface="Arial MT"/>
                <a:cs typeface="Arial MT"/>
              </a:rPr>
              <a:t>4.</a:t>
            </a:r>
            <a:r>
              <a:rPr sz="1800" spc="-9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800" spc="100" dirty="0">
                <a:solidFill>
                  <a:srgbClr val="0F0F0F"/>
                </a:solidFill>
                <a:latin typeface="Arial MT"/>
                <a:cs typeface="Arial MT"/>
              </a:rPr>
              <a:t>Digital</a:t>
            </a:r>
            <a:r>
              <a:rPr sz="1800" spc="-7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800" spc="100" dirty="0">
                <a:solidFill>
                  <a:srgbClr val="111111"/>
                </a:solidFill>
                <a:latin typeface="Arial MT"/>
                <a:cs typeface="Arial MT"/>
              </a:rPr>
              <a:t>Safety</a:t>
            </a:r>
            <a:r>
              <a:rPr sz="1800" spc="1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800" spc="50" dirty="0">
                <a:solidFill>
                  <a:srgbClr val="111111"/>
                </a:solidFill>
                <a:latin typeface="Arial MT"/>
                <a:cs typeface="Arial MT"/>
              </a:rPr>
              <a:t>Twin</a:t>
            </a:r>
            <a:endParaRPr sz="1800">
              <a:latin typeface="Arial MT"/>
              <a:cs typeface="Arial MT"/>
            </a:endParaRPr>
          </a:p>
          <a:p>
            <a:pPr marL="12700" marR="5080" indent="5715">
              <a:lnSpc>
                <a:spcPct val="103000"/>
              </a:lnSpc>
              <a:spcBef>
                <a:spcPts val="620"/>
              </a:spcBef>
            </a:pPr>
            <a:r>
              <a:rPr sz="1800" spc="-35" dirty="0">
                <a:solidFill>
                  <a:srgbClr val="4D4D4D"/>
                </a:solidFill>
                <a:latin typeface="Arial MT"/>
                <a:cs typeface="Arial MT"/>
              </a:rPr>
              <a:t>Virtual</a:t>
            </a:r>
            <a:r>
              <a:rPr sz="1800" spc="-50" dirty="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D4D4D"/>
                </a:solidFill>
                <a:latin typeface="Arial MT"/>
                <a:cs typeface="Arial MT"/>
              </a:rPr>
              <a:t>state</a:t>
            </a:r>
            <a:r>
              <a:rPr sz="1800" spc="-55" dirty="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sz="1800" spc="-30" dirty="0">
                <a:solidFill>
                  <a:srgbClr val="4B4B4B"/>
                </a:solidFill>
                <a:latin typeface="Arial MT"/>
                <a:cs typeface="Arial MT"/>
              </a:rPr>
              <a:t>avatar</a:t>
            </a:r>
            <a:r>
              <a:rPr sz="1800" spc="-20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64646"/>
                </a:solidFill>
                <a:latin typeface="Arial MT"/>
                <a:cs typeface="Arial MT"/>
              </a:rPr>
              <a:t>mirroring </a:t>
            </a:r>
            <a:r>
              <a:rPr sz="1800" spc="-20" dirty="0">
                <a:solidFill>
                  <a:srgbClr val="494949"/>
                </a:solidFill>
                <a:latin typeface="Arial MT"/>
                <a:cs typeface="Arial MT"/>
              </a:rPr>
              <a:t>user</a:t>
            </a:r>
            <a:r>
              <a:rPr sz="1800" spc="-105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525252"/>
                </a:solidFill>
                <a:latin typeface="Arial MT"/>
                <a:cs typeface="Arial MT"/>
              </a:rPr>
              <a:t>live</a:t>
            </a:r>
            <a:r>
              <a:rPr sz="1800" spc="-85" dirty="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64646"/>
                </a:solidFill>
                <a:latin typeface="Arial MT"/>
                <a:cs typeface="Arial MT"/>
              </a:rPr>
              <a:t>status.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7433943" y="1101140"/>
            <a:ext cx="169798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0" dirty="0">
                <a:solidFill>
                  <a:srgbClr val="4F4F4F"/>
                </a:solidFill>
                <a:latin typeface="Arial MT"/>
                <a:cs typeface="Arial MT"/>
              </a:rPr>
              <a:t>Functional</a:t>
            </a:r>
            <a:r>
              <a:rPr sz="1800" spc="-55" dirty="0">
                <a:solidFill>
                  <a:srgbClr val="4F4F4F"/>
                </a:solidFill>
                <a:latin typeface="Arial MT"/>
                <a:cs typeface="Arial MT"/>
              </a:rPr>
              <a:t> Scope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5958987" y="3496354"/>
            <a:ext cx="2616200" cy="1030605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800" dirty="0">
                <a:solidFill>
                  <a:srgbClr val="080808"/>
                </a:solidFill>
                <a:latin typeface="Arial MT"/>
                <a:cs typeface="Arial MT"/>
              </a:rPr>
              <a:t>5.</a:t>
            </a:r>
            <a:r>
              <a:rPr sz="1800" spc="75" dirty="0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61616"/>
                </a:solidFill>
                <a:latin typeface="Arial MT"/>
                <a:cs typeface="Arial MT"/>
              </a:rPr>
              <a:t>Emergency</a:t>
            </a:r>
            <a:r>
              <a:rPr sz="1800" spc="30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61616"/>
                </a:solidFill>
                <a:latin typeface="Arial MT"/>
                <a:cs typeface="Arial MT"/>
              </a:rPr>
              <a:t>Block</a:t>
            </a:r>
            <a:r>
              <a:rPr sz="1800" spc="14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800" spc="45" dirty="0">
                <a:solidFill>
                  <a:srgbClr val="151515"/>
                </a:solidFill>
                <a:latin typeface="Arial MT"/>
                <a:cs typeface="Arial MT"/>
              </a:rPr>
              <a:t>Box</a:t>
            </a:r>
            <a:endParaRPr sz="1800">
              <a:latin typeface="Arial MT"/>
              <a:cs typeface="Arial MT"/>
            </a:endParaRPr>
          </a:p>
          <a:p>
            <a:pPr marL="14605" marR="283845" indent="1270">
              <a:lnSpc>
                <a:spcPct val="103000"/>
              </a:lnSpc>
              <a:spcBef>
                <a:spcPts val="620"/>
              </a:spcBef>
            </a:pPr>
            <a:r>
              <a:rPr sz="1800" dirty="0">
                <a:solidFill>
                  <a:srgbClr val="505050"/>
                </a:solidFill>
                <a:latin typeface="Arial MT"/>
                <a:cs typeface="Arial MT"/>
              </a:rPr>
              <a:t>I</a:t>
            </a:r>
            <a:r>
              <a:rPr sz="1800" dirty="0">
                <a:solidFill>
                  <a:srgbClr val="414141"/>
                </a:solidFill>
                <a:latin typeface="Arial MT"/>
                <a:cs typeface="Arial MT"/>
              </a:rPr>
              <a:t>mmutable</a:t>
            </a:r>
            <a:r>
              <a:rPr sz="1800" spc="150" dirty="0">
                <a:solidFill>
                  <a:srgbClr val="41414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24242"/>
                </a:solidFill>
                <a:latin typeface="Arial MT"/>
                <a:cs typeface="Arial MT"/>
              </a:rPr>
              <a:t>event</a:t>
            </a:r>
            <a:r>
              <a:rPr sz="1800" spc="50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3F3F3F"/>
                </a:solidFill>
                <a:latin typeface="Arial MT"/>
                <a:cs typeface="Arial MT"/>
              </a:rPr>
              <a:t>logs </a:t>
            </a:r>
            <a:r>
              <a:rPr sz="1800" spc="75" dirty="0">
                <a:solidFill>
                  <a:srgbClr val="464646"/>
                </a:solidFill>
                <a:latin typeface="Arial MT"/>
                <a:cs typeface="Arial MT"/>
              </a:rPr>
              <a:t>recorded</a:t>
            </a:r>
            <a:r>
              <a:rPr sz="1800" spc="-20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84848"/>
                </a:solidFill>
                <a:latin typeface="Arial MT"/>
                <a:cs typeface="Arial MT"/>
              </a:rPr>
              <a:t>prior</a:t>
            </a:r>
            <a:r>
              <a:rPr sz="1800" spc="-35" dirty="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44444"/>
                </a:solidFill>
                <a:latin typeface="Arial MT"/>
                <a:cs typeface="Arial MT"/>
              </a:rPr>
              <a:t>to</a:t>
            </a:r>
            <a:r>
              <a:rPr sz="1800" spc="-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800" spc="-60" dirty="0">
                <a:solidFill>
                  <a:srgbClr val="494949"/>
                </a:solidFill>
                <a:latin typeface="Arial MT"/>
                <a:cs typeface="Arial MT"/>
              </a:rPr>
              <a:t>SOS.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680497" y="5349701"/>
            <a:ext cx="3095625" cy="1030605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800" spc="-30" dirty="0">
                <a:solidFill>
                  <a:srgbClr val="151515"/>
                </a:solidFill>
                <a:latin typeface="Arial MT"/>
                <a:cs typeface="Arial MT"/>
              </a:rPr>
              <a:t>7.</a:t>
            </a:r>
            <a:r>
              <a:rPr sz="1800" spc="-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Reverse </a:t>
            </a:r>
            <a:r>
              <a:rPr sz="1800" spc="60" dirty="0">
                <a:solidFill>
                  <a:srgbClr val="0E0E0E"/>
                </a:solidFill>
                <a:latin typeface="Arial MT"/>
                <a:cs typeface="Arial MT"/>
              </a:rPr>
              <a:t>Tracking</a:t>
            </a:r>
            <a:endParaRPr sz="1800">
              <a:latin typeface="Arial MT"/>
              <a:cs typeface="Arial MT"/>
            </a:endParaRPr>
          </a:p>
          <a:p>
            <a:pPr marL="19050" marR="5080" indent="3810">
              <a:lnSpc>
                <a:spcPct val="103000"/>
              </a:lnSpc>
              <a:spcBef>
                <a:spcPts val="620"/>
              </a:spcBef>
            </a:pPr>
            <a:r>
              <a:rPr sz="1800" spc="-35" dirty="0">
                <a:solidFill>
                  <a:srgbClr val="3F3F3F"/>
                </a:solidFill>
                <a:latin typeface="Arial MT"/>
                <a:cs typeface="Arial MT"/>
              </a:rPr>
              <a:t>Allows</a:t>
            </a:r>
            <a:r>
              <a:rPr sz="1800" spc="-9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44444"/>
                </a:solidFill>
                <a:latin typeface="Arial MT"/>
                <a:cs typeface="Arial MT"/>
              </a:rPr>
              <a:t>authorized</a:t>
            </a:r>
            <a:r>
              <a:rPr sz="1800" spc="-6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64646"/>
                </a:solidFill>
                <a:latin typeface="Arial MT"/>
                <a:cs typeface="Arial MT"/>
              </a:rPr>
              <a:t>guardians</a:t>
            </a:r>
            <a:r>
              <a:rPr sz="1800" spc="-6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4B4B4B"/>
                </a:solidFill>
                <a:latin typeface="Arial MT"/>
                <a:cs typeface="Arial MT"/>
              </a:rPr>
              <a:t>to 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trace</a:t>
            </a:r>
            <a:r>
              <a:rPr sz="1800" spc="3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24242"/>
                </a:solidFill>
                <a:latin typeface="Arial MT"/>
                <a:cs typeface="Arial MT"/>
              </a:rPr>
              <a:t>route</a:t>
            </a:r>
            <a:r>
              <a:rPr sz="1800" spc="45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64646"/>
                </a:solidFill>
                <a:latin typeface="Arial MT"/>
                <a:cs typeface="Arial MT"/>
              </a:rPr>
              <a:t>back.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443728" y="5349701"/>
            <a:ext cx="3141345" cy="1030605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800" dirty="0">
                <a:solidFill>
                  <a:srgbClr val="0F0F0F"/>
                </a:solidFill>
                <a:latin typeface="Arial MT"/>
                <a:cs typeface="Arial MT"/>
              </a:rPr>
              <a:t>8.</a:t>
            </a:r>
            <a:r>
              <a:rPr sz="1800" spc="1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0F0F"/>
                </a:solidFill>
                <a:latin typeface="Arial MT"/>
                <a:cs typeface="Arial MT"/>
              </a:rPr>
              <a:t>Emergency</a:t>
            </a:r>
            <a:r>
              <a:rPr sz="1800" spc="18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800" spc="80" dirty="0">
                <a:solidFill>
                  <a:srgbClr val="131313"/>
                </a:solidFill>
                <a:latin typeface="Arial MT"/>
                <a:cs typeface="Arial MT"/>
              </a:rPr>
              <a:t>Contact</a:t>
            </a:r>
            <a:r>
              <a:rPr sz="1800" spc="23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800" spc="80" dirty="0">
                <a:solidFill>
                  <a:srgbClr val="111111"/>
                </a:solidFill>
                <a:latin typeface="Arial MT"/>
                <a:cs typeface="Arial MT"/>
              </a:rPr>
              <a:t>Alerts</a:t>
            </a:r>
            <a:endParaRPr sz="1800">
              <a:latin typeface="Arial MT"/>
              <a:cs typeface="Arial MT"/>
            </a:endParaRPr>
          </a:p>
          <a:p>
            <a:pPr marL="14605" marR="804545" indent="1270">
              <a:lnSpc>
                <a:spcPct val="103000"/>
              </a:lnSpc>
              <a:spcBef>
                <a:spcPts val="620"/>
              </a:spcBef>
            </a:pPr>
            <a:r>
              <a:rPr sz="1800" dirty="0">
                <a:solidFill>
                  <a:srgbClr val="4B4B4B"/>
                </a:solidFill>
                <a:latin typeface="Arial MT"/>
                <a:cs typeface="Arial MT"/>
              </a:rPr>
              <a:t>Instant</a:t>
            </a:r>
            <a:r>
              <a:rPr sz="1800" spc="-65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B4B4B"/>
                </a:solidFill>
                <a:latin typeface="Arial MT"/>
                <a:cs typeface="Arial MT"/>
              </a:rPr>
              <a:t>SMS/Web</a:t>
            </a:r>
            <a:r>
              <a:rPr sz="1800" spc="-120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484848"/>
                </a:solidFill>
                <a:latin typeface="Arial MT"/>
                <a:cs typeface="Arial MT"/>
              </a:rPr>
              <a:t>push </a:t>
            </a:r>
            <a:r>
              <a:rPr sz="1800" dirty="0">
                <a:solidFill>
                  <a:srgbClr val="3F3F3F"/>
                </a:solidFill>
                <a:latin typeface="Arial MT"/>
                <a:cs typeface="Arial MT"/>
              </a:rPr>
              <a:t>notification</a:t>
            </a:r>
            <a:r>
              <a:rPr sz="1800" spc="275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24242"/>
                </a:solidFill>
                <a:latin typeface="Arial MT"/>
                <a:cs typeface="Arial MT"/>
              </a:rPr>
              <a:t>dispatch.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2193778" y="5349701"/>
            <a:ext cx="3123565" cy="1030605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780"/>
              </a:spcBef>
            </a:pPr>
            <a:r>
              <a:rPr sz="1800" dirty="0">
                <a:solidFill>
                  <a:srgbClr val="050505"/>
                </a:solidFill>
                <a:latin typeface="Arial MT"/>
                <a:cs typeface="Arial MT"/>
              </a:rPr>
              <a:t>9.</a:t>
            </a:r>
            <a:r>
              <a:rPr sz="1800" spc="40" dirty="0">
                <a:solidFill>
                  <a:srgbClr val="050505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E0E0E"/>
                </a:solidFill>
                <a:latin typeface="Arial MT"/>
                <a:cs typeface="Arial MT"/>
              </a:rPr>
              <a:t>Vehicle</a:t>
            </a:r>
            <a:r>
              <a:rPr sz="1800" spc="-40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800" spc="110" dirty="0">
                <a:solidFill>
                  <a:srgbClr val="181818"/>
                </a:solidFill>
                <a:latin typeface="Arial MT"/>
                <a:cs typeface="Arial MT"/>
              </a:rPr>
              <a:t>Data</a:t>
            </a:r>
            <a:r>
              <a:rPr sz="1800" spc="-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800" spc="75" dirty="0">
                <a:solidFill>
                  <a:srgbClr val="080808"/>
                </a:solidFill>
                <a:latin typeface="Arial MT"/>
                <a:cs typeface="Arial MT"/>
              </a:rPr>
              <a:t>Support</a:t>
            </a:r>
            <a:endParaRPr sz="1800">
              <a:latin typeface="Arial MT"/>
              <a:cs typeface="Arial MT"/>
            </a:endParaRPr>
          </a:p>
          <a:p>
            <a:pPr marL="12700" marR="5080" indent="11430">
              <a:lnSpc>
                <a:spcPct val="103000"/>
              </a:lnSpc>
              <a:spcBef>
                <a:spcPts val="620"/>
              </a:spcBef>
            </a:pPr>
            <a:r>
              <a:rPr sz="1800" spc="-25" dirty="0">
                <a:solidFill>
                  <a:srgbClr val="4B4B4B"/>
                </a:solidFill>
                <a:latin typeface="Arial MT"/>
                <a:cs typeface="Arial MT"/>
              </a:rPr>
              <a:t>Logs</a:t>
            </a:r>
            <a:r>
              <a:rPr sz="1800" spc="-5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24242"/>
                </a:solidFill>
                <a:latin typeface="Arial MT"/>
                <a:cs typeface="Arial MT"/>
              </a:rPr>
              <a:t>cab/license</a:t>
            </a:r>
            <a:r>
              <a:rPr sz="1800" spc="114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44444"/>
                </a:solidFill>
                <a:latin typeface="Arial MT"/>
                <a:cs typeface="Arial MT"/>
              </a:rPr>
              <a:t>plate</a:t>
            </a:r>
            <a:r>
              <a:rPr sz="1800" spc="-4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800" spc="60" dirty="0">
                <a:solidFill>
                  <a:srgbClr val="4B4B4B"/>
                </a:solidFill>
                <a:latin typeface="Arial MT"/>
                <a:cs typeface="Arial MT"/>
              </a:rPr>
              <a:t>info</a:t>
            </a:r>
            <a:r>
              <a:rPr sz="1800" spc="-50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1800" spc="35" dirty="0">
                <a:solidFill>
                  <a:srgbClr val="4B4B4B"/>
                </a:solidFill>
                <a:latin typeface="Arial MT"/>
                <a:cs typeface="Arial MT"/>
              </a:rPr>
              <a:t>for </a:t>
            </a:r>
            <a:r>
              <a:rPr sz="1800" dirty="0">
                <a:solidFill>
                  <a:srgbClr val="3F3F3F"/>
                </a:solidFill>
                <a:latin typeface="Arial MT"/>
                <a:cs typeface="Arial MT"/>
              </a:rPr>
              <a:t>journey</a:t>
            </a:r>
            <a:r>
              <a:rPr sz="1800" spc="55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800" spc="45" dirty="0">
                <a:solidFill>
                  <a:srgbClr val="444444"/>
                </a:solidFill>
                <a:latin typeface="Arial MT"/>
                <a:cs typeface="Arial MT"/>
              </a:rPr>
              <a:t>reference.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5943547" y="5349701"/>
            <a:ext cx="2510155" cy="1030605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37465" indent="-25400">
              <a:lnSpc>
                <a:spcPct val="100000"/>
              </a:lnSpc>
              <a:spcBef>
                <a:spcPts val="780"/>
              </a:spcBef>
            </a:pPr>
            <a:r>
              <a:rPr sz="1800" spc="55" dirty="0">
                <a:solidFill>
                  <a:srgbClr val="0F0F0F"/>
                </a:solidFill>
                <a:latin typeface="Arial MT"/>
                <a:cs typeface="Arial MT"/>
              </a:rPr>
              <a:t>10.</a:t>
            </a:r>
            <a:r>
              <a:rPr sz="1800" spc="13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11111"/>
                </a:solidFill>
                <a:latin typeface="Arial MT"/>
                <a:cs typeface="Arial MT"/>
              </a:rPr>
              <a:t>Volunteer</a:t>
            </a:r>
            <a:r>
              <a:rPr sz="1800" spc="32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111111"/>
                </a:solidFill>
                <a:latin typeface="Arial MT"/>
                <a:cs typeface="Arial MT"/>
              </a:rPr>
              <a:t>Ne+work</a:t>
            </a:r>
            <a:endParaRPr sz="1800">
              <a:latin typeface="Arial MT"/>
              <a:cs typeface="Arial MT"/>
            </a:endParaRPr>
          </a:p>
          <a:p>
            <a:pPr marL="36195" marR="5080" indent="1270">
              <a:lnSpc>
                <a:spcPct val="103000"/>
              </a:lnSpc>
              <a:spcBef>
                <a:spcPts val="620"/>
              </a:spcBef>
            </a:pPr>
            <a:r>
              <a:rPr sz="1800" spc="-10" dirty="0">
                <a:solidFill>
                  <a:srgbClr val="484848"/>
                </a:solidFill>
                <a:latin typeface="Arial MT"/>
                <a:cs typeface="Arial MT"/>
              </a:rPr>
              <a:t>Alerts</a:t>
            </a:r>
            <a:r>
              <a:rPr sz="1800" spc="-170" dirty="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sz="1800" spc="50" dirty="0">
                <a:solidFill>
                  <a:srgbClr val="424242"/>
                </a:solidFill>
                <a:latin typeface="Arial MT"/>
                <a:cs typeface="Arial MT"/>
              </a:rPr>
              <a:t>registered</a:t>
            </a:r>
            <a:r>
              <a:rPr sz="1800" spc="-165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84848"/>
                </a:solidFill>
                <a:latin typeface="Arial MT"/>
                <a:cs typeface="Arial MT"/>
              </a:rPr>
              <a:t>nearby </a:t>
            </a:r>
            <a:r>
              <a:rPr sz="1800" dirty="0">
                <a:solidFill>
                  <a:srgbClr val="484848"/>
                </a:solidFill>
                <a:latin typeface="Arial MT"/>
                <a:cs typeface="Arial MT"/>
              </a:rPr>
              <a:t>community</a:t>
            </a:r>
            <a:r>
              <a:rPr sz="1800" spc="250" dirty="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24242"/>
                </a:solidFill>
                <a:latin typeface="Arial MT"/>
                <a:cs typeface="Arial MT"/>
              </a:rPr>
              <a:t>helpers.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38197" y="2418774"/>
            <a:ext cx="18682970" cy="762000"/>
            <a:chOff x="738197" y="2418774"/>
            <a:chExt cx="18682970" cy="7620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7339785" y="2701488"/>
              <a:ext cx="808875" cy="21203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38197" y="2418774"/>
              <a:ext cx="18682970" cy="762000"/>
            </a:xfrm>
            <a:custGeom>
              <a:avLst/>
              <a:gdLst/>
              <a:ahLst/>
              <a:cxnLst/>
              <a:rect l="l" t="t" r="r" b="b"/>
              <a:pathLst>
                <a:path w="18682970" h="762000">
                  <a:moveTo>
                    <a:pt x="18682678" y="761756"/>
                  </a:moveTo>
                  <a:lnTo>
                    <a:pt x="0" y="761756"/>
                  </a:lnTo>
                  <a:lnTo>
                    <a:pt x="0" y="0"/>
                  </a:lnTo>
                  <a:lnTo>
                    <a:pt x="18682678" y="0"/>
                  </a:lnTo>
                  <a:lnTo>
                    <a:pt x="18682678" y="7617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738197" y="2418774"/>
            <a:ext cx="18682970" cy="762000"/>
          </a:xfrm>
          <a:prstGeom prst="rect">
            <a:avLst/>
          </a:prstGeom>
        </p:spPr>
        <p:txBody>
          <a:bodyPr vert="horz" wrap="square" lIns="0" tIns="199390" rIns="0" bIns="0" rtlCol="0">
            <a:spAutoFit/>
          </a:bodyPr>
          <a:lstStyle/>
          <a:p>
            <a:pPr marL="269875">
              <a:lnSpc>
                <a:spcPct val="100000"/>
              </a:lnSpc>
              <a:spcBef>
                <a:spcPts val="1570"/>
              </a:spcBef>
              <a:tabLst>
                <a:tab pos="3189605" algn="l"/>
                <a:tab pos="9706610" algn="l"/>
              </a:tabLst>
            </a:pPr>
            <a:r>
              <a:rPr sz="2200" spc="-225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Layer</a:t>
            </a:r>
            <a:r>
              <a:rPr sz="2200" spc="40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2200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/</a:t>
            </a:r>
            <a:r>
              <a:rPr sz="2200" spc="30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2200" spc="-305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Subsystem</a:t>
            </a:r>
            <a:r>
              <a:rPr sz="2200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	</a:t>
            </a:r>
            <a:r>
              <a:rPr sz="2200" spc="-315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Technologies</a:t>
            </a:r>
            <a:r>
              <a:rPr sz="2200" spc="95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2200" spc="-295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Selected</a:t>
            </a:r>
            <a:r>
              <a:rPr sz="2200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	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Functional</a:t>
            </a:r>
            <a:r>
              <a:rPr sz="2200" spc="1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 MT"/>
                <a:cs typeface="Arial MT"/>
              </a:rPr>
              <a:t>Purpose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46620" y="10405277"/>
            <a:ext cx="44907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5"/>
              </a:lnSpc>
            </a:pPr>
            <a:r>
              <a:rPr sz="1800" spc="-55" dirty="0">
                <a:solidFill>
                  <a:srgbClr val="696969"/>
                </a:solidFill>
                <a:latin typeface="Arial MT"/>
                <a:cs typeface="Arial MT"/>
              </a:rPr>
              <a:t>Saf</a:t>
            </a:r>
            <a:r>
              <a:rPr sz="1800" spc="-180" dirty="0">
                <a:solidFill>
                  <a:srgbClr val="6969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606060"/>
                </a:solidFill>
                <a:latin typeface="Arial MT"/>
                <a:cs typeface="Arial MT"/>
              </a:rPr>
              <a:t>eHer:</a:t>
            </a:r>
            <a:r>
              <a:rPr sz="1800" spc="-30" dirty="0">
                <a:solidFill>
                  <a:srgbClr val="606060"/>
                </a:solidFill>
                <a:latin typeface="Arial MT"/>
                <a:cs typeface="Arial MT"/>
              </a:rPr>
              <a:t> </a:t>
            </a:r>
            <a:r>
              <a:rPr sz="1800" spc="-130" dirty="0">
                <a:solidFill>
                  <a:srgbClr val="95A5C3"/>
                </a:solidFill>
                <a:latin typeface="Arial MT"/>
                <a:cs typeface="Arial MT"/>
              </a:rPr>
              <a:t>AI</a:t>
            </a:r>
            <a:r>
              <a:rPr sz="1800" spc="-270" dirty="0">
                <a:solidFill>
                  <a:srgbClr val="95A5C3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646464"/>
                </a:solidFill>
                <a:latin typeface="Arial MT"/>
                <a:cs typeface="Arial MT"/>
              </a:rPr>
              <a:t>-</a:t>
            </a:r>
            <a:r>
              <a:rPr sz="1800" dirty="0">
                <a:solidFill>
                  <a:srgbClr val="646464"/>
                </a:solidFill>
                <a:latin typeface="Arial MT"/>
                <a:cs typeface="Arial MT"/>
              </a:rPr>
              <a:t>Driven</a:t>
            </a:r>
            <a:r>
              <a:rPr sz="1800" spc="-50" dirty="0">
                <a:solidFill>
                  <a:srgbClr val="64646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676767"/>
                </a:solidFill>
                <a:latin typeface="Arial MT"/>
                <a:cs typeface="Arial MT"/>
              </a:rPr>
              <a:t>Women</a:t>
            </a:r>
            <a:r>
              <a:rPr sz="1800" spc="-50" dirty="0">
                <a:solidFill>
                  <a:srgbClr val="676767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6B6B6B"/>
                </a:solidFill>
                <a:latin typeface="Arial MT"/>
                <a:cs typeface="Arial MT"/>
              </a:rPr>
              <a:t>Safety</a:t>
            </a:r>
            <a:r>
              <a:rPr sz="1800" spc="-20" dirty="0">
                <a:solidFill>
                  <a:srgbClr val="6B6B6B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6B6B6B"/>
                </a:solidFill>
                <a:latin typeface="Arial MT"/>
                <a:cs typeface="Arial MT"/>
              </a:rPr>
              <a:t>Platf</a:t>
            </a:r>
            <a:r>
              <a:rPr sz="1800" spc="-155" dirty="0">
                <a:solidFill>
                  <a:srgbClr val="6B6B6B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5E5E5E"/>
                </a:solidFill>
                <a:latin typeface="Arial MT"/>
                <a:cs typeface="Arial MT"/>
              </a:rPr>
              <a:t>orm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4930">
              <a:lnSpc>
                <a:spcPts val="2095"/>
              </a:lnSpc>
            </a:pPr>
            <a:r>
              <a:rPr sz="1800" spc="-20" dirty="0">
                <a:solidFill>
                  <a:srgbClr val="696969"/>
                </a:solidFill>
              </a:rPr>
              <a:t>Slide</a:t>
            </a:r>
            <a:r>
              <a:rPr sz="1800" spc="-95" dirty="0">
                <a:solidFill>
                  <a:srgbClr val="696969"/>
                </a:solidFill>
              </a:rPr>
              <a:t> </a:t>
            </a:r>
            <a:fld id="{81D60167-4931-47E6-BA6A-407CBD079E47}" type="slidenum">
              <a:rPr sz="1800" spc="-50" dirty="0">
                <a:solidFill>
                  <a:srgbClr val="AFAFAF"/>
                </a:solidFill>
              </a:rPr>
            </a:fld>
            <a:endParaRPr sz="1800"/>
          </a:p>
        </p:txBody>
      </p:sp>
      <p:sp>
        <p:nvSpPr>
          <p:cNvPr id="6" name="object 6"/>
          <p:cNvSpPr txBox="1"/>
          <p:nvPr/>
        </p:nvSpPr>
        <p:spPr>
          <a:xfrm>
            <a:off x="736218" y="614898"/>
            <a:ext cx="2298700" cy="2806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50" spc="100" dirty="0">
                <a:solidFill>
                  <a:srgbClr val="DB2652"/>
                </a:solidFill>
                <a:latin typeface="Arial MT"/>
                <a:cs typeface="Arial MT"/>
              </a:rPr>
              <a:t>TE</a:t>
            </a:r>
            <a:r>
              <a:rPr sz="1650" spc="-240" dirty="0">
                <a:solidFill>
                  <a:srgbClr val="DB2652"/>
                </a:solidFill>
                <a:latin typeface="Arial MT"/>
                <a:cs typeface="Arial MT"/>
              </a:rPr>
              <a:t> </a:t>
            </a:r>
            <a:r>
              <a:rPr sz="1650" spc="165" dirty="0">
                <a:solidFill>
                  <a:srgbClr val="D62A62"/>
                </a:solidFill>
                <a:latin typeface="Arial MT"/>
                <a:cs typeface="Arial MT"/>
              </a:rPr>
              <a:t>C</a:t>
            </a:r>
            <a:r>
              <a:rPr sz="1650" spc="165" dirty="0">
                <a:solidFill>
                  <a:srgbClr val="BF2A62"/>
                </a:solidFill>
                <a:latin typeface="Arial MT"/>
                <a:cs typeface="Arial MT"/>
              </a:rPr>
              <a:t>H</a:t>
            </a:r>
            <a:r>
              <a:rPr sz="1650" spc="165" dirty="0">
                <a:solidFill>
                  <a:srgbClr val="C82D4F"/>
                </a:solidFill>
                <a:latin typeface="Arial MT"/>
                <a:cs typeface="Arial MT"/>
              </a:rPr>
              <a:t>NICAL</a:t>
            </a:r>
            <a:r>
              <a:rPr sz="1650" spc="305" dirty="0">
                <a:solidFill>
                  <a:srgbClr val="C82D4F"/>
                </a:solidFill>
                <a:latin typeface="Arial MT"/>
                <a:cs typeface="Arial MT"/>
              </a:rPr>
              <a:t> </a:t>
            </a:r>
            <a:r>
              <a:rPr sz="1650" spc="50" dirty="0">
                <a:solidFill>
                  <a:srgbClr val="D12B59"/>
                </a:solidFill>
                <a:latin typeface="Arial MT"/>
                <a:cs typeface="Arial MT"/>
              </a:rPr>
              <a:t>STAC</a:t>
            </a:r>
            <a:r>
              <a:rPr sz="1650" spc="-140" dirty="0">
                <a:solidFill>
                  <a:srgbClr val="D12B59"/>
                </a:solidFill>
                <a:latin typeface="Arial MT"/>
                <a:cs typeface="Arial MT"/>
              </a:rPr>
              <a:t> </a:t>
            </a:r>
            <a:r>
              <a:rPr sz="1650" spc="5" dirty="0">
                <a:solidFill>
                  <a:srgbClr val="E64460"/>
                </a:solidFill>
                <a:latin typeface="Arial MT"/>
                <a:cs typeface="Arial MT"/>
              </a:rPr>
              <a:t>K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125"/>
              </a:spcBef>
            </a:pPr>
            <a:r>
              <a:rPr sz="3450" b="1" spc="-190" dirty="0">
                <a:solidFill>
                  <a:srgbClr val="111111"/>
                </a:solidFill>
                <a:latin typeface="Arial" panose="020B0604020202020204"/>
                <a:cs typeface="Arial" panose="020B0604020202020204"/>
              </a:rPr>
              <a:t>Technologies</a:t>
            </a:r>
            <a:r>
              <a:rPr sz="3450" b="1" spc="55" dirty="0">
                <a:solidFill>
                  <a:srgbClr val="11111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450" b="1" spc="-130" dirty="0">
                <a:solidFill>
                  <a:srgbClr val="1A1A1A"/>
                </a:solidFill>
                <a:latin typeface="Arial" panose="020B0604020202020204"/>
                <a:cs typeface="Arial" panose="020B0604020202020204"/>
              </a:rPr>
              <a:t>&amp;</a:t>
            </a:r>
            <a:r>
              <a:rPr sz="3450" b="1" spc="-440" dirty="0">
                <a:solidFill>
                  <a:srgbClr val="1A1A1A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450" b="1" spc="-30" dirty="0">
                <a:solidFill>
                  <a:srgbClr val="111111"/>
                </a:solidFill>
                <a:latin typeface="Arial" panose="020B0604020202020204"/>
                <a:cs typeface="Arial" panose="020B0604020202020204"/>
              </a:rPr>
              <a:t>Implementation</a:t>
            </a:r>
            <a:r>
              <a:rPr sz="3450" b="1" spc="-515" dirty="0">
                <a:solidFill>
                  <a:srgbClr val="11111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450" b="1" spc="-10" dirty="0">
                <a:solidFill>
                  <a:srgbClr val="0F0F0F"/>
                </a:solidFill>
                <a:latin typeface="Arial" panose="020B0604020202020204"/>
                <a:cs typeface="Arial" panose="020B0604020202020204"/>
              </a:rPr>
              <a:t>Roadmap</a:t>
            </a:r>
            <a:endParaRPr sz="3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82711" y="3500936"/>
            <a:ext cx="2172335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dirty="0">
                <a:solidFill>
                  <a:srgbClr val="2B2B2B"/>
                </a:solidFill>
                <a:latin typeface="Arial MT"/>
                <a:cs typeface="Arial MT"/>
              </a:rPr>
              <a:t>Frontend</a:t>
            </a:r>
            <a:r>
              <a:rPr sz="2450" spc="-145" dirty="0">
                <a:solidFill>
                  <a:srgbClr val="2B2B2B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3B3B3B"/>
                </a:solidFill>
                <a:latin typeface="Arial MT"/>
                <a:cs typeface="Arial MT"/>
              </a:rPr>
              <a:t>Client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85441" y="4443315"/>
            <a:ext cx="1760220" cy="7677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925"/>
              </a:lnSpc>
              <a:spcBef>
                <a:spcPts val="95"/>
              </a:spcBef>
            </a:pPr>
            <a:r>
              <a:rPr sz="2450" spc="-40" dirty="0">
                <a:solidFill>
                  <a:srgbClr val="2D2D2D"/>
                </a:solidFill>
                <a:latin typeface="Arial MT"/>
                <a:cs typeface="Arial MT"/>
              </a:rPr>
              <a:t>Backend</a:t>
            </a:r>
            <a:r>
              <a:rPr sz="2450" spc="-105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2450" spc="-30" dirty="0">
                <a:solidFill>
                  <a:srgbClr val="3B4B5D"/>
                </a:solidFill>
                <a:latin typeface="Arial MT"/>
                <a:cs typeface="Arial MT"/>
              </a:rPr>
              <a:t>API</a:t>
            </a:r>
            <a:endParaRPr sz="2450">
              <a:latin typeface="Arial MT"/>
              <a:cs typeface="Arial MT"/>
            </a:endParaRPr>
          </a:p>
          <a:p>
            <a:pPr marL="24130">
              <a:lnSpc>
                <a:spcPts val="2925"/>
              </a:lnSpc>
            </a:pPr>
            <a:r>
              <a:rPr sz="2450" b="1" spc="-10" dirty="0">
                <a:solidFill>
                  <a:srgbClr val="3D3D3D"/>
                </a:solidFill>
                <a:latin typeface="Arial" panose="020B0604020202020204"/>
                <a:cs typeface="Arial" panose="020B0604020202020204"/>
              </a:rPr>
              <a:t>Service</a:t>
            </a:r>
            <a:endParaRPr sz="2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84226" y="5739088"/>
            <a:ext cx="2307590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spc="-75" dirty="0">
                <a:solidFill>
                  <a:srgbClr val="383838"/>
                </a:solidFill>
                <a:latin typeface="Arial MT"/>
                <a:cs typeface="Arial MT"/>
              </a:rPr>
              <a:t>Data</a:t>
            </a:r>
            <a:r>
              <a:rPr sz="2450" spc="-290" dirty="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sz="2450" b="1" spc="-100" dirty="0">
                <a:solidFill>
                  <a:srgbClr val="3D3D3D"/>
                </a:solidFill>
                <a:latin typeface="Arial" panose="020B0604020202020204"/>
                <a:cs typeface="Arial" panose="020B0604020202020204"/>
              </a:rPr>
              <a:t>Persistence</a:t>
            </a:r>
            <a:endParaRPr sz="2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92961" y="6846384"/>
            <a:ext cx="2240915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spc="-35" dirty="0">
                <a:solidFill>
                  <a:srgbClr val="3D3D3D"/>
                </a:solidFill>
                <a:latin typeface="Arial MT"/>
                <a:cs typeface="Arial MT"/>
              </a:rPr>
              <a:t>AI</a:t>
            </a:r>
            <a:r>
              <a:rPr sz="2450" spc="-265" dirty="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sz="2450" b="1" spc="-270" dirty="0">
                <a:solidFill>
                  <a:srgbClr val="233B59"/>
                </a:solidFill>
                <a:latin typeface="Arial" panose="020B0604020202020204"/>
                <a:cs typeface="Arial" panose="020B0604020202020204"/>
              </a:rPr>
              <a:t>&amp;</a:t>
            </a:r>
            <a:r>
              <a:rPr sz="2450" b="1" spc="-210" dirty="0">
                <a:solidFill>
                  <a:srgbClr val="233B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50" b="1" spc="-55" dirty="0">
                <a:solidFill>
                  <a:srgbClr val="343434"/>
                </a:solidFill>
                <a:latin typeface="Arial" panose="020B0604020202020204"/>
                <a:cs typeface="Arial" panose="020B0604020202020204"/>
              </a:rPr>
              <a:t>Intelligence</a:t>
            </a:r>
            <a:endParaRPr sz="2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85140" y="7796617"/>
            <a:ext cx="1391920" cy="7600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890"/>
              </a:lnSpc>
              <a:spcBef>
                <a:spcPts val="95"/>
              </a:spcBef>
            </a:pPr>
            <a:r>
              <a:rPr sz="2450" spc="-65" dirty="0">
                <a:solidFill>
                  <a:srgbClr val="2D2D2D"/>
                </a:solidFill>
                <a:latin typeface="Arial MT"/>
                <a:cs typeface="Arial MT"/>
              </a:rPr>
              <a:t>Maps</a:t>
            </a:r>
            <a:r>
              <a:rPr sz="2450" spc="-145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2450" spc="-50" dirty="0">
                <a:solidFill>
                  <a:srgbClr val="384962"/>
                </a:solidFill>
                <a:latin typeface="Arial MT"/>
                <a:cs typeface="Arial MT"/>
              </a:rPr>
              <a:t>&amp;</a:t>
            </a:r>
            <a:endParaRPr sz="2450">
              <a:latin typeface="Arial MT"/>
              <a:cs typeface="Arial MT"/>
            </a:endParaRPr>
          </a:p>
          <a:p>
            <a:pPr marL="13335">
              <a:lnSpc>
                <a:spcPts val="2890"/>
              </a:lnSpc>
            </a:pPr>
            <a:r>
              <a:rPr sz="2450" b="1" spc="-90" dirty="0">
                <a:solidFill>
                  <a:srgbClr val="3A3A3A"/>
                </a:solidFill>
                <a:latin typeface="Arial" panose="020B0604020202020204"/>
                <a:cs typeface="Arial" panose="020B0604020202020204"/>
              </a:rPr>
              <a:t>Telemetry</a:t>
            </a:r>
            <a:endParaRPr sz="2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96976" y="9084536"/>
            <a:ext cx="1985645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b="1" spc="-110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Security</a:t>
            </a:r>
            <a:r>
              <a:rPr sz="2450" b="1" spc="-40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50" spc="-20" dirty="0">
                <a:solidFill>
                  <a:srgbClr val="363636"/>
                </a:solidFill>
                <a:latin typeface="Arial MT"/>
                <a:cs typeface="Arial MT"/>
              </a:rPr>
              <a:t>Layer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06596" y="3336020"/>
            <a:ext cx="5083810" cy="7600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050">
              <a:lnSpc>
                <a:spcPts val="2890"/>
              </a:lnSpc>
              <a:spcBef>
                <a:spcPts val="95"/>
              </a:spcBef>
            </a:pPr>
            <a:r>
              <a:rPr sz="2450" spc="-90" dirty="0">
                <a:solidFill>
                  <a:srgbClr val="313131"/>
                </a:solidFill>
                <a:latin typeface="Arial MT"/>
                <a:cs typeface="Arial MT"/>
              </a:rPr>
              <a:t>React.js,</a:t>
            </a:r>
            <a:r>
              <a:rPr sz="2450" spc="-12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450" spc="-50" dirty="0">
                <a:solidFill>
                  <a:srgbClr val="313131"/>
                </a:solidFill>
                <a:latin typeface="Arial MT"/>
                <a:cs typeface="Arial MT"/>
              </a:rPr>
              <a:t>Vite,</a:t>
            </a:r>
            <a:r>
              <a:rPr sz="2450" spc="-22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450" spc="-245" dirty="0">
                <a:solidFill>
                  <a:srgbClr val="333333"/>
                </a:solidFill>
                <a:latin typeface="Arial MT"/>
                <a:cs typeface="Arial MT"/>
              </a:rPr>
              <a:t>HTMLS,</a:t>
            </a:r>
            <a:r>
              <a:rPr sz="2450" spc="-11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450" spc="-120" dirty="0">
                <a:solidFill>
                  <a:srgbClr val="383838"/>
                </a:solidFill>
                <a:latin typeface="Arial MT"/>
                <a:cs typeface="Arial MT"/>
              </a:rPr>
              <a:t>CSS3,</a:t>
            </a:r>
            <a:r>
              <a:rPr sz="2450" spc="-140" dirty="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sz="2450" spc="-375" dirty="0">
                <a:solidFill>
                  <a:srgbClr val="363636"/>
                </a:solidFill>
                <a:latin typeface="Arial MT"/>
                <a:cs typeface="Arial MT"/>
              </a:rPr>
              <a:t>JS</a:t>
            </a:r>
            <a:r>
              <a:rPr sz="2450" spc="-175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2450" spc="-95" dirty="0">
                <a:solidFill>
                  <a:srgbClr val="313131"/>
                </a:solidFill>
                <a:latin typeface="Arial MT"/>
                <a:cs typeface="Arial MT"/>
              </a:rPr>
              <a:t>(ES6+),</a:t>
            </a:r>
            <a:endParaRPr sz="2450">
              <a:latin typeface="Arial MT"/>
              <a:cs typeface="Arial MT"/>
            </a:endParaRPr>
          </a:p>
          <a:p>
            <a:pPr marL="12700">
              <a:lnSpc>
                <a:spcPts val="2890"/>
              </a:lnSpc>
            </a:pPr>
            <a:r>
              <a:rPr sz="2450" spc="-135" dirty="0">
                <a:solidFill>
                  <a:srgbClr val="363636"/>
                </a:solidFill>
                <a:latin typeface="Arial MT"/>
                <a:cs typeface="Arial MT"/>
              </a:rPr>
              <a:t>Tailwind</a:t>
            </a:r>
            <a:r>
              <a:rPr sz="2450" spc="-120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2450" spc="-25" dirty="0">
                <a:solidFill>
                  <a:srgbClr val="343434"/>
                </a:solidFill>
                <a:latin typeface="Arial MT"/>
                <a:cs typeface="Arial MT"/>
              </a:rPr>
              <a:t>CSS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16359" y="4459676"/>
            <a:ext cx="5377180" cy="74803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 indent="5080">
              <a:lnSpc>
                <a:spcPts val="2910"/>
              </a:lnSpc>
              <a:spcBef>
                <a:spcPts val="65"/>
              </a:spcBef>
            </a:pPr>
            <a:r>
              <a:rPr sz="2300" spc="-170" dirty="0">
                <a:solidFill>
                  <a:srgbClr val="343434"/>
                </a:solidFill>
                <a:latin typeface="Arial MT"/>
                <a:cs typeface="Arial MT"/>
              </a:rPr>
              <a:t>Java</a:t>
            </a:r>
            <a:r>
              <a:rPr sz="2300" spc="-31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2300" spc="-185" dirty="0">
                <a:solidFill>
                  <a:srgbClr val="383838"/>
                </a:solidFill>
                <a:latin typeface="Arial MT"/>
                <a:cs typeface="Arial MT"/>
              </a:rPr>
              <a:t>17,</a:t>
            </a:r>
            <a:r>
              <a:rPr sz="2300" spc="-110" dirty="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313131"/>
                </a:solidFill>
                <a:latin typeface="Arial MT"/>
                <a:cs typeface="Arial MT"/>
              </a:rPr>
              <a:t>Spring</a:t>
            </a:r>
            <a:r>
              <a:rPr sz="2300" spc="-85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300" spc="100" dirty="0">
                <a:solidFill>
                  <a:srgbClr val="3B3B3B"/>
                </a:solidFill>
                <a:latin typeface="Arial MT"/>
                <a:cs typeface="Arial MT"/>
              </a:rPr>
              <a:t>Boot,</a:t>
            </a:r>
            <a:r>
              <a:rPr sz="2300" spc="-215" dirty="0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sz="2300" spc="-145" dirty="0">
                <a:solidFill>
                  <a:srgbClr val="3A3A3A"/>
                </a:solidFill>
                <a:latin typeface="Arial MT"/>
                <a:cs typeface="Arial MT"/>
              </a:rPr>
              <a:t>RESTfuI</a:t>
            </a:r>
            <a:r>
              <a:rPr sz="2300" spc="-120" dirty="0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sz="2300" spc="-75" dirty="0">
                <a:solidFill>
                  <a:srgbClr val="333333"/>
                </a:solidFill>
                <a:latin typeface="Arial MT"/>
                <a:cs typeface="Arial MT"/>
              </a:rPr>
              <a:t>APIs,</a:t>
            </a:r>
            <a:r>
              <a:rPr sz="2300" spc="-114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343434"/>
                </a:solidFill>
                <a:latin typeface="Arial MT"/>
                <a:cs typeface="Arial MT"/>
              </a:rPr>
              <a:t>Spring Security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13457" y="5739088"/>
            <a:ext cx="5869940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dirty="0">
                <a:solidFill>
                  <a:srgbClr val="242424"/>
                </a:solidFill>
                <a:latin typeface="Arial MT"/>
                <a:cs typeface="Arial MT"/>
              </a:rPr>
              <a:t>PostgreSQL/</a:t>
            </a:r>
            <a:r>
              <a:rPr sz="2450" spc="15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50" spc="-105" dirty="0">
                <a:solidFill>
                  <a:srgbClr val="2F2F2F"/>
                </a:solidFill>
                <a:latin typeface="Arial MT"/>
                <a:cs typeface="Arial MT"/>
              </a:rPr>
              <a:t>Supabase</a:t>
            </a:r>
            <a:r>
              <a:rPr sz="2450" spc="40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2450" spc="-85" dirty="0">
                <a:solidFill>
                  <a:srgbClr val="232323"/>
                </a:solidFill>
                <a:latin typeface="Arial MT"/>
                <a:cs typeface="Arial MT"/>
              </a:rPr>
              <a:t>(Spatial</a:t>
            </a:r>
            <a:r>
              <a:rPr sz="2450" spc="-9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2450" spc="-70" dirty="0">
                <a:solidFill>
                  <a:srgbClr val="242424"/>
                </a:solidFill>
                <a:latin typeface="Arial MT"/>
                <a:cs typeface="Arial MT"/>
              </a:rPr>
              <a:t>Extensions)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13457" y="6673614"/>
            <a:ext cx="5121275" cy="767715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8415" marR="5080" indent="-6350">
              <a:lnSpc>
                <a:spcPts val="2910"/>
              </a:lnSpc>
              <a:spcBef>
                <a:spcPts val="220"/>
              </a:spcBef>
            </a:pPr>
            <a:r>
              <a:rPr sz="2450" spc="-25" dirty="0">
                <a:solidFill>
                  <a:srgbClr val="2A2A2A"/>
                </a:solidFill>
                <a:latin typeface="Arial MT"/>
                <a:cs typeface="Arial MT"/>
              </a:rPr>
              <a:t>Python-</a:t>
            </a:r>
            <a:r>
              <a:rPr sz="2450" dirty="0">
                <a:solidFill>
                  <a:srgbClr val="2A2A2A"/>
                </a:solidFill>
                <a:latin typeface="Arial MT"/>
                <a:cs typeface="Arial MT"/>
              </a:rPr>
              <a:t>based</a:t>
            </a:r>
            <a:r>
              <a:rPr sz="2450" spc="-6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2450" spc="-225" dirty="0">
                <a:solidFill>
                  <a:srgbClr val="26415D"/>
                </a:solidFill>
                <a:latin typeface="Arial MT"/>
                <a:cs typeface="Arial MT"/>
              </a:rPr>
              <a:t>ML</a:t>
            </a:r>
            <a:r>
              <a:rPr sz="2450" spc="-145" dirty="0">
                <a:solidFill>
                  <a:srgbClr val="26415D"/>
                </a:solidFill>
                <a:latin typeface="Arial MT"/>
                <a:cs typeface="Arial MT"/>
              </a:rPr>
              <a:t> </a:t>
            </a:r>
            <a:r>
              <a:rPr sz="2450" spc="-110" dirty="0">
                <a:solidFill>
                  <a:srgbClr val="3B3B3B"/>
                </a:solidFill>
                <a:latin typeface="Arial MT"/>
                <a:cs typeface="Arial MT"/>
              </a:rPr>
              <a:t>risk</a:t>
            </a:r>
            <a:r>
              <a:rPr sz="2450" spc="-145" dirty="0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sz="2450" spc="-35" dirty="0">
                <a:solidFill>
                  <a:srgbClr val="313131"/>
                </a:solidFill>
                <a:latin typeface="Arial MT"/>
                <a:cs typeface="Arial MT"/>
              </a:rPr>
              <a:t>model,</a:t>
            </a:r>
            <a:r>
              <a:rPr sz="2450" spc="-17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450" spc="-235" dirty="0">
                <a:solidFill>
                  <a:srgbClr val="3B3B3B"/>
                </a:solidFill>
                <a:latin typeface="Arial MT"/>
                <a:cs typeface="Arial MT"/>
              </a:rPr>
              <a:t>NLP</a:t>
            </a:r>
            <a:r>
              <a:rPr sz="2450" spc="-70" dirty="0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2F2F2F"/>
                </a:solidFill>
                <a:latin typeface="Arial MT"/>
                <a:cs typeface="Arial MT"/>
              </a:rPr>
              <a:t>alert </a:t>
            </a:r>
            <a:r>
              <a:rPr sz="2450" spc="-10" dirty="0">
                <a:solidFill>
                  <a:srgbClr val="343434"/>
                </a:solidFill>
                <a:latin typeface="Arial MT"/>
                <a:cs typeface="Arial MT"/>
              </a:rPr>
              <a:t>generator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912548" y="7788764"/>
            <a:ext cx="5678805" cy="767715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 indent="-635">
              <a:lnSpc>
                <a:spcPts val="2910"/>
              </a:lnSpc>
              <a:spcBef>
                <a:spcPts val="220"/>
              </a:spcBef>
            </a:pPr>
            <a:r>
              <a:rPr sz="2450" spc="-290" dirty="0">
                <a:solidFill>
                  <a:srgbClr val="2F2F2F"/>
                </a:solidFill>
                <a:latin typeface="Arial MT"/>
                <a:cs typeface="Arial MT"/>
              </a:rPr>
              <a:t>HTMLS</a:t>
            </a:r>
            <a:r>
              <a:rPr sz="2450" spc="-55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343434"/>
                </a:solidFill>
                <a:latin typeface="Arial MT"/>
                <a:cs typeface="Arial MT"/>
              </a:rPr>
              <a:t>Geolocation</a:t>
            </a:r>
            <a:r>
              <a:rPr sz="2450" spc="-9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2450" spc="-140" dirty="0">
                <a:solidFill>
                  <a:srgbClr val="363636"/>
                </a:solidFill>
                <a:latin typeface="Arial MT"/>
                <a:cs typeface="Arial MT"/>
              </a:rPr>
              <a:t>API,</a:t>
            </a:r>
            <a:r>
              <a:rPr sz="2450" spc="-185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2A2A2A"/>
                </a:solidFill>
                <a:latin typeface="Arial MT"/>
                <a:cs typeface="Arial MT"/>
              </a:rPr>
              <a:t>OpenStreetMap/ </a:t>
            </a:r>
            <a:r>
              <a:rPr sz="2450" dirty="0">
                <a:solidFill>
                  <a:srgbClr val="282828"/>
                </a:solidFill>
                <a:latin typeface="Arial MT"/>
                <a:cs typeface="Arial MT"/>
              </a:rPr>
              <a:t>Google</a:t>
            </a:r>
            <a:r>
              <a:rPr sz="2450" spc="-114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2450" spc="-125" dirty="0">
                <a:solidFill>
                  <a:srgbClr val="242424"/>
                </a:solidFill>
                <a:latin typeface="Arial MT"/>
                <a:cs typeface="Arial MT"/>
              </a:rPr>
              <a:t>Maps</a:t>
            </a:r>
            <a:r>
              <a:rPr sz="2450" spc="-19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50" spc="-25" dirty="0">
                <a:solidFill>
                  <a:srgbClr val="3D3D3D"/>
                </a:solidFill>
                <a:latin typeface="Arial MT"/>
                <a:cs typeface="Arial MT"/>
              </a:rPr>
              <a:t>API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914104" y="8879044"/>
            <a:ext cx="5916295" cy="7848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15">
              <a:lnSpc>
                <a:spcPts val="3135"/>
              </a:lnSpc>
              <a:spcBef>
                <a:spcPts val="105"/>
              </a:spcBef>
            </a:pPr>
            <a:r>
              <a:rPr sz="2700" spc="-365" dirty="0">
                <a:solidFill>
                  <a:srgbClr val="2F2F2F"/>
                </a:solidFill>
                <a:latin typeface="Arial MT"/>
                <a:cs typeface="Arial MT"/>
              </a:rPr>
              <a:t>JSON</a:t>
            </a:r>
            <a:r>
              <a:rPr sz="2700" spc="-220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2700" spc="-265" dirty="0">
                <a:solidFill>
                  <a:srgbClr val="363636"/>
                </a:solidFill>
                <a:latin typeface="Arial MT"/>
                <a:cs typeface="Arial MT"/>
              </a:rPr>
              <a:t>Web</a:t>
            </a:r>
            <a:r>
              <a:rPr sz="2700" spc="-295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2700" spc="-285" dirty="0">
                <a:solidFill>
                  <a:srgbClr val="343434"/>
                </a:solidFill>
                <a:latin typeface="Arial MT"/>
                <a:cs typeface="Arial MT"/>
              </a:rPr>
              <a:t>Tokens(JWT),</a:t>
            </a:r>
            <a:r>
              <a:rPr sz="2700" spc="-5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2700" spc="-180" dirty="0">
                <a:solidFill>
                  <a:srgbClr val="2D2D2D"/>
                </a:solidFill>
                <a:latin typeface="Arial MT"/>
                <a:cs typeface="Arial MT"/>
              </a:rPr>
              <a:t>Role-</a:t>
            </a:r>
            <a:r>
              <a:rPr sz="2700" spc="-204" dirty="0">
                <a:solidFill>
                  <a:srgbClr val="2D2D2D"/>
                </a:solidFill>
                <a:latin typeface="Arial MT"/>
                <a:cs typeface="Arial MT"/>
              </a:rPr>
              <a:t>Based</a:t>
            </a:r>
            <a:r>
              <a:rPr sz="2700" spc="-130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2700" spc="-135" dirty="0">
                <a:solidFill>
                  <a:srgbClr val="232323"/>
                </a:solidFill>
                <a:latin typeface="Arial MT"/>
                <a:cs typeface="Arial MT"/>
              </a:rPr>
              <a:t>Access</a:t>
            </a:r>
            <a:endParaRPr sz="2700">
              <a:latin typeface="Arial MT"/>
              <a:cs typeface="Arial MT"/>
            </a:endParaRPr>
          </a:p>
          <a:p>
            <a:pPr marL="12700">
              <a:lnSpc>
                <a:spcPts val="2835"/>
              </a:lnSpc>
            </a:pPr>
            <a:r>
              <a:rPr sz="2450" spc="-10" dirty="0">
                <a:solidFill>
                  <a:srgbClr val="333333"/>
                </a:solidFill>
                <a:latin typeface="Arial MT"/>
                <a:cs typeface="Arial MT"/>
              </a:rPr>
              <a:t>Control(RBAC)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431128" y="3336020"/>
            <a:ext cx="5812790" cy="75184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6510" marR="5080" indent="-4445">
              <a:lnSpc>
                <a:spcPts val="2780"/>
              </a:lnSpc>
              <a:spcBef>
                <a:spcPts val="320"/>
              </a:spcBef>
            </a:pPr>
            <a:r>
              <a:rPr sz="2450" spc="-114" dirty="0">
                <a:solidFill>
                  <a:srgbClr val="2F2F2F"/>
                </a:solidFill>
                <a:latin typeface="Arial MT"/>
                <a:cs typeface="Arial MT"/>
              </a:rPr>
              <a:t>Responsive</a:t>
            </a:r>
            <a:r>
              <a:rPr sz="2450" spc="-55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2450" spc="-25" dirty="0">
                <a:solidFill>
                  <a:srgbClr val="383838"/>
                </a:solidFill>
                <a:latin typeface="Arial MT"/>
                <a:cs typeface="Arial MT"/>
              </a:rPr>
              <a:t>web</a:t>
            </a:r>
            <a:r>
              <a:rPr sz="2450" spc="-150" dirty="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sz="2450" spc="-50" dirty="0">
                <a:solidFill>
                  <a:srgbClr val="262626"/>
                </a:solidFill>
                <a:latin typeface="Arial MT"/>
                <a:cs typeface="Arial MT"/>
              </a:rPr>
              <a:t>dashboard,</a:t>
            </a:r>
            <a:r>
              <a:rPr sz="2450" spc="-2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2450" spc="-110" dirty="0">
                <a:solidFill>
                  <a:srgbClr val="3A3A3A"/>
                </a:solidFill>
                <a:latin typeface="Arial MT"/>
                <a:cs typeface="Arial MT"/>
              </a:rPr>
              <a:t>live</a:t>
            </a:r>
            <a:r>
              <a:rPr sz="2450" spc="-140" dirty="0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sz="2450" spc="-35" dirty="0">
                <a:solidFill>
                  <a:srgbClr val="343434"/>
                </a:solidFill>
                <a:latin typeface="Arial MT"/>
                <a:cs typeface="Arial MT"/>
              </a:rPr>
              <a:t>tracking</a:t>
            </a:r>
            <a:r>
              <a:rPr sz="2450" spc="-13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2450" spc="-25" dirty="0">
                <a:solidFill>
                  <a:srgbClr val="363636"/>
                </a:solidFill>
                <a:latin typeface="Arial MT"/>
                <a:cs typeface="Arial MT"/>
              </a:rPr>
              <a:t>UI, </a:t>
            </a:r>
            <a:r>
              <a:rPr sz="2450" dirty="0">
                <a:solidFill>
                  <a:srgbClr val="313131"/>
                </a:solidFill>
                <a:latin typeface="Arial MT"/>
                <a:cs typeface="Arial MT"/>
              </a:rPr>
              <a:t>check-in</a:t>
            </a:r>
            <a:r>
              <a:rPr sz="2450" spc="-155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232323"/>
                </a:solidFill>
                <a:latin typeface="Arial MT"/>
                <a:cs typeface="Arial MT"/>
              </a:rPr>
              <a:t>prompts.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431097" y="4451169"/>
            <a:ext cx="5779770" cy="75184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 marR="5080" indent="635">
              <a:lnSpc>
                <a:spcPts val="2780"/>
              </a:lnSpc>
              <a:spcBef>
                <a:spcPts val="320"/>
              </a:spcBef>
            </a:pPr>
            <a:r>
              <a:rPr sz="2450" spc="-50" dirty="0">
                <a:solidFill>
                  <a:srgbClr val="363636"/>
                </a:solidFill>
                <a:latin typeface="Arial MT"/>
                <a:cs typeface="Arial MT"/>
              </a:rPr>
              <a:t>Core</a:t>
            </a:r>
            <a:r>
              <a:rPr sz="2450" spc="-195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2450" spc="-105" dirty="0">
                <a:solidFill>
                  <a:srgbClr val="2F2F2F"/>
                </a:solidFill>
                <a:latin typeface="Arial MT"/>
                <a:cs typeface="Arial MT"/>
              </a:rPr>
              <a:t>business</a:t>
            </a:r>
            <a:r>
              <a:rPr sz="2450" spc="-30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3B3B3B"/>
                </a:solidFill>
                <a:latin typeface="Arial MT"/>
                <a:cs typeface="Arial MT"/>
              </a:rPr>
              <a:t>logic,</a:t>
            </a:r>
            <a:r>
              <a:rPr sz="2450" spc="-130" dirty="0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sz="2450" spc="-95" dirty="0">
                <a:solidFill>
                  <a:srgbClr val="2D2D2D"/>
                </a:solidFill>
                <a:latin typeface="Arial MT"/>
                <a:cs typeface="Arial MT"/>
              </a:rPr>
              <a:t>session</a:t>
            </a:r>
            <a:r>
              <a:rPr sz="2450" spc="-175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242424"/>
                </a:solidFill>
                <a:latin typeface="Arial MT"/>
                <a:cs typeface="Arial MT"/>
              </a:rPr>
              <a:t>control,</a:t>
            </a:r>
            <a:r>
              <a:rPr sz="2450" spc="-5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2D2D2D"/>
                </a:solidFill>
                <a:latin typeface="Arial MT"/>
                <a:cs typeface="Arial MT"/>
              </a:rPr>
              <a:t>spatial </a:t>
            </a:r>
            <a:r>
              <a:rPr sz="2450" dirty="0">
                <a:solidFill>
                  <a:srgbClr val="282828"/>
                </a:solidFill>
                <a:latin typeface="Arial MT"/>
                <a:cs typeface="Arial MT"/>
              </a:rPr>
              <a:t>workflow</a:t>
            </a:r>
            <a:r>
              <a:rPr sz="2450" spc="-165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343434"/>
                </a:solidFill>
                <a:latin typeface="Arial MT"/>
                <a:cs typeface="Arial MT"/>
              </a:rPr>
              <a:t>routing.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405728" y="5566318"/>
            <a:ext cx="6336030" cy="7600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ts val="2890"/>
              </a:lnSpc>
              <a:spcBef>
                <a:spcPts val="95"/>
              </a:spcBef>
            </a:pPr>
            <a:r>
              <a:rPr sz="2450" spc="-95" dirty="0">
                <a:solidFill>
                  <a:srgbClr val="2F2F2F"/>
                </a:solidFill>
                <a:latin typeface="Arial MT"/>
                <a:cs typeface="Arial MT"/>
              </a:rPr>
              <a:t>Relational</a:t>
            </a:r>
            <a:r>
              <a:rPr sz="2450" spc="-85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2450" spc="-110" dirty="0">
                <a:solidFill>
                  <a:srgbClr val="343434"/>
                </a:solidFill>
                <a:latin typeface="Arial MT"/>
                <a:cs typeface="Arial MT"/>
              </a:rPr>
              <a:t>schema</a:t>
            </a:r>
            <a:r>
              <a:rPr sz="2450" spc="-6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363636"/>
                </a:solidFill>
                <a:latin typeface="Arial MT"/>
                <a:cs typeface="Arial MT"/>
              </a:rPr>
              <a:t>for</a:t>
            </a:r>
            <a:r>
              <a:rPr sz="2450" spc="-165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2450" spc="-40" dirty="0">
                <a:solidFill>
                  <a:srgbClr val="343434"/>
                </a:solidFill>
                <a:latin typeface="Arial MT"/>
                <a:cs typeface="Arial MT"/>
              </a:rPr>
              <a:t>profiles,</a:t>
            </a:r>
            <a:r>
              <a:rPr sz="2450" spc="-12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3300" spc="135" baseline="-6000" dirty="0">
                <a:solidFill>
                  <a:srgbClr val="313131"/>
                </a:solidFill>
                <a:latin typeface="Arial MT"/>
                <a:cs typeface="Arial MT"/>
              </a:rPr>
              <a:t>black</a:t>
            </a:r>
            <a:r>
              <a:rPr sz="3300" spc="-44" baseline="-600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3300" spc="157" baseline="-6000" dirty="0">
                <a:solidFill>
                  <a:srgbClr val="343434"/>
                </a:solidFill>
                <a:latin typeface="Arial MT"/>
                <a:cs typeface="Arial MT"/>
              </a:rPr>
              <a:t>box</a:t>
            </a:r>
            <a:r>
              <a:rPr sz="3300" spc="-15" baseline="-600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3300" spc="112" baseline="-6000" dirty="0">
                <a:solidFill>
                  <a:srgbClr val="333333"/>
                </a:solidFill>
                <a:latin typeface="Arial MT"/>
                <a:cs typeface="Arial MT"/>
              </a:rPr>
              <a:t>logs,</a:t>
            </a:r>
            <a:r>
              <a:rPr sz="3300" spc="-187" baseline="-600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3300" b="1" spc="-75" baseline="-6000" dirty="0">
                <a:solidFill>
                  <a:srgbClr val="2B385B"/>
                </a:solidFill>
                <a:latin typeface="Arial" panose="020B0604020202020204"/>
                <a:cs typeface="Arial" panose="020B0604020202020204"/>
              </a:rPr>
              <a:t>&amp;</a:t>
            </a:r>
            <a:endParaRPr sz="3300" baseline="-6000">
              <a:latin typeface="Arial" panose="020B0604020202020204"/>
              <a:cs typeface="Arial" panose="020B0604020202020204"/>
            </a:endParaRPr>
          </a:p>
          <a:p>
            <a:pPr marL="41910">
              <a:lnSpc>
                <a:spcPts val="2890"/>
              </a:lnSpc>
            </a:pPr>
            <a:r>
              <a:rPr sz="2450" spc="-25" dirty="0">
                <a:solidFill>
                  <a:srgbClr val="343434"/>
                </a:solidFill>
                <a:latin typeface="Arial MT"/>
                <a:cs typeface="Arial MT"/>
              </a:rPr>
              <a:t>route</a:t>
            </a:r>
            <a:r>
              <a:rPr sz="2450" spc="-16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2A2A2A"/>
                </a:solidFill>
                <a:latin typeface="Arial MT"/>
                <a:cs typeface="Arial MT"/>
              </a:rPr>
              <a:t>history.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7272451" y="1101140"/>
            <a:ext cx="18688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B3B3B"/>
                </a:solidFill>
                <a:latin typeface="Arial MT"/>
                <a:cs typeface="Arial MT"/>
              </a:rPr>
              <a:t>Archifecfure</a:t>
            </a:r>
            <a:r>
              <a:rPr sz="1800" spc="5" dirty="0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F4F4F"/>
                </a:solidFill>
                <a:latin typeface="Arial MT"/>
                <a:cs typeface="Arial MT"/>
              </a:rPr>
              <a:t>Stock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7461258" y="3550673"/>
            <a:ext cx="1486535" cy="320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00" spc="-10" dirty="0">
                <a:solidFill>
                  <a:srgbClr val="1C6046"/>
                </a:solidFill>
                <a:latin typeface="Arial MT"/>
                <a:cs typeface="Arial MT"/>
              </a:rPr>
              <a:t>Implemented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7459734" y="4649461"/>
            <a:ext cx="1478280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spc="-40" dirty="0">
                <a:solidFill>
                  <a:srgbClr val="216044"/>
                </a:solidFill>
                <a:latin typeface="Arial MT"/>
                <a:cs typeface="Arial MT"/>
              </a:rPr>
              <a:t>Implemented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7464186" y="5748250"/>
            <a:ext cx="1464310" cy="359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00" b="1" spc="-210" dirty="0">
                <a:solidFill>
                  <a:srgbClr val="1A6741"/>
                </a:solidFill>
                <a:latin typeface="Arial" panose="020B0604020202020204"/>
                <a:cs typeface="Arial" panose="020B0604020202020204"/>
              </a:rPr>
              <a:t>implemented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430979" y="6681468"/>
            <a:ext cx="6336030" cy="7600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890"/>
              </a:lnSpc>
              <a:spcBef>
                <a:spcPts val="95"/>
              </a:spcBef>
            </a:pPr>
            <a:r>
              <a:rPr sz="2450" spc="-125" dirty="0">
                <a:solidFill>
                  <a:srgbClr val="242424"/>
                </a:solidFill>
                <a:latin typeface="Arial MT"/>
                <a:cs typeface="Arial MT"/>
              </a:rPr>
              <a:t>Evaluates</a:t>
            </a:r>
            <a:r>
              <a:rPr sz="245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50" spc="-60" dirty="0">
                <a:solidFill>
                  <a:srgbClr val="2F2F2F"/>
                </a:solidFill>
                <a:latin typeface="Arial MT"/>
                <a:cs typeface="Arial MT"/>
              </a:rPr>
              <a:t>travel</a:t>
            </a:r>
            <a:r>
              <a:rPr sz="2450" spc="-195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2450" spc="-105" dirty="0">
                <a:solidFill>
                  <a:srgbClr val="2F2F2F"/>
                </a:solidFill>
                <a:latin typeface="Arial MT"/>
                <a:cs typeface="Arial MT"/>
              </a:rPr>
              <a:t>anomalies,</a:t>
            </a:r>
            <a:r>
              <a:rPr sz="2450" spc="-10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2450" spc="-75" dirty="0">
                <a:solidFill>
                  <a:srgbClr val="363636"/>
                </a:solidFill>
                <a:latin typeface="Arial MT"/>
                <a:cs typeface="Arial MT"/>
              </a:rPr>
              <a:t>missed</a:t>
            </a:r>
            <a:r>
              <a:rPr sz="2450" spc="-170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383838"/>
                </a:solidFill>
                <a:latin typeface="Arial MT"/>
                <a:cs typeface="Arial MT"/>
              </a:rPr>
              <a:t>res</a:t>
            </a:r>
            <a:r>
              <a:rPr sz="2300" dirty="0">
                <a:solidFill>
                  <a:srgbClr val="2D2D2D"/>
                </a:solidFill>
                <a:latin typeface="Arial MT"/>
                <a:cs typeface="Arial MT"/>
              </a:rPr>
              <a:t>ponses,</a:t>
            </a:r>
            <a:r>
              <a:rPr sz="2300" spc="-100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2300" spc="-50" dirty="0">
                <a:solidFill>
                  <a:srgbClr val="3F3F3F"/>
                </a:solidFill>
                <a:latin typeface="Arial MT"/>
                <a:cs typeface="Arial MT"/>
              </a:rPr>
              <a:t>&amp;</a:t>
            </a:r>
            <a:endParaRPr sz="2300">
              <a:latin typeface="Arial MT"/>
              <a:cs typeface="Arial MT"/>
            </a:endParaRPr>
          </a:p>
          <a:p>
            <a:pPr marL="19050">
              <a:lnSpc>
                <a:spcPts val="2890"/>
              </a:lnSpc>
            </a:pPr>
            <a:r>
              <a:rPr sz="2450" spc="-50" dirty="0">
                <a:solidFill>
                  <a:srgbClr val="333333"/>
                </a:solidFill>
                <a:latin typeface="Arial MT"/>
                <a:cs typeface="Arial MT"/>
              </a:rPr>
              <a:t>generates</a:t>
            </a:r>
            <a:r>
              <a:rPr sz="2450" spc="-11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333333"/>
                </a:solidFill>
                <a:latin typeface="Arial MT"/>
                <a:cs typeface="Arial MT"/>
              </a:rPr>
              <a:t>alerts.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7453576" y="6847038"/>
            <a:ext cx="890269" cy="3790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300" spc="-229" dirty="0">
                <a:solidFill>
                  <a:srgbClr val="973808"/>
                </a:solidFill>
                <a:latin typeface="Arial MT"/>
                <a:cs typeface="Arial MT"/>
              </a:rPr>
              <a:t>Planned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431128" y="7796617"/>
            <a:ext cx="6224270" cy="75184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6510" marR="5080" indent="-4445">
              <a:lnSpc>
                <a:spcPts val="2780"/>
              </a:lnSpc>
              <a:spcBef>
                <a:spcPts val="320"/>
              </a:spcBef>
            </a:pPr>
            <a:r>
              <a:rPr sz="2450" spc="-70" dirty="0">
                <a:solidFill>
                  <a:srgbClr val="2F2F2F"/>
                </a:solidFill>
                <a:latin typeface="Arial MT"/>
                <a:cs typeface="Arial MT"/>
              </a:rPr>
              <a:t>Real-</a:t>
            </a:r>
            <a:r>
              <a:rPr sz="2450" spc="-55" dirty="0">
                <a:solidFill>
                  <a:srgbClr val="2F2F2F"/>
                </a:solidFill>
                <a:latin typeface="Arial MT"/>
                <a:cs typeface="Arial MT"/>
              </a:rPr>
              <a:t>time </a:t>
            </a:r>
            <a:r>
              <a:rPr sz="2450" spc="-10" dirty="0">
                <a:solidFill>
                  <a:srgbClr val="313131"/>
                </a:solidFill>
                <a:latin typeface="Arial MT"/>
                <a:cs typeface="Arial MT"/>
              </a:rPr>
              <a:t>coordinates</a:t>
            </a:r>
            <a:r>
              <a:rPr sz="2450" spc="-9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450" spc="-20" dirty="0">
                <a:solidFill>
                  <a:srgbClr val="313131"/>
                </a:solidFill>
                <a:latin typeface="Arial MT"/>
                <a:cs typeface="Arial MT"/>
              </a:rPr>
              <a:t>capture,</a:t>
            </a:r>
            <a:r>
              <a:rPr sz="2450" spc="-145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450" spc="-90" dirty="0">
                <a:solidFill>
                  <a:srgbClr val="383838"/>
                </a:solidFill>
                <a:latin typeface="Arial MT"/>
                <a:cs typeface="Arial MT"/>
              </a:rPr>
              <a:t>map</a:t>
            </a:r>
            <a:r>
              <a:rPr sz="2450" spc="-170" dirty="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sz="2450" spc="-20" dirty="0">
                <a:solidFill>
                  <a:srgbClr val="313131"/>
                </a:solidFill>
                <a:latin typeface="Arial MT"/>
                <a:cs typeface="Arial MT"/>
              </a:rPr>
              <a:t>rendering, </a:t>
            </a:r>
            <a:r>
              <a:rPr sz="2450" spc="-10" dirty="0">
                <a:solidFill>
                  <a:srgbClr val="363636"/>
                </a:solidFill>
                <a:latin typeface="Arial MT"/>
                <a:cs typeface="Arial MT"/>
              </a:rPr>
              <a:t>route</a:t>
            </a:r>
            <a:r>
              <a:rPr sz="2450" spc="-155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262626"/>
                </a:solidFill>
                <a:latin typeface="Arial MT"/>
                <a:cs typeface="Arial MT"/>
              </a:rPr>
              <a:t>geofencing.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433751" y="8903913"/>
            <a:ext cx="5468620" cy="767715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6510" marR="5080" indent="-4445">
              <a:lnSpc>
                <a:spcPts val="2910"/>
              </a:lnSpc>
              <a:spcBef>
                <a:spcPts val="220"/>
              </a:spcBef>
            </a:pPr>
            <a:r>
              <a:rPr sz="2450" spc="-50" dirty="0">
                <a:solidFill>
                  <a:srgbClr val="2D2D2D"/>
                </a:solidFill>
                <a:latin typeface="Arial MT"/>
                <a:cs typeface="Arial MT"/>
              </a:rPr>
              <a:t>Stateless</a:t>
            </a:r>
            <a:r>
              <a:rPr sz="2450" spc="-140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2450" spc="-35" dirty="0">
                <a:solidFill>
                  <a:srgbClr val="262626"/>
                </a:solidFill>
                <a:latin typeface="Arial MT"/>
                <a:cs typeface="Arial MT"/>
              </a:rPr>
              <a:t>authentication,</a:t>
            </a:r>
            <a:r>
              <a:rPr sz="2450" spc="-19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2450" spc="-20" dirty="0">
                <a:solidFill>
                  <a:srgbClr val="2A2A2A"/>
                </a:solidFill>
                <a:latin typeface="Arial MT"/>
                <a:cs typeface="Arial MT"/>
              </a:rPr>
              <a:t>encryption,</a:t>
            </a:r>
            <a:r>
              <a:rPr sz="2450" spc="2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2450" spc="-25" dirty="0">
                <a:solidFill>
                  <a:srgbClr val="383838"/>
                </a:solidFill>
                <a:latin typeface="Arial MT"/>
                <a:cs typeface="Arial MT"/>
              </a:rPr>
              <a:t>and </a:t>
            </a:r>
            <a:r>
              <a:rPr sz="2450" spc="-85" dirty="0">
                <a:solidFill>
                  <a:srgbClr val="383838"/>
                </a:solidFill>
                <a:latin typeface="Arial MT"/>
                <a:cs typeface="Arial MT"/>
              </a:rPr>
              <a:t>secure</a:t>
            </a:r>
            <a:r>
              <a:rPr sz="2450" spc="-150" dirty="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sz="2450" spc="-315" dirty="0">
                <a:solidFill>
                  <a:srgbClr val="343434"/>
                </a:solidFill>
                <a:latin typeface="Arial MT"/>
                <a:cs typeface="Arial MT"/>
              </a:rPr>
              <a:t>REST</a:t>
            </a:r>
            <a:r>
              <a:rPr sz="2450" spc="-15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2F2F2F"/>
                </a:solidFill>
                <a:latin typeface="Arial MT"/>
                <a:cs typeface="Arial MT"/>
              </a:rPr>
              <a:t>endpoints.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7461258" y="8011269"/>
            <a:ext cx="1486535" cy="320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00" spc="-10" dirty="0">
                <a:solidFill>
                  <a:srgbClr val="156444"/>
                </a:solidFill>
                <a:latin typeface="Arial MT"/>
                <a:cs typeface="Arial MT"/>
              </a:rPr>
              <a:t>Implemented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7459734" y="9110058"/>
            <a:ext cx="1478280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spc="-40" dirty="0">
                <a:solidFill>
                  <a:srgbClr val="1A6244"/>
                </a:solidFill>
                <a:latin typeface="Arial MT"/>
                <a:cs typeface="Arial MT"/>
              </a:rPr>
              <a:t>Implemented</a:t>
            </a:r>
            <a:endParaRPr sz="20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8197" y="6172586"/>
            <a:ext cx="18682970" cy="272542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3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23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23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130"/>
              </a:spcBef>
            </a:pPr>
            <a:endParaRPr sz="2300">
              <a:latin typeface="Times New Roman" panose="02020603050405020304"/>
              <a:cs typeface="Times New Roman" panose="02020603050405020304"/>
            </a:endParaRPr>
          </a:p>
          <a:p>
            <a:pPr marL="1569720">
              <a:lnSpc>
                <a:spcPct val="100000"/>
              </a:lnSpc>
              <a:tabLst>
                <a:tab pos="7845425" algn="l"/>
                <a:tab pos="13820140" algn="l"/>
              </a:tabLst>
            </a:pP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Geolocation</a:t>
            </a:r>
            <a:r>
              <a:rPr sz="2450" spc="1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105" dirty="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2450" spc="-1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95" dirty="0">
                <a:solidFill>
                  <a:srgbClr val="FFFFFF"/>
                </a:solidFill>
                <a:latin typeface="Arial MT"/>
                <a:cs typeface="Arial MT"/>
              </a:rPr>
              <a:t>Maps</a:t>
            </a:r>
            <a:r>
              <a:rPr sz="245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25" dirty="0">
                <a:solidFill>
                  <a:srgbClr val="FFFFFF"/>
                </a:solidFill>
                <a:latin typeface="Arial MT"/>
                <a:cs typeface="Arial MT"/>
              </a:rPr>
              <a:t>API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2300" spc="95" dirty="0">
                <a:solidFill>
                  <a:srgbClr val="FFFFFF"/>
                </a:solidFill>
                <a:latin typeface="Arial MT"/>
                <a:cs typeface="Arial MT"/>
              </a:rPr>
              <a:t>Notification</a:t>
            </a:r>
            <a:r>
              <a:rPr sz="23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65" dirty="0">
                <a:solidFill>
                  <a:srgbClr val="FFFFFF"/>
                </a:solidFill>
                <a:latin typeface="Arial MT"/>
                <a:cs typeface="Arial MT"/>
              </a:rPr>
              <a:t>Gateway</a:t>
            </a:r>
            <a:r>
              <a:rPr sz="230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2300" spc="65" dirty="0">
                <a:solidFill>
                  <a:srgbClr val="FFFFFF"/>
                </a:solidFill>
                <a:latin typeface="Arial MT"/>
                <a:cs typeface="Arial MT"/>
              </a:rPr>
              <a:t>Volunteer</a:t>
            </a:r>
            <a:r>
              <a:rPr sz="230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110" dirty="0">
                <a:solidFill>
                  <a:srgbClr val="FFFFFF"/>
                </a:solidFill>
                <a:latin typeface="Arial MT"/>
                <a:cs typeface="Arial MT"/>
              </a:rPr>
              <a:t>Support</a:t>
            </a:r>
            <a:r>
              <a:rPr sz="2300"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-25" dirty="0">
                <a:solidFill>
                  <a:srgbClr val="FFFFFF"/>
                </a:solidFill>
                <a:latin typeface="Arial MT"/>
                <a:cs typeface="Arial MT"/>
              </a:rPr>
              <a:t>Hub</a:t>
            </a:r>
            <a:endParaRPr sz="23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722399" y="3879463"/>
            <a:ext cx="471189" cy="40836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83928" y="3879463"/>
            <a:ext cx="408364" cy="40836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68870" y="3895169"/>
            <a:ext cx="408364" cy="3769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957629" y="3690987"/>
            <a:ext cx="361245" cy="40836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37297" y="565816"/>
            <a:ext cx="2421255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spc="-225" dirty="0">
                <a:solidFill>
                  <a:srgbClr val="DD2F54"/>
                </a:solidFill>
                <a:latin typeface="Arial MT"/>
                <a:cs typeface="Arial MT"/>
              </a:rPr>
              <a:t>SYST</a:t>
            </a:r>
            <a:r>
              <a:rPr sz="2050" spc="-275" dirty="0">
                <a:solidFill>
                  <a:srgbClr val="DD2F54"/>
                </a:solidFill>
                <a:latin typeface="Arial MT"/>
                <a:cs typeface="Arial MT"/>
              </a:rPr>
              <a:t> </a:t>
            </a:r>
            <a:r>
              <a:rPr sz="2050" spc="-114" dirty="0">
                <a:solidFill>
                  <a:srgbClr val="ED1148"/>
                </a:solidFill>
                <a:latin typeface="Arial MT"/>
                <a:cs typeface="Arial MT"/>
              </a:rPr>
              <a:t>EM</a:t>
            </a:r>
            <a:r>
              <a:rPr sz="2050" spc="50" dirty="0">
                <a:solidFill>
                  <a:srgbClr val="ED1148"/>
                </a:solidFill>
                <a:latin typeface="Arial MT"/>
                <a:cs typeface="Arial MT"/>
              </a:rPr>
              <a:t> </a:t>
            </a:r>
            <a:r>
              <a:rPr sz="2050" spc="-160" dirty="0">
                <a:solidFill>
                  <a:srgbClr val="CD1A41"/>
                </a:solidFill>
                <a:latin typeface="Arial MT"/>
                <a:cs typeface="Arial MT"/>
              </a:rPr>
              <a:t>BLUE</a:t>
            </a:r>
            <a:r>
              <a:rPr sz="2050" spc="-365" dirty="0">
                <a:solidFill>
                  <a:srgbClr val="CD1A41"/>
                </a:solidFill>
                <a:latin typeface="Arial MT"/>
                <a:cs typeface="Arial MT"/>
              </a:rPr>
              <a:t> </a:t>
            </a:r>
            <a:r>
              <a:rPr sz="2050" spc="-75" dirty="0">
                <a:solidFill>
                  <a:srgbClr val="D82150"/>
                </a:solidFill>
                <a:latin typeface="Arial MT"/>
                <a:cs typeface="Arial MT"/>
              </a:rPr>
              <a:t>PRI</a:t>
            </a:r>
            <a:r>
              <a:rPr sz="2050" spc="-75" dirty="0">
                <a:solidFill>
                  <a:srgbClr val="D4114B"/>
                </a:solidFill>
                <a:latin typeface="Arial MT"/>
                <a:cs typeface="Arial MT"/>
              </a:rPr>
              <a:t>NT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45150" y="10375655"/>
            <a:ext cx="4478020" cy="318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75"/>
              </a:lnSpc>
            </a:pPr>
            <a:r>
              <a:rPr sz="2050" spc="-140" dirty="0">
                <a:solidFill>
                  <a:srgbClr val="666666"/>
                </a:solidFill>
                <a:latin typeface="Arial MT"/>
                <a:cs typeface="Arial MT"/>
              </a:rPr>
              <a:t>Safe</a:t>
            </a:r>
            <a:r>
              <a:rPr sz="2050" spc="-34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2050" spc="-150" dirty="0">
                <a:solidFill>
                  <a:srgbClr val="676767"/>
                </a:solidFill>
                <a:latin typeface="Arial MT"/>
                <a:cs typeface="Arial MT"/>
              </a:rPr>
              <a:t>Her:</a:t>
            </a:r>
            <a:r>
              <a:rPr sz="2050" spc="-85" dirty="0">
                <a:solidFill>
                  <a:srgbClr val="676767"/>
                </a:solidFill>
                <a:latin typeface="Arial MT"/>
                <a:cs typeface="Arial MT"/>
              </a:rPr>
              <a:t> </a:t>
            </a:r>
            <a:r>
              <a:rPr sz="2050" spc="-35" dirty="0">
                <a:solidFill>
                  <a:srgbClr val="696969"/>
                </a:solidFill>
                <a:latin typeface="Arial MT"/>
                <a:cs typeface="Arial MT"/>
              </a:rPr>
              <a:t>Al-</a:t>
            </a:r>
            <a:r>
              <a:rPr sz="2050" spc="-165" dirty="0">
                <a:solidFill>
                  <a:srgbClr val="707070"/>
                </a:solidFill>
                <a:latin typeface="Arial MT"/>
                <a:cs typeface="Arial MT"/>
              </a:rPr>
              <a:t>Driven</a:t>
            </a:r>
            <a:r>
              <a:rPr sz="2050" spc="-80" dirty="0">
                <a:solidFill>
                  <a:srgbClr val="707070"/>
                </a:solidFill>
                <a:latin typeface="Arial MT"/>
                <a:cs typeface="Arial MT"/>
              </a:rPr>
              <a:t> </a:t>
            </a:r>
            <a:r>
              <a:rPr sz="2050" spc="-180" dirty="0">
                <a:solidFill>
                  <a:srgbClr val="6B6B6B"/>
                </a:solidFill>
                <a:latin typeface="Arial MT"/>
                <a:cs typeface="Arial MT"/>
              </a:rPr>
              <a:t>Women</a:t>
            </a:r>
            <a:r>
              <a:rPr sz="2050" spc="-114" dirty="0">
                <a:solidFill>
                  <a:srgbClr val="6B6B6B"/>
                </a:solidFill>
                <a:latin typeface="Arial MT"/>
                <a:cs typeface="Arial MT"/>
              </a:rPr>
              <a:t> </a:t>
            </a:r>
            <a:r>
              <a:rPr sz="2050" spc="-95" dirty="0">
                <a:solidFill>
                  <a:srgbClr val="696969"/>
                </a:solidFill>
                <a:latin typeface="Arial MT"/>
                <a:cs typeface="Arial MT"/>
              </a:rPr>
              <a:t>Safety</a:t>
            </a:r>
            <a:r>
              <a:rPr sz="2050" spc="-35" dirty="0">
                <a:solidFill>
                  <a:srgbClr val="696969"/>
                </a:solidFill>
                <a:latin typeface="Arial MT"/>
                <a:cs typeface="Arial MT"/>
              </a:rPr>
              <a:t> </a:t>
            </a:r>
            <a:r>
              <a:rPr sz="2050" spc="-145" dirty="0">
                <a:solidFill>
                  <a:srgbClr val="6B6B6B"/>
                </a:solidFill>
                <a:latin typeface="Arial MT"/>
                <a:cs typeface="Arial MT"/>
              </a:rPr>
              <a:t>Platf</a:t>
            </a:r>
            <a:r>
              <a:rPr sz="2050" spc="-135" dirty="0">
                <a:solidFill>
                  <a:srgbClr val="6B6B6B"/>
                </a:solidFill>
                <a:latin typeface="Arial MT"/>
                <a:cs typeface="Arial MT"/>
              </a:rPr>
              <a:t> </a:t>
            </a:r>
            <a:r>
              <a:rPr sz="2050" spc="-45" dirty="0">
                <a:solidFill>
                  <a:srgbClr val="707070"/>
                </a:solidFill>
                <a:latin typeface="Arial MT"/>
                <a:cs typeface="Arial MT"/>
              </a:rPr>
              <a:t>orm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535">
              <a:lnSpc>
                <a:spcPts val="2375"/>
              </a:lnSpc>
            </a:pPr>
            <a:r>
              <a:rPr sz="2050" spc="-155" dirty="0">
                <a:solidFill>
                  <a:srgbClr val="696969"/>
                </a:solidFill>
              </a:rPr>
              <a:t>Slide</a:t>
            </a:r>
            <a:r>
              <a:rPr sz="2050" spc="-55" dirty="0">
                <a:solidFill>
                  <a:srgbClr val="696969"/>
                </a:solidFill>
              </a:rPr>
              <a:t> </a:t>
            </a:r>
            <a:fld id="{81D60167-4931-47E6-BA6A-407CBD079E47}" type="slidenum">
              <a:rPr sz="2050" spc="-50" dirty="0">
                <a:solidFill>
                  <a:srgbClr val="696969"/>
                </a:solidFill>
              </a:rPr>
            </a:fld>
            <a:endParaRPr sz="2050"/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734622" y="902847"/>
            <a:ext cx="6296660" cy="594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700" spc="-85" dirty="0">
                <a:solidFill>
                  <a:srgbClr val="0F0F0F"/>
                </a:solidFill>
              </a:rPr>
              <a:t>High-</a:t>
            </a:r>
            <a:r>
              <a:rPr sz="3700" spc="-75" dirty="0">
                <a:solidFill>
                  <a:srgbClr val="0F0F0F"/>
                </a:solidFill>
              </a:rPr>
              <a:t>Level</a:t>
            </a:r>
            <a:r>
              <a:rPr sz="3700" spc="-195" dirty="0">
                <a:solidFill>
                  <a:srgbClr val="0F0F0F"/>
                </a:solidFill>
              </a:rPr>
              <a:t> </a:t>
            </a:r>
            <a:r>
              <a:rPr sz="3700" spc="-190" dirty="0">
                <a:solidFill>
                  <a:srgbClr val="111111"/>
                </a:solidFill>
              </a:rPr>
              <a:t>System</a:t>
            </a:r>
            <a:r>
              <a:rPr sz="3700" spc="-215" dirty="0">
                <a:solidFill>
                  <a:srgbClr val="111111"/>
                </a:solidFill>
              </a:rPr>
              <a:t> </a:t>
            </a:r>
            <a:r>
              <a:rPr sz="3700" spc="-10" dirty="0">
                <a:solidFill>
                  <a:srgbClr val="131313"/>
                </a:solidFill>
              </a:rPr>
              <a:t>Architecture</a:t>
            </a:r>
            <a:endParaRPr sz="3700"/>
          </a:p>
        </p:txBody>
      </p:sp>
      <p:sp>
        <p:nvSpPr>
          <p:cNvPr id="9" name="object 9"/>
          <p:cNvSpPr txBox="1"/>
          <p:nvPr/>
        </p:nvSpPr>
        <p:spPr>
          <a:xfrm>
            <a:off x="2744170" y="4365438"/>
            <a:ext cx="2400300" cy="3790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300" spc="-40" dirty="0">
                <a:solidFill>
                  <a:srgbClr val="161616"/>
                </a:solidFill>
                <a:latin typeface="Arial MT"/>
                <a:cs typeface="Arial MT"/>
              </a:rPr>
              <a:t>User</a:t>
            </a:r>
            <a:r>
              <a:rPr sz="2300" spc="-8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2300" spc="-60" dirty="0">
                <a:solidFill>
                  <a:srgbClr val="111111"/>
                </a:solidFill>
                <a:latin typeface="Arial MT"/>
                <a:cs typeface="Arial MT"/>
              </a:rPr>
              <a:t>Web</a:t>
            </a:r>
            <a:r>
              <a:rPr sz="2300" spc="-26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0C0C0C"/>
                </a:solidFill>
                <a:latin typeface="Arial MT"/>
                <a:cs typeface="Arial MT"/>
              </a:rPr>
              <a:t>Browser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17932" y="4775112"/>
            <a:ext cx="1464310" cy="62230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97790" marR="5080" indent="-85725">
              <a:lnSpc>
                <a:spcPts val="2230"/>
              </a:lnSpc>
              <a:spcBef>
                <a:spcPts val="375"/>
              </a:spcBef>
              <a:tabLst>
                <a:tab pos="816610" algn="l"/>
              </a:tabLst>
            </a:pPr>
            <a:r>
              <a:rPr sz="2050" spc="-320" dirty="0">
                <a:solidFill>
                  <a:srgbClr val="727272"/>
                </a:solidFill>
                <a:latin typeface="Arial MT"/>
                <a:cs typeface="Arial MT"/>
              </a:rPr>
              <a:t>Re</a:t>
            </a:r>
            <a:r>
              <a:rPr sz="2050" spc="-315" dirty="0">
                <a:solidFill>
                  <a:srgbClr val="727272"/>
                </a:solidFill>
                <a:latin typeface="Arial MT"/>
                <a:cs typeface="Arial MT"/>
              </a:rPr>
              <a:t> </a:t>
            </a:r>
            <a:r>
              <a:rPr sz="2050" spc="-25" dirty="0">
                <a:solidFill>
                  <a:srgbClr val="676767"/>
                </a:solidFill>
                <a:latin typeface="Arial MT"/>
                <a:cs typeface="Arial MT"/>
              </a:rPr>
              <a:t>act</a:t>
            </a:r>
            <a:r>
              <a:rPr sz="2050" dirty="0">
                <a:solidFill>
                  <a:srgbClr val="676767"/>
                </a:solidFill>
                <a:latin typeface="Arial MT"/>
                <a:cs typeface="Arial MT"/>
              </a:rPr>
              <a:t>	</a:t>
            </a:r>
            <a:r>
              <a:rPr sz="2050" spc="-145" dirty="0">
                <a:solidFill>
                  <a:srgbClr val="6D6D6D"/>
                </a:solidFill>
                <a:latin typeface="Arial MT"/>
                <a:cs typeface="Arial MT"/>
              </a:rPr>
              <a:t>Vite</a:t>
            </a:r>
            <a:r>
              <a:rPr sz="2050" spc="-120" dirty="0">
                <a:solidFill>
                  <a:srgbClr val="6D6D6D"/>
                </a:solidFill>
                <a:latin typeface="Arial MT"/>
                <a:cs typeface="Arial MT"/>
              </a:rPr>
              <a:t> </a:t>
            </a:r>
            <a:r>
              <a:rPr sz="2050" spc="-285" dirty="0">
                <a:solidFill>
                  <a:srgbClr val="707070"/>
                </a:solidFill>
                <a:latin typeface="Arial MT"/>
                <a:cs typeface="Arial MT"/>
              </a:rPr>
              <a:t>U</a:t>
            </a:r>
            <a:r>
              <a:rPr sz="2050" spc="-285" dirty="0">
                <a:solidFill>
                  <a:srgbClr val="7E93A8"/>
                </a:solidFill>
                <a:latin typeface="Arial MT"/>
                <a:cs typeface="Arial MT"/>
              </a:rPr>
              <a:t>I </a:t>
            </a:r>
            <a:r>
              <a:rPr sz="2050" spc="-135" dirty="0">
                <a:solidFill>
                  <a:srgbClr val="6D6D6D"/>
                </a:solidFill>
                <a:latin typeface="Arial MT"/>
                <a:cs typeface="Arial MT"/>
              </a:rPr>
              <a:t>Taiwind</a:t>
            </a:r>
            <a:r>
              <a:rPr sz="2050" spc="-185" dirty="0">
                <a:solidFill>
                  <a:srgbClr val="6D6D6D"/>
                </a:solidFill>
                <a:latin typeface="Arial MT"/>
                <a:cs typeface="Arial MT"/>
              </a:rPr>
              <a:t> </a:t>
            </a:r>
            <a:r>
              <a:rPr sz="2050" spc="-300" dirty="0">
                <a:solidFill>
                  <a:srgbClr val="696969"/>
                </a:solidFill>
                <a:latin typeface="Arial MT"/>
                <a:cs typeface="Arial MT"/>
              </a:rPr>
              <a:t>CSS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041184" y="4286130"/>
            <a:ext cx="2056130" cy="111125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90"/>
              </a:spcBef>
            </a:pPr>
            <a:r>
              <a:rPr sz="2450" spc="-70" dirty="0">
                <a:solidFill>
                  <a:srgbClr val="0C0C0C"/>
                </a:solidFill>
                <a:latin typeface="Arial MT"/>
                <a:cs typeface="Arial MT"/>
              </a:rPr>
              <a:t>Spring</a:t>
            </a:r>
            <a:r>
              <a:rPr sz="2450" spc="-155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2450" spc="-85" dirty="0">
                <a:solidFill>
                  <a:srgbClr val="0A0A0A"/>
                </a:solidFill>
                <a:latin typeface="Arial MT"/>
                <a:cs typeface="Arial MT"/>
              </a:rPr>
              <a:t>Boot</a:t>
            </a:r>
            <a:r>
              <a:rPr sz="2450" spc="-240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2450" spc="-50" dirty="0">
                <a:solidFill>
                  <a:srgbClr val="0E0E0E"/>
                </a:solidFill>
                <a:latin typeface="Arial MT"/>
                <a:cs typeface="Arial MT"/>
              </a:rPr>
              <a:t>API</a:t>
            </a:r>
            <a:endParaRPr sz="2450">
              <a:latin typeface="Arial MT"/>
              <a:cs typeface="Arial MT"/>
            </a:endParaRPr>
          </a:p>
          <a:p>
            <a:pPr marL="170815" marR="185420" indent="11430" algn="ctr">
              <a:lnSpc>
                <a:spcPts val="2230"/>
              </a:lnSpc>
              <a:spcBef>
                <a:spcPts val="695"/>
              </a:spcBef>
            </a:pPr>
            <a:r>
              <a:rPr sz="2050" spc="-225" dirty="0">
                <a:solidFill>
                  <a:srgbClr val="696969"/>
                </a:solidFill>
                <a:latin typeface="Arial MT"/>
                <a:cs typeface="Arial MT"/>
              </a:rPr>
              <a:t>JWTAuth</a:t>
            </a:r>
            <a:r>
              <a:rPr sz="2050" spc="-105" dirty="0">
                <a:solidFill>
                  <a:srgbClr val="696969"/>
                </a:solidFill>
                <a:latin typeface="Arial MT"/>
                <a:cs typeface="Arial MT"/>
              </a:rPr>
              <a:t> </a:t>
            </a:r>
            <a:r>
              <a:rPr sz="2050" spc="-10" dirty="0">
                <a:solidFill>
                  <a:srgbClr val="5E5E5E"/>
                </a:solidFill>
                <a:latin typeface="Arial MT"/>
                <a:cs typeface="Arial MT"/>
              </a:rPr>
              <a:t>Layer </a:t>
            </a:r>
            <a:r>
              <a:rPr sz="2050" spc="-360" dirty="0">
                <a:solidFill>
                  <a:srgbClr val="5D5D5D"/>
                </a:solidFill>
                <a:latin typeface="Arial MT"/>
                <a:cs typeface="Arial MT"/>
              </a:rPr>
              <a:t>REST</a:t>
            </a:r>
            <a:r>
              <a:rPr sz="2050" spc="-180" dirty="0">
                <a:solidFill>
                  <a:srgbClr val="5D5D5D"/>
                </a:solidFill>
                <a:latin typeface="Arial MT"/>
                <a:cs typeface="Arial MT"/>
              </a:rPr>
              <a:t> </a:t>
            </a:r>
            <a:r>
              <a:rPr sz="2050" spc="-100" dirty="0">
                <a:solidFill>
                  <a:srgbClr val="6B6B6B"/>
                </a:solidFill>
                <a:latin typeface="Arial MT"/>
                <a:cs typeface="Arial MT"/>
              </a:rPr>
              <a:t>Controllers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162784" y="4302123"/>
            <a:ext cx="2041525" cy="109537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15"/>
              </a:spcBef>
            </a:pPr>
            <a:r>
              <a:rPr sz="2300" dirty="0">
                <a:solidFill>
                  <a:srgbClr val="131313"/>
                </a:solidFill>
                <a:latin typeface="Arial MT"/>
                <a:cs typeface="Arial MT"/>
              </a:rPr>
              <a:t>AI</a:t>
            </a:r>
            <a:r>
              <a:rPr sz="2300" spc="-31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0F0F0F"/>
                </a:solidFill>
                <a:latin typeface="Arial MT"/>
                <a:cs typeface="Arial MT"/>
              </a:rPr>
              <a:t>/</a:t>
            </a:r>
            <a:r>
              <a:rPr sz="2300" spc="-9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2300" spc="-75" dirty="0">
                <a:solidFill>
                  <a:srgbClr val="0C1C3F"/>
                </a:solidFill>
                <a:latin typeface="Arial MT"/>
                <a:cs typeface="Arial MT"/>
              </a:rPr>
              <a:t>Risk</a:t>
            </a:r>
            <a:r>
              <a:rPr sz="2300" spc="-145" dirty="0">
                <a:solidFill>
                  <a:srgbClr val="0C1C3F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131313"/>
                </a:solidFill>
                <a:latin typeface="Arial MT"/>
                <a:cs typeface="Arial MT"/>
              </a:rPr>
              <a:t>Module</a:t>
            </a:r>
            <a:endParaRPr sz="2300">
              <a:latin typeface="Arial MT"/>
              <a:cs typeface="Arial MT"/>
            </a:endParaRPr>
          </a:p>
          <a:p>
            <a:pPr marL="163830" marR="172720" algn="ctr">
              <a:lnSpc>
                <a:spcPts val="2230"/>
              </a:lnSpc>
              <a:spcBef>
                <a:spcPts val="725"/>
              </a:spcBef>
            </a:pPr>
            <a:r>
              <a:rPr sz="2050" spc="-150" dirty="0">
                <a:solidFill>
                  <a:srgbClr val="6B6B6B"/>
                </a:solidFill>
                <a:latin typeface="Arial MT"/>
                <a:cs typeface="Arial MT"/>
              </a:rPr>
              <a:t>Rsk</a:t>
            </a:r>
            <a:r>
              <a:rPr sz="2050" spc="-30" dirty="0">
                <a:solidFill>
                  <a:srgbClr val="6B6B6B"/>
                </a:solidFill>
                <a:latin typeface="Arial MT"/>
                <a:cs typeface="Arial MT"/>
              </a:rPr>
              <a:t> </a:t>
            </a:r>
            <a:r>
              <a:rPr sz="2050" spc="-240" dirty="0">
                <a:solidFill>
                  <a:srgbClr val="696969"/>
                </a:solidFill>
                <a:latin typeface="Arial MT"/>
                <a:cs typeface="Arial MT"/>
              </a:rPr>
              <a:t>Asse</a:t>
            </a:r>
            <a:r>
              <a:rPr sz="2050" spc="-265" dirty="0">
                <a:solidFill>
                  <a:srgbClr val="696969"/>
                </a:solidFill>
                <a:latin typeface="Arial MT"/>
                <a:cs typeface="Arial MT"/>
              </a:rPr>
              <a:t> </a:t>
            </a:r>
            <a:r>
              <a:rPr sz="2050" spc="-140" dirty="0">
                <a:solidFill>
                  <a:srgbClr val="646464"/>
                </a:solidFill>
                <a:latin typeface="Arial MT"/>
                <a:cs typeface="Arial MT"/>
              </a:rPr>
              <a:t>ssment </a:t>
            </a:r>
            <a:r>
              <a:rPr sz="2050" spc="-210" dirty="0">
                <a:solidFill>
                  <a:srgbClr val="676767"/>
                </a:solidFill>
                <a:latin typeface="Arial MT"/>
                <a:cs typeface="Arial MT"/>
              </a:rPr>
              <a:t>Anom</a:t>
            </a:r>
            <a:r>
              <a:rPr sz="2050" spc="-325" dirty="0">
                <a:solidFill>
                  <a:srgbClr val="676767"/>
                </a:solidFill>
                <a:latin typeface="Arial MT"/>
                <a:cs typeface="Arial MT"/>
              </a:rPr>
              <a:t> </a:t>
            </a:r>
            <a:r>
              <a:rPr sz="2050" spc="-20" dirty="0">
                <a:solidFill>
                  <a:srgbClr val="676767"/>
                </a:solidFill>
                <a:latin typeface="Arial MT"/>
                <a:cs typeface="Arial MT"/>
              </a:rPr>
              <a:t>ay</a:t>
            </a:r>
            <a:r>
              <a:rPr sz="2050" spc="-105" dirty="0">
                <a:solidFill>
                  <a:srgbClr val="676767"/>
                </a:solidFill>
                <a:latin typeface="Arial MT"/>
                <a:cs typeface="Arial MT"/>
              </a:rPr>
              <a:t> </a:t>
            </a:r>
            <a:r>
              <a:rPr sz="2050" spc="-10" dirty="0">
                <a:solidFill>
                  <a:srgbClr val="5D5D5D"/>
                </a:solidFill>
                <a:latin typeface="Arial MT"/>
                <a:cs typeface="Arial MT"/>
              </a:rPr>
              <a:t>Logic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256701" y="4176962"/>
            <a:ext cx="1760855" cy="139319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8415" marR="33655" algn="ctr">
              <a:lnSpc>
                <a:spcPct val="103000"/>
              </a:lnSpc>
              <a:spcBef>
                <a:spcPts val="30"/>
              </a:spcBef>
            </a:pPr>
            <a:r>
              <a:rPr sz="2300" spc="-10" dirty="0">
                <a:solidFill>
                  <a:srgbClr val="0A0A0A"/>
                </a:solidFill>
                <a:latin typeface="Arial MT"/>
                <a:cs typeface="Arial MT"/>
              </a:rPr>
              <a:t>PostgreSQL/ Supabase</a:t>
            </a:r>
            <a:endParaRPr sz="2300">
              <a:latin typeface="Arial MT"/>
              <a:cs typeface="Arial MT"/>
            </a:endParaRPr>
          </a:p>
          <a:p>
            <a:pPr marL="12700" marR="5080" indent="13335" algn="ctr">
              <a:lnSpc>
                <a:spcPts val="2230"/>
              </a:lnSpc>
              <a:spcBef>
                <a:spcPts val="725"/>
              </a:spcBef>
            </a:pPr>
            <a:r>
              <a:rPr sz="2050" spc="-190" dirty="0">
                <a:solidFill>
                  <a:srgbClr val="6D6D6D"/>
                </a:solidFill>
                <a:latin typeface="Arial MT"/>
                <a:cs typeface="Arial MT"/>
              </a:rPr>
              <a:t>User</a:t>
            </a:r>
            <a:r>
              <a:rPr sz="2050" spc="-75" dirty="0">
                <a:solidFill>
                  <a:srgbClr val="6D6D6D"/>
                </a:solidFill>
                <a:latin typeface="Arial MT"/>
                <a:cs typeface="Arial MT"/>
              </a:rPr>
              <a:t> </a:t>
            </a:r>
            <a:r>
              <a:rPr sz="2050" spc="-150" dirty="0">
                <a:solidFill>
                  <a:srgbClr val="646464"/>
                </a:solidFill>
                <a:latin typeface="Arial MT"/>
                <a:cs typeface="Arial MT"/>
              </a:rPr>
              <a:t>Records</a:t>
            </a:r>
            <a:r>
              <a:rPr sz="2050" spc="-20" dirty="0">
                <a:solidFill>
                  <a:srgbClr val="646464"/>
                </a:solidFill>
                <a:latin typeface="Arial MT"/>
                <a:cs typeface="Arial MT"/>
              </a:rPr>
              <a:t> </a:t>
            </a:r>
            <a:r>
              <a:rPr sz="2050" spc="-50" dirty="0">
                <a:solidFill>
                  <a:srgbClr val="606D7E"/>
                </a:solidFill>
                <a:latin typeface="Arial MT"/>
                <a:cs typeface="Arial MT"/>
              </a:rPr>
              <a:t>&amp; </a:t>
            </a:r>
            <a:r>
              <a:rPr sz="2050" spc="-145" dirty="0">
                <a:solidFill>
                  <a:srgbClr val="6E6E6E"/>
                </a:solidFill>
                <a:latin typeface="Arial MT"/>
                <a:cs typeface="Arial MT"/>
              </a:rPr>
              <a:t>Emerpe</a:t>
            </a:r>
            <a:r>
              <a:rPr sz="2050" spc="-275" dirty="0">
                <a:solidFill>
                  <a:srgbClr val="6E6E6E"/>
                </a:solidFill>
                <a:latin typeface="Arial MT"/>
                <a:cs typeface="Arial MT"/>
              </a:rPr>
              <a:t> </a:t>
            </a:r>
            <a:r>
              <a:rPr sz="2050" spc="-165" dirty="0">
                <a:solidFill>
                  <a:srgbClr val="C6C6C6"/>
                </a:solidFill>
                <a:latin typeface="Arial MT"/>
                <a:cs typeface="Arial MT"/>
              </a:rPr>
              <a:t>ncy</a:t>
            </a:r>
            <a:r>
              <a:rPr sz="2050" spc="-50" dirty="0">
                <a:solidFill>
                  <a:srgbClr val="C6C6C6"/>
                </a:solidFill>
                <a:latin typeface="Arial MT"/>
                <a:cs typeface="Arial MT"/>
              </a:rPr>
              <a:t> </a:t>
            </a:r>
            <a:r>
              <a:rPr sz="2050" spc="-170" dirty="0">
                <a:solidFill>
                  <a:srgbClr val="696969"/>
                </a:solidFill>
                <a:latin typeface="Arial MT"/>
                <a:cs typeface="Arial MT"/>
              </a:rPr>
              <a:t>Logs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668723" y="1068418"/>
            <a:ext cx="1454785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spc="-215" dirty="0">
                <a:solidFill>
                  <a:srgbClr val="3D3D3D"/>
                </a:solidFill>
                <a:latin typeface="Arial MT"/>
                <a:cs typeface="Arial MT"/>
              </a:rPr>
              <a:t>Sysfem</a:t>
            </a:r>
            <a:r>
              <a:rPr sz="2050" spc="-100" dirty="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sz="2050" spc="-190" dirty="0">
                <a:solidFill>
                  <a:srgbClr val="3F3F3F"/>
                </a:solidFill>
                <a:latin typeface="Arial MT"/>
                <a:cs typeface="Arial MT"/>
              </a:rPr>
              <a:t>Design</a:t>
            </a:r>
            <a:endParaRPr sz="20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489270" y="6651629"/>
            <a:ext cx="3196590" cy="71120"/>
            <a:chOff x="8489270" y="6651629"/>
            <a:chExt cx="3196590" cy="71120"/>
          </a:xfrm>
        </p:grpSpPr>
        <p:sp>
          <p:nvSpPr>
            <p:cNvPr id="3" name="object 3"/>
            <p:cNvSpPr/>
            <p:nvPr/>
          </p:nvSpPr>
          <p:spPr>
            <a:xfrm>
              <a:off x="8489270" y="6710528"/>
              <a:ext cx="3196590" cy="0"/>
            </a:xfrm>
            <a:custGeom>
              <a:avLst/>
              <a:gdLst/>
              <a:ahLst/>
              <a:cxnLst/>
              <a:rect l="l" t="t" r="r" b="b"/>
              <a:pathLst>
                <a:path w="3196590">
                  <a:moveTo>
                    <a:pt x="0" y="0"/>
                  </a:moveTo>
                  <a:lnTo>
                    <a:pt x="3196237" y="0"/>
                  </a:lnTo>
                </a:path>
              </a:pathLst>
            </a:custGeom>
            <a:ln w="23559">
              <a:solidFill>
                <a:srgbClr val="0C80B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8512829" y="6663409"/>
              <a:ext cx="3141345" cy="0"/>
            </a:xfrm>
            <a:custGeom>
              <a:avLst/>
              <a:gdLst/>
              <a:ahLst/>
              <a:cxnLst/>
              <a:rect l="l" t="t" r="r" b="b"/>
              <a:pathLst>
                <a:path w="3141345">
                  <a:moveTo>
                    <a:pt x="0" y="0"/>
                  </a:moveTo>
                  <a:lnTo>
                    <a:pt x="3141265" y="0"/>
                  </a:lnTo>
                </a:path>
              </a:pathLst>
            </a:custGeom>
            <a:ln w="23559">
              <a:solidFill>
                <a:srgbClr val="0C80B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/>
          <p:cNvGrpSpPr/>
          <p:nvPr/>
        </p:nvGrpSpPr>
        <p:grpSpPr>
          <a:xfrm>
            <a:off x="12337320" y="6510273"/>
            <a:ext cx="3180715" cy="78740"/>
            <a:chOff x="12337320" y="6510273"/>
            <a:chExt cx="3180715" cy="78740"/>
          </a:xfrm>
        </p:grpSpPr>
        <p:sp>
          <p:nvSpPr>
            <p:cNvPr id="6" name="object 6"/>
            <p:cNvSpPr/>
            <p:nvPr/>
          </p:nvSpPr>
          <p:spPr>
            <a:xfrm>
              <a:off x="12337320" y="6577025"/>
              <a:ext cx="3180715" cy="0"/>
            </a:xfrm>
            <a:custGeom>
              <a:avLst/>
              <a:gdLst/>
              <a:ahLst/>
              <a:cxnLst/>
              <a:rect l="l" t="t" r="r" b="b"/>
              <a:pathLst>
                <a:path w="3180715">
                  <a:moveTo>
                    <a:pt x="0" y="0"/>
                  </a:moveTo>
                  <a:lnTo>
                    <a:pt x="3180531" y="0"/>
                  </a:lnTo>
                </a:path>
              </a:pathLst>
            </a:custGeom>
            <a:ln w="23559">
              <a:solidFill>
                <a:srgbClr val="0880B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2360880" y="6522052"/>
              <a:ext cx="3126105" cy="0"/>
            </a:xfrm>
            <a:custGeom>
              <a:avLst/>
              <a:gdLst/>
              <a:ahLst/>
              <a:cxnLst/>
              <a:rect l="l" t="t" r="r" b="b"/>
              <a:pathLst>
                <a:path w="3126105">
                  <a:moveTo>
                    <a:pt x="0" y="0"/>
                  </a:moveTo>
                  <a:lnTo>
                    <a:pt x="3125559" y="0"/>
                  </a:lnTo>
                </a:path>
              </a:pathLst>
            </a:custGeom>
            <a:ln w="23559">
              <a:solidFill>
                <a:srgbClr val="0880B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16169664" y="6651629"/>
            <a:ext cx="3204210" cy="78740"/>
            <a:chOff x="16169664" y="6651629"/>
            <a:chExt cx="3204210" cy="78740"/>
          </a:xfrm>
        </p:grpSpPr>
        <p:sp>
          <p:nvSpPr>
            <p:cNvPr id="9" name="object 9"/>
            <p:cNvSpPr/>
            <p:nvPr/>
          </p:nvSpPr>
          <p:spPr>
            <a:xfrm>
              <a:off x="16169664" y="6718381"/>
              <a:ext cx="3204210" cy="0"/>
            </a:xfrm>
            <a:custGeom>
              <a:avLst/>
              <a:gdLst/>
              <a:ahLst/>
              <a:cxnLst/>
              <a:rect l="l" t="t" r="r" b="b"/>
              <a:pathLst>
                <a:path w="3204209">
                  <a:moveTo>
                    <a:pt x="0" y="0"/>
                  </a:moveTo>
                  <a:lnTo>
                    <a:pt x="3204091" y="0"/>
                  </a:lnTo>
                </a:path>
              </a:pathLst>
            </a:custGeom>
            <a:ln w="23559">
              <a:solidFill>
                <a:srgbClr val="0C80B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6201076" y="6663409"/>
              <a:ext cx="3126105" cy="0"/>
            </a:xfrm>
            <a:custGeom>
              <a:avLst/>
              <a:gdLst/>
              <a:ahLst/>
              <a:cxnLst/>
              <a:rect l="l" t="t" r="r" b="b"/>
              <a:pathLst>
                <a:path w="3126105">
                  <a:moveTo>
                    <a:pt x="0" y="0"/>
                  </a:moveTo>
                  <a:lnTo>
                    <a:pt x="3125559" y="0"/>
                  </a:lnTo>
                </a:path>
              </a:pathLst>
            </a:custGeom>
            <a:ln w="23559">
              <a:solidFill>
                <a:srgbClr val="0C80B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/>
          <p:cNvGrpSpPr/>
          <p:nvPr/>
        </p:nvGrpSpPr>
        <p:grpSpPr>
          <a:xfrm>
            <a:off x="808875" y="3981554"/>
            <a:ext cx="3196590" cy="71120"/>
            <a:chOff x="808875" y="3981554"/>
            <a:chExt cx="3196590" cy="71120"/>
          </a:xfrm>
        </p:grpSpPr>
        <p:sp>
          <p:nvSpPr>
            <p:cNvPr id="12" name="object 12"/>
            <p:cNvSpPr/>
            <p:nvPr/>
          </p:nvSpPr>
          <p:spPr>
            <a:xfrm>
              <a:off x="808875" y="4040452"/>
              <a:ext cx="3196590" cy="0"/>
            </a:xfrm>
            <a:custGeom>
              <a:avLst/>
              <a:gdLst/>
              <a:ahLst/>
              <a:cxnLst/>
              <a:rect l="l" t="t" r="r" b="b"/>
              <a:pathLst>
                <a:path w="3196590">
                  <a:moveTo>
                    <a:pt x="0" y="0"/>
                  </a:moveTo>
                  <a:lnTo>
                    <a:pt x="3196237" y="0"/>
                  </a:lnTo>
                </a:path>
              </a:pathLst>
            </a:custGeom>
            <a:ln w="23559">
              <a:solidFill>
                <a:srgbClr val="D41F4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832435" y="3993334"/>
              <a:ext cx="3133725" cy="0"/>
            </a:xfrm>
            <a:custGeom>
              <a:avLst/>
              <a:gdLst/>
              <a:ahLst/>
              <a:cxnLst/>
              <a:rect l="l" t="t" r="r" b="b"/>
              <a:pathLst>
                <a:path w="3133725">
                  <a:moveTo>
                    <a:pt x="0" y="0"/>
                  </a:moveTo>
                  <a:lnTo>
                    <a:pt x="3133412" y="0"/>
                  </a:lnTo>
                </a:path>
              </a:pathLst>
            </a:custGeom>
            <a:ln w="23559">
              <a:solidFill>
                <a:srgbClr val="D41F4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/>
          <p:cNvGrpSpPr/>
          <p:nvPr/>
        </p:nvGrpSpPr>
        <p:grpSpPr>
          <a:xfrm>
            <a:off x="4656926" y="3840197"/>
            <a:ext cx="3180715" cy="71120"/>
            <a:chOff x="4656926" y="3840197"/>
            <a:chExt cx="3180715" cy="71120"/>
          </a:xfrm>
        </p:grpSpPr>
        <p:sp>
          <p:nvSpPr>
            <p:cNvPr id="15" name="object 15"/>
            <p:cNvSpPr/>
            <p:nvPr/>
          </p:nvSpPr>
          <p:spPr>
            <a:xfrm>
              <a:off x="4656926" y="3899096"/>
              <a:ext cx="3180715" cy="0"/>
            </a:xfrm>
            <a:custGeom>
              <a:avLst/>
              <a:gdLst/>
              <a:ahLst/>
              <a:cxnLst/>
              <a:rect l="l" t="t" r="r" b="b"/>
              <a:pathLst>
                <a:path w="3180715">
                  <a:moveTo>
                    <a:pt x="0" y="0"/>
                  </a:moveTo>
                  <a:lnTo>
                    <a:pt x="3180531" y="0"/>
                  </a:lnTo>
                </a:path>
              </a:pathLst>
            </a:custGeom>
            <a:ln w="23559">
              <a:solidFill>
                <a:srgbClr val="D41F4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680485" y="3851977"/>
              <a:ext cx="3117850" cy="0"/>
            </a:xfrm>
            <a:custGeom>
              <a:avLst/>
              <a:gdLst/>
              <a:ahLst/>
              <a:cxnLst/>
              <a:rect l="l" t="t" r="r" b="b"/>
              <a:pathLst>
                <a:path w="3117850">
                  <a:moveTo>
                    <a:pt x="0" y="0"/>
                  </a:moveTo>
                  <a:lnTo>
                    <a:pt x="3117706" y="0"/>
                  </a:lnTo>
                </a:path>
              </a:pathLst>
            </a:custGeom>
            <a:ln w="23559">
              <a:solidFill>
                <a:srgbClr val="D41F4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" name="object 17"/>
          <p:cNvGrpSpPr/>
          <p:nvPr/>
        </p:nvGrpSpPr>
        <p:grpSpPr>
          <a:xfrm>
            <a:off x="8489270" y="3981554"/>
            <a:ext cx="3196590" cy="78740"/>
            <a:chOff x="8489270" y="3981554"/>
            <a:chExt cx="3196590" cy="78740"/>
          </a:xfrm>
        </p:grpSpPr>
        <p:sp>
          <p:nvSpPr>
            <p:cNvPr id="18" name="object 18"/>
            <p:cNvSpPr/>
            <p:nvPr/>
          </p:nvSpPr>
          <p:spPr>
            <a:xfrm>
              <a:off x="8489270" y="4048306"/>
              <a:ext cx="3196590" cy="0"/>
            </a:xfrm>
            <a:custGeom>
              <a:avLst/>
              <a:gdLst/>
              <a:ahLst/>
              <a:cxnLst/>
              <a:rect l="l" t="t" r="r" b="b"/>
              <a:pathLst>
                <a:path w="3196590">
                  <a:moveTo>
                    <a:pt x="0" y="0"/>
                  </a:moveTo>
                  <a:lnTo>
                    <a:pt x="3196237" y="0"/>
                  </a:lnTo>
                </a:path>
              </a:pathLst>
            </a:custGeom>
            <a:ln w="23559">
              <a:solidFill>
                <a:srgbClr val="D41F4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8504976" y="3993334"/>
              <a:ext cx="3149600" cy="0"/>
            </a:xfrm>
            <a:custGeom>
              <a:avLst/>
              <a:gdLst/>
              <a:ahLst/>
              <a:cxnLst/>
              <a:rect l="l" t="t" r="r" b="b"/>
              <a:pathLst>
                <a:path w="3149600">
                  <a:moveTo>
                    <a:pt x="0" y="0"/>
                  </a:moveTo>
                  <a:lnTo>
                    <a:pt x="3149118" y="0"/>
                  </a:lnTo>
                </a:path>
              </a:pathLst>
            </a:custGeom>
            <a:ln w="23559">
              <a:solidFill>
                <a:srgbClr val="D41F4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/>
          <p:cNvGrpSpPr/>
          <p:nvPr/>
        </p:nvGrpSpPr>
        <p:grpSpPr>
          <a:xfrm>
            <a:off x="12337320" y="3840197"/>
            <a:ext cx="3180715" cy="78740"/>
            <a:chOff x="12337320" y="3840197"/>
            <a:chExt cx="3180715" cy="78740"/>
          </a:xfrm>
        </p:grpSpPr>
        <p:sp>
          <p:nvSpPr>
            <p:cNvPr id="21" name="object 21"/>
            <p:cNvSpPr/>
            <p:nvPr/>
          </p:nvSpPr>
          <p:spPr>
            <a:xfrm>
              <a:off x="12337320" y="3906949"/>
              <a:ext cx="3180715" cy="0"/>
            </a:xfrm>
            <a:custGeom>
              <a:avLst/>
              <a:gdLst/>
              <a:ahLst/>
              <a:cxnLst/>
              <a:rect l="l" t="t" r="r" b="b"/>
              <a:pathLst>
                <a:path w="3180715">
                  <a:moveTo>
                    <a:pt x="0" y="0"/>
                  </a:moveTo>
                  <a:lnTo>
                    <a:pt x="3180531" y="0"/>
                  </a:lnTo>
                </a:path>
              </a:pathLst>
            </a:custGeom>
            <a:ln w="23559">
              <a:solidFill>
                <a:srgbClr val="D41F4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2353026" y="3851977"/>
              <a:ext cx="3133725" cy="0"/>
            </a:xfrm>
            <a:custGeom>
              <a:avLst/>
              <a:gdLst/>
              <a:ahLst/>
              <a:cxnLst/>
              <a:rect l="l" t="t" r="r" b="b"/>
              <a:pathLst>
                <a:path w="3133725">
                  <a:moveTo>
                    <a:pt x="0" y="0"/>
                  </a:moveTo>
                  <a:lnTo>
                    <a:pt x="3133412" y="0"/>
                  </a:lnTo>
                </a:path>
              </a:pathLst>
            </a:custGeom>
            <a:ln w="23559">
              <a:solidFill>
                <a:srgbClr val="D41F4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" name="object 23"/>
          <p:cNvGrpSpPr/>
          <p:nvPr/>
        </p:nvGrpSpPr>
        <p:grpSpPr>
          <a:xfrm>
            <a:off x="16169664" y="3981554"/>
            <a:ext cx="3204210" cy="78740"/>
            <a:chOff x="16169664" y="3981554"/>
            <a:chExt cx="3204210" cy="78740"/>
          </a:xfrm>
        </p:grpSpPr>
        <p:sp>
          <p:nvSpPr>
            <p:cNvPr id="24" name="object 24"/>
            <p:cNvSpPr/>
            <p:nvPr/>
          </p:nvSpPr>
          <p:spPr>
            <a:xfrm>
              <a:off x="16169664" y="4048306"/>
              <a:ext cx="3204210" cy="0"/>
            </a:xfrm>
            <a:custGeom>
              <a:avLst/>
              <a:gdLst/>
              <a:ahLst/>
              <a:cxnLst/>
              <a:rect l="l" t="t" r="r" b="b"/>
              <a:pathLst>
                <a:path w="3204209">
                  <a:moveTo>
                    <a:pt x="0" y="0"/>
                  </a:moveTo>
                  <a:lnTo>
                    <a:pt x="3204091" y="0"/>
                  </a:lnTo>
                </a:path>
              </a:pathLst>
            </a:custGeom>
            <a:ln w="23559">
              <a:solidFill>
                <a:srgbClr val="D41F4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6201076" y="3993334"/>
              <a:ext cx="3133725" cy="0"/>
            </a:xfrm>
            <a:custGeom>
              <a:avLst/>
              <a:gdLst/>
              <a:ahLst/>
              <a:cxnLst/>
              <a:rect l="l" t="t" r="r" b="b"/>
              <a:pathLst>
                <a:path w="3133725">
                  <a:moveTo>
                    <a:pt x="0" y="0"/>
                  </a:moveTo>
                  <a:lnTo>
                    <a:pt x="3133412" y="0"/>
                  </a:lnTo>
                </a:path>
              </a:pathLst>
            </a:custGeom>
            <a:ln w="23559">
              <a:solidFill>
                <a:srgbClr val="D41F4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738197" y="6580951"/>
            <a:ext cx="3259454" cy="1720214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3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2300">
              <a:latin typeface="Times New Roman" panose="02020603050405020304"/>
              <a:cs typeface="Times New Roman" panose="02020603050405020304"/>
            </a:endParaRPr>
          </a:p>
          <a:p>
            <a:pPr marL="685165">
              <a:lnSpc>
                <a:spcPct val="100000"/>
              </a:lnSpc>
              <a:spcBef>
                <a:spcPts val="5"/>
              </a:spcBef>
            </a:pPr>
            <a:r>
              <a:rPr sz="2300" dirty="0">
                <a:solidFill>
                  <a:srgbClr val="FFFFFF"/>
                </a:solidFill>
                <a:latin typeface="Arial MT"/>
                <a:cs typeface="Arial MT"/>
              </a:rPr>
              <a:t>Black</a:t>
            </a:r>
            <a:r>
              <a:rPr sz="2300" spc="-1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FFFFFF"/>
                </a:solidFill>
                <a:latin typeface="Arial MT"/>
                <a:cs typeface="Arial MT"/>
              </a:rPr>
              <a:t>Box</a:t>
            </a:r>
            <a:r>
              <a:rPr sz="23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55" dirty="0">
                <a:solidFill>
                  <a:srgbClr val="FFFFFF"/>
                </a:solidFill>
                <a:latin typeface="Arial MT"/>
                <a:cs typeface="Arial MT"/>
              </a:rPr>
              <a:t>Log</a:t>
            </a:r>
            <a:endParaRPr sz="2300">
              <a:latin typeface="Arial MT"/>
              <a:cs typeface="Arial MT"/>
            </a:endParaRPr>
          </a:p>
          <a:p>
            <a:pPr marL="790575">
              <a:lnSpc>
                <a:spcPct val="100000"/>
              </a:lnSpc>
              <a:spcBef>
                <a:spcPts val="830"/>
              </a:spcBef>
            </a:pPr>
            <a:r>
              <a:rPr sz="1800" spc="-20" dirty="0">
                <a:solidFill>
                  <a:srgbClr val="E8E8E8"/>
                </a:solidFill>
                <a:latin typeface="Arial MT"/>
                <a:cs typeface="Arial MT"/>
              </a:rPr>
              <a:t>Persist </a:t>
            </a:r>
            <a:r>
              <a:rPr sz="1800" spc="-30" dirty="0">
                <a:solidFill>
                  <a:srgbClr val="E6E6E6"/>
                </a:solidFill>
                <a:latin typeface="Arial MT"/>
                <a:cs typeface="Arial MT"/>
              </a:rPr>
              <a:t>Audit</a:t>
            </a:r>
            <a:r>
              <a:rPr sz="1800" spc="-180" dirty="0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E1E1E1"/>
                </a:solidFill>
                <a:latin typeface="Arial MT"/>
                <a:cs typeface="Arial MT"/>
              </a:rPr>
              <a:t>Trail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586247" y="6580951"/>
            <a:ext cx="3243580" cy="1720214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960"/>
              </a:spcBef>
            </a:pP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R="10160" algn="ctr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SOS</a:t>
            </a:r>
            <a:r>
              <a:rPr sz="22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55" dirty="0">
                <a:solidFill>
                  <a:srgbClr val="FFFFFF"/>
                </a:solidFill>
                <a:latin typeface="Arial MT"/>
                <a:cs typeface="Arial MT"/>
              </a:rPr>
              <a:t>Trigger</a:t>
            </a:r>
            <a:endParaRPr sz="2200">
              <a:latin typeface="Arial MT"/>
              <a:cs typeface="Arial MT"/>
            </a:endParaRPr>
          </a:p>
          <a:p>
            <a:pPr marL="10795" algn="ctr">
              <a:lnSpc>
                <a:spcPct val="100000"/>
              </a:lnSpc>
              <a:spcBef>
                <a:spcPts val="1000"/>
              </a:spcBef>
            </a:pPr>
            <a:r>
              <a:rPr sz="1650" spc="95" dirty="0">
                <a:solidFill>
                  <a:srgbClr val="E8E8E8"/>
                </a:solidFill>
                <a:latin typeface="Arial MT"/>
                <a:cs typeface="Arial MT"/>
              </a:rPr>
              <a:t>Notify</a:t>
            </a:r>
            <a:r>
              <a:rPr sz="1650" spc="30" dirty="0">
                <a:solidFill>
                  <a:srgbClr val="E8E8E8"/>
                </a:solidFill>
                <a:latin typeface="Arial MT"/>
                <a:cs typeface="Arial MT"/>
              </a:rPr>
              <a:t> </a:t>
            </a:r>
            <a:r>
              <a:rPr sz="1650" spc="100" dirty="0">
                <a:solidFill>
                  <a:srgbClr val="EBEBEB"/>
                </a:solidFill>
                <a:latin typeface="Arial MT"/>
                <a:cs typeface="Arial MT"/>
              </a:rPr>
              <a:t>Emergency</a:t>
            </a:r>
            <a:r>
              <a:rPr sz="1650" spc="13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1650" spc="50" dirty="0">
                <a:solidFill>
                  <a:srgbClr val="DBDBDB"/>
                </a:solidFill>
                <a:latin typeface="Arial MT"/>
                <a:cs typeface="Arial MT"/>
              </a:rPr>
              <a:t>Hub</a:t>
            </a:r>
            <a:endParaRPr sz="1650">
              <a:latin typeface="Arial MT"/>
              <a:cs typeface="Arial MT"/>
            </a:endParaRPr>
          </a:p>
        </p:txBody>
      </p:sp>
      <p:pic>
        <p:nvPicPr>
          <p:cNvPr id="28" name="object 28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240708" y="4696192"/>
            <a:ext cx="117797" cy="204182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25002" y="7366268"/>
            <a:ext cx="117797" cy="204182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734907" y="549455"/>
            <a:ext cx="2983865" cy="359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00" spc="-285" dirty="0">
                <a:solidFill>
                  <a:srgbClr val="E21544"/>
                </a:solidFill>
                <a:latin typeface="Arial MT"/>
                <a:cs typeface="Arial MT"/>
              </a:rPr>
              <a:t>EX</a:t>
            </a:r>
            <a:r>
              <a:rPr sz="2200" spc="-350" dirty="0">
                <a:solidFill>
                  <a:srgbClr val="E21544"/>
                </a:solidFill>
                <a:latin typeface="Arial MT"/>
                <a:cs typeface="Arial MT"/>
              </a:rPr>
              <a:t> </a:t>
            </a:r>
            <a:r>
              <a:rPr sz="2200" spc="-355" dirty="0">
                <a:solidFill>
                  <a:srgbClr val="E82648"/>
                </a:solidFill>
                <a:latin typeface="Arial MT"/>
                <a:cs typeface="Arial MT"/>
              </a:rPr>
              <a:t>EC</a:t>
            </a:r>
            <a:r>
              <a:rPr sz="2200" spc="-325" dirty="0">
                <a:solidFill>
                  <a:srgbClr val="E82648"/>
                </a:solidFill>
                <a:latin typeface="Arial MT"/>
                <a:cs typeface="Arial MT"/>
              </a:rPr>
              <a:t> </a:t>
            </a:r>
            <a:r>
              <a:rPr sz="2200" spc="-155" dirty="0">
                <a:solidFill>
                  <a:srgbClr val="DA1F50"/>
                </a:solidFill>
                <a:latin typeface="Arial MT"/>
                <a:cs typeface="Arial MT"/>
              </a:rPr>
              <a:t>UTION</a:t>
            </a:r>
            <a:r>
              <a:rPr sz="2200" spc="40" dirty="0">
                <a:solidFill>
                  <a:srgbClr val="DA1F50"/>
                </a:solidFill>
                <a:latin typeface="Arial MT"/>
                <a:cs typeface="Arial MT"/>
              </a:rPr>
              <a:t> </a:t>
            </a:r>
            <a:r>
              <a:rPr sz="2200" spc="-305" dirty="0">
                <a:solidFill>
                  <a:srgbClr val="E4184D"/>
                </a:solidFill>
                <a:latin typeface="Arial MT"/>
                <a:cs typeface="Arial MT"/>
              </a:rPr>
              <a:t>WO</a:t>
            </a:r>
            <a:r>
              <a:rPr sz="2200" spc="-305" dirty="0">
                <a:solidFill>
                  <a:srgbClr val="CA2857"/>
                </a:solidFill>
                <a:latin typeface="Arial MT"/>
                <a:cs typeface="Arial MT"/>
              </a:rPr>
              <a:t>RK</a:t>
            </a:r>
            <a:r>
              <a:rPr sz="2200" spc="-335" dirty="0">
                <a:solidFill>
                  <a:srgbClr val="CA2857"/>
                </a:solidFill>
                <a:latin typeface="Arial MT"/>
                <a:cs typeface="Arial MT"/>
              </a:rPr>
              <a:t> </a:t>
            </a:r>
            <a:r>
              <a:rPr sz="2200" spc="-315" dirty="0">
                <a:solidFill>
                  <a:srgbClr val="D41C52"/>
                </a:solidFill>
                <a:latin typeface="Arial MT"/>
                <a:cs typeface="Arial MT"/>
              </a:rPr>
              <a:t>FLOW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45150" y="10375655"/>
            <a:ext cx="4478020" cy="318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75"/>
              </a:lnSpc>
            </a:pPr>
            <a:r>
              <a:rPr sz="2050" spc="-140" dirty="0">
                <a:solidFill>
                  <a:srgbClr val="666666"/>
                </a:solidFill>
                <a:latin typeface="Arial MT"/>
                <a:cs typeface="Arial MT"/>
              </a:rPr>
              <a:t>Safe</a:t>
            </a:r>
            <a:r>
              <a:rPr sz="2050" spc="-34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2050" spc="-150" dirty="0">
                <a:solidFill>
                  <a:srgbClr val="676767"/>
                </a:solidFill>
                <a:latin typeface="Arial MT"/>
                <a:cs typeface="Arial MT"/>
              </a:rPr>
              <a:t>Her:</a:t>
            </a:r>
            <a:r>
              <a:rPr sz="2050" spc="-85" dirty="0">
                <a:solidFill>
                  <a:srgbClr val="676767"/>
                </a:solidFill>
                <a:latin typeface="Arial MT"/>
                <a:cs typeface="Arial MT"/>
              </a:rPr>
              <a:t> </a:t>
            </a:r>
            <a:r>
              <a:rPr sz="2050" spc="-35" dirty="0">
                <a:solidFill>
                  <a:srgbClr val="696969"/>
                </a:solidFill>
                <a:latin typeface="Arial MT"/>
                <a:cs typeface="Arial MT"/>
              </a:rPr>
              <a:t>Al-</a:t>
            </a:r>
            <a:r>
              <a:rPr sz="2050" spc="-165" dirty="0">
                <a:solidFill>
                  <a:srgbClr val="707070"/>
                </a:solidFill>
                <a:latin typeface="Arial MT"/>
                <a:cs typeface="Arial MT"/>
              </a:rPr>
              <a:t>Driven</a:t>
            </a:r>
            <a:r>
              <a:rPr sz="2050" spc="-80" dirty="0">
                <a:solidFill>
                  <a:srgbClr val="707070"/>
                </a:solidFill>
                <a:latin typeface="Arial MT"/>
                <a:cs typeface="Arial MT"/>
              </a:rPr>
              <a:t> </a:t>
            </a:r>
            <a:r>
              <a:rPr sz="2050" spc="-180" dirty="0">
                <a:solidFill>
                  <a:srgbClr val="6B6B6B"/>
                </a:solidFill>
                <a:latin typeface="Arial MT"/>
                <a:cs typeface="Arial MT"/>
              </a:rPr>
              <a:t>Women</a:t>
            </a:r>
            <a:r>
              <a:rPr sz="2050" spc="-114" dirty="0">
                <a:solidFill>
                  <a:srgbClr val="6B6B6B"/>
                </a:solidFill>
                <a:latin typeface="Arial MT"/>
                <a:cs typeface="Arial MT"/>
              </a:rPr>
              <a:t> </a:t>
            </a:r>
            <a:r>
              <a:rPr sz="2050" spc="-95" dirty="0">
                <a:solidFill>
                  <a:srgbClr val="696969"/>
                </a:solidFill>
                <a:latin typeface="Arial MT"/>
                <a:cs typeface="Arial MT"/>
              </a:rPr>
              <a:t>Safety</a:t>
            </a:r>
            <a:r>
              <a:rPr sz="2050" spc="-35" dirty="0">
                <a:solidFill>
                  <a:srgbClr val="696969"/>
                </a:solidFill>
                <a:latin typeface="Arial MT"/>
                <a:cs typeface="Arial MT"/>
              </a:rPr>
              <a:t> </a:t>
            </a:r>
            <a:r>
              <a:rPr sz="2050" spc="-145" dirty="0">
                <a:solidFill>
                  <a:srgbClr val="6B6B6B"/>
                </a:solidFill>
                <a:latin typeface="Arial MT"/>
                <a:cs typeface="Arial MT"/>
              </a:rPr>
              <a:t>Platf</a:t>
            </a:r>
            <a:r>
              <a:rPr sz="2050" spc="-135" dirty="0">
                <a:solidFill>
                  <a:srgbClr val="6B6B6B"/>
                </a:solidFill>
                <a:latin typeface="Arial MT"/>
                <a:cs typeface="Arial MT"/>
              </a:rPr>
              <a:t> </a:t>
            </a:r>
            <a:r>
              <a:rPr sz="2050" spc="-45" dirty="0">
                <a:solidFill>
                  <a:srgbClr val="707070"/>
                </a:solidFill>
                <a:latin typeface="Arial MT"/>
                <a:cs typeface="Arial MT"/>
              </a:rPr>
              <a:t>orm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535">
              <a:lnSpc>
                <a:spcPts val="2375"/>
              </a:lnSpc>
            </a:pPr>
            <a:r>
              <a:rPr sz="2050" spc="-155" dirty="0">
                <a:solidFill>
                  <a:srgbClr val="696969"/>
                </a:solidFill>
              </a:rPr>
              <a:t>Slide</a:t>
            </a:r>
            <a:r>
              <a:rPr sz="2050" spc="-55" dirty="0">
                <a:solidFill>
                  <a:srgbClr val="696969"/>
                </a:solidFill>
              </a:rPr>
              <a:t> </a:t>
            </a:r>
            <a:fld id="{81D60167-4931-47E6-BA6A-407CBD079E47}" type="slidenum">
              <a:rPr sz="2050" spc="-50" dirty="0">
                <a:solidFill>
                  <a:srgbClr val="696969"/>
                </a:solidFill>
              </a:rPr>
            </a:fld>
            <a:endParaRPr sz="2050"/>
          </a:p>
        </p:txBody>
      </p:sp>
      <p:sp>
        <p:nvSpPr>
          <p:cNvPr id="31" name="object 31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0795">
              <a:lnSpc>
                <a:spcPct val="100000"/>
              </a:lnSpc>
              <a:spcBef>
                <a:spcPts val="135"/>
              </a:spcBef>
            </a:pPr>
            <a:r>
              <a:rPr sz="3700" spc="-35" dirty="0">
                <a:solidFill>
                  <a:srgbClr val="131313"/>
                </a:solidFill>
              </a:rPr>
              <a:t>Implementation</a:t>
            </a:r>
            <a:r>
              <a:rPr sz="3700" spc="-35" dirty="0">
                <a:solidFill>
                  <a:srgbClr val="111111"/>
                </a:solidFill>
              </a:rPr>
              <a:t>I•IethodoIogy</a:t>
            </a:r>
            <a:r>
              <a:rPr sz="3700" spc="-114" dirty="0">
                <a:solidFill>
                  <a:srgbClr val="111111"/>
                </a:solidFill>
              </a:rPr>
              <a:t> </a:t>
            </a:r>
            <a:r>
              <a:rPr sz="3700" spc="-55" dirty="0">
                <a:solidFill>
                  <a:srgbClr val="131313"/>
                </a:solidFill>
              </a:rPr>
              <a:t>&amp;</a:t>
            </a:r>
            <a:r>
              <a:rPr sz="3700" spc="-625" dirty="0">
                <a:solidFill>
                  <a:srgbClr val="131313"/>
                </a:solidFill>
              </a:rPr>
              <a:t> </a:t>
            </a:r>
            <a:r>
              <a:rPr sz="3700" spc="-20" dirty="0">
                <a:solidFill>
                  <a:srgbClr val="161616"/>
                </a:solidFill>
              </a:rPr>
              <a:t>Flow</a:t>
            </a:r>
            <a:endParaRPr sz="3700"/>
          </a:p>
        </p:txBody>
      </p:sp>
      <p:sp>
        <p:nvSpPr>
          <p:cNvPr id="32" name="object 32"/>
          <p:cNvSpPr txBox="1"/>
          <p:nvPr/>
        </p:nvSpPr>
        <p:spPr>
          <a:xfrm>
            <a:off x="1466906" y="4159155"/>
            <a:ext cx="1795145" cy="125730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605"/>
              </a:spcBef>
            </a:pPr>
            <a:r>
              <a:rPr sz="2200" spc="-10" dirty="0">
                <a:solidFill>
                  <a:srgbClr val="B82D4F"/>
                </a:solidFill>
                <a:latin typeface="Arial MT"/>
                <a:cs typeface="Arial MT"/>
              </a:rPr>
              <a:t>Stepl</a:t>
            </a:r>
            <a:endParaRPr sz="22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75"/>
              </a:spcBef>
            </a:pPr>
            <a:r>
              <a:rPr sz="2450" spc="-114" dirty="0">
                <a:solidFill>
                  <a:srgbClr val="1F1F1F"/>
                </a:solidFill>
                <a:latin typeface="Arial MT"/>
                <a:cs typeface="Arial MT"/>
              </a:rPr>
              <a:t>User</a:t>
            </a:r>
            <a:r>
              <a:rPr sz="2450" spc="-5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450" spc="-20" dirty="0">
                <a:solidFill>
                  <a:srgbClr val="232323"/>
                </a:solidFill>
                <a:latin typeface="Arial MT"/>
                <a:cs typeface="Arial MT"/>
              </a:rPr>
              <a:t>Auth</a:t>
            </a:r>
            <a:endParaRPr sz="24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sz="2200" spc="-245" dirty="0">
                <a:solidFill>
                  <a:srgbClr val="676767"/>
                </a:solidFill>
                <a:latin typeface="Arial MT"/>
                <a:cs typeface="Arial MT"/>
              </a:rPr>
              <a:t>Secure</a:t>
            </a:r>
            <a:r>
              <a:rPr sz="2200" spc="25" dirty="0">
                <a:solidFill>
                  <a:srgbClr val="676767"/>
                </a:solidFill>
                <a:latin typeface="Arial MT"/>
                <a:cs typeface="Arial MT"/>
              </a:rPr>
              <a:t> </a:t>
            </a:r>
            <a:r>
              <a:rPr sz="2200" spc="-505" dirty="0">
                <a:solidFill>
                  <a:srgbClr val="6D6D6D"/>
                </a:solidFill>
                <a:latin typeface="Arial MT"/>
                <a:cs typeface="Arial MT"/>
              </a:rPr>
              <a:t>JWT</a:t>
            </a:r>
            <a:r>
              <a:rPr sz="2200" spc="-220" dirty="0">
                <a:solidFill>
                  <a:srgbClr val="6D6D6D"/>
                </a:solidFill>
                <a:latin typeface="Arial MT"/>
                <a:cs typeface="Arial MT"/>
              </a:rPr>
              <a:t> </a:t>
            </a:r>
            <a:r>
              <a:rPr sz="2200" spc="-175" dirty="0">
                <a:solidFill>
                  <a:srgbClr val="6B6B6B"/>
                </a:solidFill>
                <a:latin typeface="Arial MT"/>
                <a:cs typeface="Arial MT"/>
              </a:rPr>
              <a:t>Lopin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825413" y="4083379"/>
            <a:ext cx="760095" cy="359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00" spc="-80" dirty="0">
                <a:solidFill>
                  <a:srgbClr val="C6345B"/>
                </a:solidFill>
                <a:latin typeface="Arial MT"/>
                <a:cs typeface="Arial MT"/>
              </a:rPr>
              <a:t>Step</a:t>
            </a:r>
            <a:r>
              <a:rPr sz="2200" spc="-70" dirty="0">
                <a:solidFill>
                  <a:srgbClr val="C6345B"/>
                </a:solidFill>
                <a:latin typeface="Arial MT"/>
                <a:cs typeface="Arial MT"/>
              </a:rPr>
              <a:t> </a:t>
            </a:r>
            <a:r>
              <a:rPr sz="2200" spc="-150" dirty="0">
                <a:solidFill>
                  <a:srgbClr val="D1133A"/>
                </a:solidFill>
                <a:latin typeface="Arial MT"/>
                <a:cs typeface="Arial MT"/>
              </a:rPr>
              <a:t>2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012140" y="4118718"/>
            <a:ext cx="2061210" cy="129794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 marR="5080" indent="661035">
              <a:lnSpc>
                <a:spcPct val="124000"/>
              </a:lnSpc>
              <a:spcBef>
                <a:spcPts val="285"/>
              </a:spcBef>
            </a:pPr>
            <a:r>
              <a:rPr sz="2200" spc="-85" dirty="0">
                <a:solidFill>
                  <a:srgbClr val="BA2349"/>
                </a:solidFill>
                <a:latin typeface="Arial MT"/>
                <a:cs typeface="Arial MT"/>
              </a:rPr>
              <a:t>Step</a:t>
            </a:r>
            <a:r>
              <a:rPr sz="2200" spc="-135" dirty="0">
                <a:solidFill>
                  <a:srgbClr val="BA2349"/>
                </a:solidFill>
                <a:latin typeface="Arial MT"/>
                <a:cs typeface="Arial MT"/>
              </a:rPr>
              <a:t> </a:t>
            </a:r>
            <a:r>
              <a:rPr sz="2200" spc="-50" dirty="0">
                <a:solidFill>
                  <a:srgbClr val="BA2642"/>
                </a:solidFill>
                <a:latin typeface="Arial MT"/>
                <a:cs typeface="Arial MT"/>
              </a:rPr>
              <a:t>3 </a:t>
            </a:r>
            <a:r>
              <a:rPr sz="2200" spc="95" dirty="0">
                <a:solidFill>
                  <a:srgbClr val="181818"/>
                </a:solidFill>
                <a:latin typeface="Arial MT"/>
                <a:cs typeface="Arial MT"/>
              </a:rPr>
              <a:t>Start</a:t>
            </a:r>
            <a:r>
              <a:rPr sz="2200" spc="-4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200" spc="55" dirty="0">
                <a:solidFill>
                  <a:srgbClr val="1C1C1C"/>
                </a:solidFill>
                <a:latin typeface="Arial MT"/>
                <a:cs typeface="Arial MT"/>
              </a:rPr>
              <a:t>Journey </a:t>
            </a:r>
            <a:r>
              <a:rPr sz="2200" spc="-260" dirty="0">
                <a:solidFill>
                  <a:srgbClr val="676767"/>
                </a:solidFill>
                <a:latin typeface="Arial MT"/>
                <a:cs typeface="Arial MT"/>
              </a:rPr>
              <a:t>Enable</a:t>
            </a:r>
            <a:r>
              <a:rPr sz="2200" spc="-30" dirty="0">
                <a:solidFill>
                  <a:srgbClr val="676767"/>
                </a:solidFill>
                <a:latin typeface="Arial MT"/>
                <a:cs typeface="Arial MT"/>
              </a:rPr>
              <a:t> </a:t>
            </a:r>
            <a:r>
              <a:rPr sz="2200" spc="-280" dirty="0">
                <a:solidFill>
                  <a:srgbClr val="646464"/>
                </a:solidFill>
                <a:latin typeface="Arial MT"/>
                <a:cs typeface="Arial MT"/>
              </a:rPr>
              <a:t>Live</a:t>
            </a:r>
            <a:r>
              <a:rPr sz="2200" spc="-120" dirty="0">
                <a:solidFill>
                  <a:srgbClr val="646464"/>
                </a:solidFill>
                <a:latin typeface="Arial MT"/>
                <a:cs typeface="Arial MT"/>
              </a:rPr>
              <a:t> </a:t>
            </a:r>
            <a:r>
              <a:rPr sz="2200" spc="-225" dirty="0">
                <a:solidFill>
                  <a:srgbClr val="6E6E6E"/>
                </a:solidFill>
                <a:latin typeface="Arial MT"/>
                <a:cs typeface="Arial MT"/>
              </a:rPr>
              <a:t>Tracking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2867392" y="3977361"/>
            <a:ext cx="2025650" cy="158051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 marR="5080" indent="638175">
              <a:lnSpc>
                <a:spcPct val="124000"/>
              </a:lnSpc>
              <a:spcBef>
                <a:spcPts val="285"/>
              </a:spcBef>
            </a:pPr>
            <a:r>
              <a:rPr sz="2200" spc="-85" dirty="0">
                <a:solidFill>
                  <a:srgbClr val="C6365D"/>
                </a:solidFill>
                <a:latin typeface="Arial MT"/>
                <a:cs typeface="Arial MT"/>
              </a:rPr>
              <a:t>Step</a:t>
            </a:r>
            <a:r>
              <a:rPr sz="2200" spc="-135" dirty="0">
                <a:solidFill>
                  <a:srgbClr val="C6365D"/>
                </a:solidFill>
                <a:latin typeface="Arial MT"/>
                <a:cs typeface="Arial MT"/>
              </a:rPr>
              <a:t> </a:t>
            </a:r>
            <a:r>
              <a:rPr sz="2200" spc="-50" dirty="0">
                <a:solidFill>
                  <a:srgbClr val="E11C49"/>
                </a:solidFill>
                <a:latin typeface="Arial MT"/>
                <a:cs typeface="Arial MT"/>
              </a:rPr>
              <a:t>4 </a:t>
            </a:r>
            <a:r>
              <a:rPr sz="2200" spc="-10" dirty="0">
                <a:solidFill>
                  <a:srgbClr val="161616"/>
                </a:solidFill>
                <a:latin typeface="Arial MT"/>
                <a:cs typeface="Arial MT"/>
              </a:rPr>
              <a:t>GPS</a:t>
            </a:r>
            <a:r>
              <a:rPr sz="2200" spc="-12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2200" spc="75" dirty="0">
                <a:solidFill>
                  <a:srgbClr val="1A1A1A"/>
                </a:solidFill>
                <a:latin typeface="Arial MT"/>
                <a:cs typeface="Arial MT"/>
              </a:rPr>
              <a:t>Telemetry </a:t>
            </a:r>
            <a:r>
              <a:rPr sz="2200" spc="-225" dirty="0">
                <a:solidFill>
                  <a:srgbClr val="696969"/>
                </a:solidFill>
                <a:latin typeface="Arial MT"/>
                <a:cs typeface="Arial MT"/>
              </a:rPr>
              <a:t>Stre</a:t>
            </a:r>
            <a:r>
              <a:rPr sz="2200" spc="-330" dirty="0">
                <a:solidFill>
                  <a:srgbClr val="696969"/>
                </a:solidFill>
                <a:latin typeface="Arial MT"/>
                <a:cs typeface="Arial MT"/>
              </a:rPr>
              <a:t> </a:t>
            </a:r>
            <a:r>
              <a:rPr sz="2200" spc="-340" dirty="0">
                <a:solidFill>
                  <a:srgbClr val="8E8E8E"/>
                </a:solidFill>
                <a:latin typeface="Arial MT"/>
                <a:cs typeface="Arial MT"/>
              </a:rPr>
              <a:t>am</a:t>
            </a:r>
            <a:r>
              <a:rPr sz="2200" spc="-165" dirty="0">
                <a:solidFill>
                  <a:srgbClr val="8E8E8E"/>
                </a:solidFill>
                <a:latin typeface="Arial MT"/>
                <a:cs typeface="Arial MT"/>
              </a:rPr>
              <a:t> </a:t>
            </a:r>
            <a:r>
              <a:rPr sz="2200" spc="-70" dirty="0">
                <a:solidFill>
                  <a:srgbClr val="6B6B6B"/>
                </a:solidFill>
                <a:latin typeface="Arial MT"/>
                <a:cs typeface="Arial MT"/>
              </a:rPr>
              <a:t>Location</a:t>
            </a:r>
            <a:endParaRPr sz="2200">
              <a:latin typeface="Arial MT"/>
              <a:cs typeface="Arial MT"/>
            </a:endParaRPr>
          </a:p>
          <a:p>
            <a:pPr marL="374650">
              <a:lnSpc>
                <a:spcPts val="2225"/>
              </a:lnSpc>
            </a:pPr>
            <a:r>
              <a:rPr sz="2200" spc="-195" dirty="0">
                <a:solidFill>
                  <a:srgbClr val="6D6D6D"/>
                </a:solidFill>
                <a:latin typeface="Arial MT"/>
                <a:cs typeface="Arial MT"/>
              </a:rPr>
              <a:t>Coordinate</a:t>
            </a:r>
            <a:r>
              <a:rPr sz="2200" spc="-100" dirty="0">
                <a:solidFill>
                  <a:srgbClr val="6D6D6D"/>
                </a:solidFill>
                <a:latin typeface="Arial MT"/>
                <a:cs typeface="Arial MT"/>
              </a:rPr>
              <a:t> </a:t>
            </a:r>
            <a:r>
              <a:rPr sz="2200" spc="-459" dirty="0">
                <a:solidFill>
                  <a:srgbClr val="707070"/>
                </a:solidFill>
                <a:latin typeface="Arial MT"/>
                <a:cs typeface="Arial MT"/>
              </a:rPr>
              <a:t>s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353110" y="4464257"/>
            <a:ext cx="1704975" cy="109347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26670" indent="-14605">
              <a:lnSpc>
                <a:spcPct val="100000"/>
              </a:lnSpc>
              <a:spcBef>
                <a:spcPts val="550"/>
              </a:spcBef>
            </a:pPr>
            <a:r>
              <a:rPr sz="2200" spc="105" dirty="0">
                <a:solidFill>
                  <a:srgbClr val="131313"/>
                </a:solidFill>
                <a:latin typeface="Arial MT"/>
                <a:cs typeface="Arial MT"/>
              </a:rPr>
              <a:t>Preferences</a:t>
            </a:r>
            <a:endParaRPr sz="2200">
              <a:latin typeface="Arial MT"/>
              <a:cs typeface="Arial MT"/>
            </a:endParaRPr>
          </a:p>
          <a:p>
            <a:pPr marL="381000" marR="40005" indent="-354965">
              <a:lnSpc>
                <a:spcPts val="2230"/>
              </a:lnSpc>
              <a:spcBef>
                <a:spcPts val="870"/>
              </a:spcBef>
            </a:pPr>
            <a:r>
              <a:rPr sz="2200" spc="-254" dirty="0">
                <a:solidFill>
                  <a:srgbClr val="595959"/>
                </a:solidFill>
                <a:latin typeface="Arial MT"/>
                <a:cs typeface="Arial MT"/>
              </a:rPr>
              <a:t>Add</a:t>
            </a:r>
            <a:r>
              <a:rPr sz="2200" spc="-26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200" spc="-210" dirty="0">
                <a:solidFill>
                  <a:srgbClr val="676767"/>
                </a:solidFill>
                <a:latin typeface="Arial MT"/>
                <a:cs typeface="Arial MT"/>
              </a:rPr>
              <a:t>Emergency </a:t>
            </a:r>
            <a:r>
              <a:rPr sz="2200" spc="-65" dirty="0">
                <a:solidFill>
                  <a:srgbClr val="6E6E6E"/>
                </a:solidFill>
                <a:latin typeface="Arial MT"/>
                <a:cs typeface="Arial MT"/>
              </a:rPr>
              <a:t>Contacts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947887" y="4664513"/>
            <a:ext cx="111760" cy="359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00" spc="-50" dirty="0">
                <a:solidFill>
                  <a:srgbClr val="ED2167"/>
                </a:solidFill>
                <a:latin typeface="Arial MT"/>
                <a:cs typeface="Arial MT"/>
              </a:rPr>
              <a:t>›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5751968" y="4523156"/>
            <a:ext cx="146685" cy="359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00" spc="-95" dirty="0">
                <a:solidFill>
                  <a:srgbClr val="CA153D"/>
                </a:solidFill>
                <a:latin typeface="Arial MT"/>
                <a:cs typeface="Arial MT"/>
              </a:rPr>
              <a:t>y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7808226" y="1052057"/>
            <a:ext cx="1314450" cy="359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00" spc="-285" dirty="0">
                <a:solidFill>
                  <a:srgbClr val="3D3D3D"/>
                </a:solidFill>
                <a:latin typeface="Arial MT"/>
                <a:cs typeface="Arial MT"/>
              </a:rPr>
              <a:t>Process</a:t>
            </a:r>
            <a:r>
              <a:rPr sz="2200" spc="-75" dirty="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sz="2200" spc="-295" dirty="0">
                <a:solidFill>
                  <a:srgbClr val="49526E"/>
                </a:solidFill>
                <a:latin typeface="Arial MT"/>
                <a:cs typeface="Arial MT"/>
              </a:rPr>
              <a:t>Flow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6653268" y="4118718"/>
            <a:ext cx="2138045" cy="1297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marR="338455" indent="13970" algn="ctr">
              <a:lnSpc>
                <a:spcPct val="131000"/>
              </a:lnSpc>
              <a:spcBef>
                <a:spcPts val="100"/>
              </a:spcBef>
            </a:pPr>
            <a:r>
              <a:rPr sz="2200" spc="-90" dirty="0">
                <a:solidFill>
                  <a:srgbClr val="B62D4B"/>
                </a:solidFill>
                <a:latin typeface="Arial MT"/>
                <a:cs typeface="Arial MT"/>
              </a:rPr>
              <a:t>Step</a:t>
            </a:r>
            <a:r>
              <a:rPr sz="2200" spc="-125" dirty="0">
                <a:solidFill>
                  <a:srgbClr val="B62D4B"/>
                </a:solidFill>
                <a:latin typeface="Arial MT"/>
                <a:cs typeface="Arial MT"/>
              </a:rPr>
              <a:t> </a:t>
            </a:r>
            <a:r>
              <a:rPr sz="2200" spc="-484" dirty="0">
                <a:solidFill>
                  <a:srgbClr val="B5163B"/>
                </a:solidFill>
                <a:latin typeface="Arial MT"/>
                <a:cs typeface="Arial MT"/>
              </a:rPr>
              <a:t>S</a:t>
            </a:r>
            <a:r>
              <a:rPr sz="2200" spc="80" dirty="0">
                <a:solidFill>
                  <a:srgbClr val="B5163B"/>
                </a:solidFill>
                <a:latin typeface="Arial MT"/>
                <a:cs typeface="Arial MT"/>
              </a:rPr>
              <a:t> </a:t>
            </a:r>
            <a:r>
              <a:rPr sz="2200" spc="80" dirty="0">
                <a:solidFill>
                  <a:srgbClr val="212121"/>
                </a:solidFill>
                <a:latin typeface="Arial MT"/>
                <a:cs typeface="Arial MT"/>
              </a:rPr>
              <a:t>Zone</a:t>
            </a:r>
            <a:r>
              <a:rPr sz="2200" spc="-13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200" spc="75" dirty="0">
                <a:solidFill>
                  <a:srgbClr val="262626"/>
                </a:solidFill>
                <a:latin typeface="Arial MT"/>
                <a:cs typeface="Arial MT"/>
              </a:rPr>
              <a:t>Audit</a:t>
            </a:r>
            <a:endParaRPr sz="22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450"/>
              </a:spcBef>
            </a:pPr>
            <a:r>
              <a:rPr sz="2200" spc="-245" dirty="0">
                <a:solidFill>
                  <a:srgbClr val="696969"/>
                </a:solidFill>
                <a:latin typeface="Arial MT"/>
                <a:cs typeface="Arial MT"/>
              </a:rPr>
              <a:t>Evaluate</a:t>
            </a:r>
            <a:r>
              <a:rPr sz="2200" spc="-5" dirty="0">
                <a:solidFill>
                  <a:srgbClr val="696969"/>
                </a:solidFill>
                <a:latin typeface="Arial MT"/>
                <a:cs typeface="Arial MT"/>
              </a:rPr>
              <a:t> </a:t>
            </a:r>
            <a:r>
              <a:rPr sz="2200" spc="-160" dirty="0">
                <a:solidFill>
                  <a:srgbClr val="6B7280"/>
                </a:solidFill>
                <a:latin typeface="Arial MT"/>
                <a:cs typeface="Arial MT"/>
              </a:rPr>
              <a:t>G</a:t>
            </a:r>
            <a:r>
              <a:rPr sz="2200" spc="-160" dirty="0">
                <a:solidFill>
                  <a:srgbClr val="727272"/>
                </a:solidFill>
                <a:latin typeface="Arial MT"/>
                <a:cs typeface="Arial MT"/>
              </a:rPr>
              <a:t>e</a:t>
            </a:r>
            <a:r>
              <a:rPr sz="2200" spc="-160" dirty="0">
                <a:solidFill>
                  <a:srgbClr val="6E7985"/>
                </a:solidFill>
                <a:latin typeface="Arial MT"/>
                <a:cs typeface="Arial MT"/>
              </a:rPr>
              <a:t>of</a:t>
            </a:r>
            <a:r>
              <a:rPr sz="2200" spc="-305" dirty="0">
                <a:solidFill>
                  <a:srgbClr val="6E7985"/>
                </a:solidFill>
                <a:latin typeface="Arial MT"/>
                <a:cs typeface="Arial MT"/>
              </a:rPr>
              <a:t> </a:t>
            </a:r>
            <a:r>
              <a:rPr sz="2200" spc="-155" dirty="0">
                <a:solidFill>
                  <a:srgbClr val="676767"/>
                </a:solidFill>
                <a:latin typeface="Arial MT"/>
                <a:cs typeface="Arial MT"/>
              </a:rPr>
              <a:t>ences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908902" y="6828060"/>
            <a:ext cx="2268855" cy="1258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7320" marR="143510" indent="629285">
              <a:lnSpc>
                <a:spcPct val="120000"/>
              </a:lnSpc>
              <a:spcBef>
                <a:spcPts val="100"/>
              </a:spcBef>
            </a:pPr>
            <a:r>
              <a:rPr sz="2200" spc="-85" dirty="0">
                <a:solidFill>
                  <a:srgbClr val="017CBC"/>
                </a:solidFill>
                <a:latin typeface="Arial MT"/>
                <a:cs typeface="Arial MT"/>
              </a:rPr>
              <a:t>Step</a:t>
            </a:r>
            <a:r>
              <a:rPr sz="2200" spc="-135" dirty="0">
                <a:solidFill>
                  <a:srgbClr val="017CBC"/>
                </a:solidFill>
                <a:latin typeface="Arial MT"/>
                <a:cs typeface="Arial MT"/>
              </a:rPr>
              <a:t> </a:t>
            </a:r>
            <a:r>
              <a:rPr sz="2200" spc="-50" dirty="0">
                <a:solidFill>
                  <a:srgbClr val="017CB5"/>
                </a:solidFill>
                <a:latin typeface="Arial MT"/>
                <a:cs typeface="Arial MT"/>
              </a:rPr>
              <a:t>8</a:t>
            </a:r>
            <a:r>
              <a:rPr sz="2200" spc="550" dirty="0">
                <a:solidFill>
                  <a:srgbClr val="017CB5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262626"/>
                </a:solidFill>
                <a:latin typeface="Arial MT"/>
                <a:cs typeface="Arial MT"/>
              </a:rPr>
              <a:t>Risk</a:t>
            </a:r>
            <a:r>
              <a:rPr sz="2200" spc="-14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2200" spc="45" dirty="0">
                <a:solidFill>
                  <a:srgbClr val="1D1D1D"/>
                </a:solidFill>
                <a:latin typeface="Arial MT"/>
                <a:cs typeface="Arial MT"/>
              </a:rPr>
              <a:t>Escalation</a:t>
            </a:r>
            <a:endParaRPr sz="2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2200" spc="-195" dirty="0">
                <a:solidFill>
                  <a:srgbClr val="676767"/>
                </a:solidFill>
                <a:latin typeface="Arial MT"/>
                <a:cs typeface="Arial MT"/>
              </a:rPr>
              <a:t>Activate</a:t>
            </a:r>
            <a:r>
              <a:rPr sz="2200" spc="-95" dirty="0">
                <a:solidFill>
                  <a:srgbClr val="676767"/>
                </a:solidFill>
                <a:latin typeface="Arial MT"/>
                <a:cs typeface="Arial MT"/>
              </a:rPr>
              <a:t> </a:t>
            </a:r>
            <a:r>
              <a:rPr sz="2200" spc="-375" dirty="0">
                <a:solidFill>
                  <a:srgbClr val="676767"/>
                </a:solidFill>
                <a:latin typeface="Arial MT"/>
                <a:cs typeface="Arial MT"/>
              </a:rPr>
              <a:t>SOS</a:t>
            </a:r>
            <a:r>
              <a:rPr sz="2200" spc="-204" dirty="0">
                <a:solidFill>
                  <a:srgbClr val="676767"/>
                </a:solidFill>
                <a:latin typeface="Arial MT"/>
                <a:cs typeface="Arial MT"/>
              </a:rPr>
              <a:t> </a:t>
            </a:r>
            <a:r>
              <a:rPr sz="2200" spc="-140" dirty="0">
                <a:solidFill>
                  <a:srgbClr val="646464"/>
                </a:solidFill>
                <a:latin typeface="Arial MT"/>
                <a:cs typeface="Arial MT"/>
              </a:rPr>
              <a:t>Protocol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2617041" y="6647437"/>
            <a:ext cx="2541270" cy="1580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04240">
              <a:lnSpc>
                <a:spcPct val="131000"/>
              </a:lnSpc>
              <a:spcBef>
                <a:spcPts val="100"/>
              </a:spcBef>
            </a:pPr>
            <a:r>
              <a:rPr sz="2200" spc="-90" dirty="0">
                <a:solidFill>
                  <a:srgbClr val="1C80BC"/>
                </a:solidFill>
                <a:latin typeface="Arial MT"/>
                <a:cs typeface="Arial MT"/>
              </a:rPr>
              <a:t>Step</a:t>
            </a:r>
            <a:r>
              <a:rPr sz="2200" spc="-190" dirty="0">
                <a:solidFill>
                  <a:srgbClr val="1C80BC"/>
                </a:solidFill>
                <a:latin typeface="Arial MT"/>
                <a:cs typeface="Arial MT"/>
              </a:rPr>
              <a:t> </a:t>
            </a:r>
            <a:r>
              <a:rPr sz="2200" spc="-50" dirty="0">
                <a:solidFill>
                  <a:srgbClr val="2375A5"/>
                </a:solidFill>
                <a:latin typeface="Arial MT"/>
                <a:cs typeface="Arial MT"/>
              </a:rPr>
              <a:t>7 </a:t>
            </a:r>
            <a:r>
              <a:rPr sz="2200" spc="155" dirty="0">
                <a:solidFill>
                  <a:srgbClr val="1C1C1C"/>
                </a:solidFill>
                <a:latin typeface="Arial MT"/>
                <a:cs typeface="Arial MT"/>
              </a:rPr>
              <a:t>Check-</a:t>
            </a:r>
            <a:r>
              <a:rPr sz="2200" spc="114" dirty="0">
                <a:solidFill>
                  <a:srgbClr val="1C1C1C"/>
                </a:solidFill>
                <a:latin typeface="Arial MT"/>
                <a:cs typeface="Arial MT"/>
              </a:rPr>
              <a:t>in</a:t>
            </a:r>
            <a:r>
              <a:rPr sz="2200" spc="-1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2200" spc="140" dirty="0">
                <a:solidFill>
                  <a:srgbClr val="161616"/>
                </a:solidFill>
                <a:latin typeface="Arial MT"/>
                <a:cs typeface="Arial MT"/>
              </a:rPr>
              <a:t>Prompts</a:t>
            </a:r>
            <a:endParaRPr sz="2200">
              <a:latin typeface="Arial MT"/>
              <a:cs typeface="Arial MT"/>
            </a:endParaRPr>
          </a:p>
          <a:p>
            <a:pPr marL="995680" marR="208280" indent="-810260">
              <a:lnSpc>
                <a:spcPts val="2230"/>
              </a:lnSpc>
              <a:spcBef>
                <a:spcPts val="865"/>
              </a:spcBef>
            </a:pPr>
            <a:r>
              <a:rPr sz="2200" spc="-220" dirty="0">
                <a:solidFill>
                  <a:srgbClr val="6D6D6D"/>
                </a:solidFill>
                <a:latin typeface="Arial MT"/>
                <a:cs typeface="Arial MT"/>
              </a:rPr>
              <a:t>Dete</a:t>
            </a:r>
            <a:r>
              <a:rPr sz="2200" spc="-350" dirty="0">
                <a:solidFill>
                  <a:srgbClr val="6D6D6D"/>
                </a:solidFill>
                <a:latin typeface="Arial MT"/>
                <a:cs typeface="Arial MT"/>
              </a:rPr>
              <a:t> </a:t>
            </a:r>
            <a:r>
              <a:rPr sz="2200" spc="-130" dirty="0">
                <a:solidFill>
                  <a:srgbClr val="6B6B6B"/>
                </a:solidFill>
                <a:latin typeface="Arial MT"/>
                <a:cs typeface="Arial MT"/>
              </a:rPr>
              <a:t>ct</a:t>
            </a:r>
            <a:r>
              <a:rPr sz="2200" spc="-245" dirty="0">
                <a:solidFill>
                  <a:srgbClr val="6B6B6B"/>
                </a:solidFill>
                <a:latin typeface="Arial MT"/>
                <a:cs typeface="Arial MT"/>
              </a:rPr>
              <a:t> </a:t>
            </a:r>
            <a:r>
              <a:rPr sz="2200" spc="-270" dirty="0">
                <a:solidFill>
                  <a:srgbClr val="727272"/>
                </a:solidFill>
                <a:latin typeface="Arial MT"/>
                <a:cs typeface="Arial MT"/>
              </a:rPr>
              <a:t>U</a:t>
            </a:r>
            <a:r>
              <a:rPr sz="2200" spc="-270" dirty="0">
                <a:solidFill>
                  <a:srgbClr val="6D6D6D"/>
                </a:solidFill>
                <a:latin typeface="Arial MT"/>
                <a:cs typeface="Arial MT"/>
              </a:rPr>
              <a:t>nre</a:t>
            </a:r>
            <a:r>
              <a:rPr sz="2200" spc="-335" dirty="0">
                <a:solidFill>
                  <a:srgbClr val="6D6D6D"/>
                </a:solidFill>
                <a:latin typeface="Arial MT"/>
                <a:cs typeface="Arial MT"/>
              </a:rPr>
              <a:t> </a:t>
            </a:r>
            <a:r>
              <a:rPr sz="2200" spc="-220" dirty="0">
                <a:solidFill>
                  <a:srgbClr val="696969"/>
                </a:solidFill>
                <a:latin typeface="Arial MT"/>
                <a:cs typeface="Arial MT"/>
              </a:rPr>
              <a:t>sponsive </a:t>
            </a:r>
            <a:r>
              <a:rPr sz="2200" spc="-10" dirty="0">
                <a:solidFill>
                  <a:srgbClr val="707989"/>
                </a:solidFill>
                <a:latin typeface="Arial MT"/>
                <a:cs typeface="Arial MT"/>
              </a:rPr>
              <a:t>State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6730654" y="6828060"/>
            <a:ext cx="1997075" cy="1258570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10160" algn="ctr">
              <a:lnSpc>
                <a:spcPct val="100000"/>
              </a:lnSpc>
              <a:spcBef>
                <a:spcPts val="615"/>
              </a:spcBef>
            </a:pPr>
            <a:r>
              <a:rPr sz="2200" spc="-85" dirty="0">
                <a:solidFill>
                  <a:srgbClr val="0577B3"/>
                </a:solidFill>
                <a:latin typeface="Arial MT"/>
                <a:cs typeface="Arial MT"/>
              </a:rPr>
              <a:t>Step</a:t>
            </a:r>
            <a:r>
              <a:rPr sz="2200" spc="-125" dirty="0">
                <a:solidFill>
                  <a:srgbClr val="0577B3"/>
                </a:solidFill>
                <a:latin typeface="Arial MT"/>
                <a:cs typeface="Arial MT"/>
              </a:rPr>
              <a:t> </a:t>
            </a:r>
            <a:r>
              <a:rPr sz="2200" spc="-50" dirty="0">
                <a:solidFill>
                  <a:srgbClr val="0075C3"/>
                </a:solidFill>
                <a:latin typeface="Arial MT"/>
                <a:cs typeface="Arial MT"/>
              </a:rPr>
              <a:t>6</a:t>
            </a:r>
            <a:endParaRPr sz="22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15"/>
              </a:spcBef>
            </a:pPr>
            <a:r>
              <a:rPr sz="2200" spc="-50" dirty="0">
                <a:solidFill>
                  <a:srgbClr val="151F3F"/>
                </a:solidFill>
                <a:latin typeface="Arial MT"/>
                <a:cs typeface="Arial MT"/>
              </a:rPr>
              <a:t>AI</a:t>
            </a:r>
            <a:r>
              <a:rPr sz="2200" spc="-175" dirty="0">
                <a:solidFill>
                  <a:srgbClr val="151F3F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2A2A2A"/>
                </a:solidFill>
                <a:latin typeface="Arial MT"/>
                <a:cs typeface="Arial MT"/>
              </a:rPr>
              <a:t>Risk</a:t>
            </a:r>
            <a:r>
              <a:rPr sz="2200" spc="-13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2200" spc="110" dirty="0">
                <a:solidFill>
                  <a:srgbClr val="1F1F1F"/>
                </a:solidFill>
                <a:latin typeface="Arial MT"/>
                <a:cs typeface="Arial MT"/>
              </a:rPr>
              <a:t>Scoring</a:t>
            </a:r>
            <a:endParaRPr sz="2200">
              <a:latin typeface="Arial MT"/>
              <a:cs typeface="Arial MT"/>
            </a:endParaRPr>
          </a:p>
          <a:p>
            <a:pPr marR="12700" algn="ctr">
              <a:lnSpc>
                <a:spcPct val="100000"/>
              </a:lnSpc>
              <a:spcBef>
                <a:spcPts val="760"/>
              </a:spcBef>
            </a:pPr>
            <a:r>
              <a:rPr sz="2200" spc="-160" dirty="0">
                <a:solidFill>
                  <a:srgbClr val="646464"/>
                </a:solidFill>
                <a:latin typeface="Arial MT"/>
                <a:cs typeface="Arial MT"/>
              </a:rPr>
              <a:t>Detect</a:t>
            </a:r>
            <a:r>
              <a:rPr sz="2200" spc="-135" dirty="0">
                <a:solidFill>
                  <a:srgbClr val="646464"/>
                </a:solidFill>
                <a:latin typeface="Arial MT"/>
                <a:cs typeface="Arial MT"/>
              </a:rPr>
              <a:t> </a:t>
            </a:r>
            <a:r>
              <a:rPr sz="2200" spc="-110" dirty="0">
                <a:solidFill>
                  <a:srgbClr val="646464"/>
                </a:solidFill>
                <a:latin typeface="Arial MT"/>
                <a:cs typeface="Arial MT"/>
              </a:rPr>
              <a:t>Deviations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9832161" y="2827139"/>
            <a:ext cx="9518034" cy="662807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49369" y="614898"/>
            <a:ext cx="3441700" cy="2806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50" spc="-325" dirty="0">
                <a:solidFill>
                  <a:srgbClr val="E81C4F"/>
                </a:solidFill>
                <a:latin typeface="Arial MT"/>
                <a:cs typeface="Arial MT"/>
              </a:rPr>
              <a:t>AN</a:t>
            </a:r>
            <a:r>
              <a:rPr sz="1650" spc="110" dirty="0">
                <a:solidFill>
                  <a:srgbClr val="E81C4F"/>
                </a:solidFill>
                <a:latin typeface="Arial MT"/>
                <a:cs typeface="Arial MT"/>
              </a:rPr>
              <a:t>  </a:t>
            </a:r>
            <a:r>
              <a:rPr sz="1650" spc="90" dirty="0">
                <a:solidFill>
                  <a:srgbClr val="DF2356"/>
                </a:solidFill>
                <a:latin typeface="Arial MT"/>
                <a:cs typeface="Arial MT"/>
              </a:rPr>
              <a:t>ALY</a:t>
            </a:r>
            <a:r>
              <a:rPr sz="1650" spc="-140" dirty="0">
                <a:solidFill>
                  <a:srgbClr val="DF2356"/>
                </a:solidFill>
                <a:latin typeface="Arial MT"/>
                <a:cs typeface="Arial MT"/>
              </a:rPr>
              <a:t> </a:t>
            </a:r>
            <a:r>
              <a:rPr sz="1650" spc="55" dirty="0">
                <a:solidFill>
                  <a:srgbClr val="CC2A5E"/>
                </a:solidFill>
                <a:latin typeface="Arial MT"/>
                <a:cs typeface="Arial MT"/>
              </a:rPr>
              <a:t>TI</a:t>
            </a:r>
            <a:r>
              <a:rPr sz="1650" spc="-190" dirty="0">
                <a:solidFill>
                  <a:srgbClr val="CC2A5E"/>
                </a:solidFill>
                <a:latin typeface="Arial MT"/>
                <a:cs typeface="Arial MT"/>
              </a:rPr>
              <a:t> </a:t>
            </a:r>
            <a:r>
              <a:rPr sz="1650" spc="100" dirty="0">
                <a:solidFill>
                  <a:srgbClr val="E11C49"/>
                </a:solidFill>
                <a:latin typeface="Arial MT"/>
                <a:cs typeface="Arial MT"/>
              </a:rPr>
              <a:t>CA</a:t>
            </a:r>
            <a:r>
              <a:rPr sz="1650" spc="-160" dirty="0">
                <a:solidFill>
                  <a:srgbClr val="E11C49"/>
                </a:solidFill>
                <a:latin typeface="Arial MT"/>
                <a:cs typeface="Arial MT"/>
              </a:rPr>
              <a:t> </a:t>
            </a:r>
            <a:r>
              <a:rPr sz="1650" spc="60" dirty="0">
                <a:solidFill>
                  <a:srgbClr val="E41646"/>
                </a:solidFill>
                <a:latin typeface="Arial MT"/>
                <a:cs typeface="Arial MT"/>
              </a:rPr>
              <a:t>L</a:t>
            </a:r>
            <a:r>
              <a:rPr sz="1650" spc="145" dirty="0">
                <a:solidFill>
                  <a:srgbClr val="E41646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F21656"/>
                </a:solidFill>
                <a:latin typeface="Arial MT"/>
                <a:cs typeface="Arial MT"/>
              </a:rPr>
              <a:t>I</a:t>
            </a:r>
            <a:r>
              <a:rPr sz="1650" spc="-235" dirty="0">
                <a:solidFill>
                  <a:srgbClr val="F21656"/>
                </a:solidFill>
                <a:latin typeface="Arial MT"/>
                <a:cs typeface="Arial MT"/>
              </a:rPr>
              <a:t> </a:t>
            </a:r>
            <a:r>
              <a:rPr sz="1650" spc="95" dirty="0">
                <a:solidFill>
                  <a:srgbClr val="C42857"/>
                </a:solidFill>
                <a:latin typeface="Arial MT"/>
                <a:cs typeface="Arial MT"/>
              </a:rPr>
              <a:t>NT</a:t>
            </a:r>
            <a:r>
              <a:rPr sz="1650" spc="-215" dirty="0">
                <a:solidFill>
                  <a:srgbClr val="C42857"/>
                </a:solidFill>
                <a:latin typeface="Arial MT"/>
                <a:cs typeface="Arial MT"/>
              </a:rPr>
              <a:t> </a:t>
            </a:r>
            <a:r>
              <a:rPr sz="1650" spc="-50" dirty="0">
                <a:solidFill>
                  <a:srgbClr val="ED1346"/>
                </a:solidFill>
                <a:latin typeface="Arial MT"/>
                <a:cs typeface="Arial MT"/>
              </a:rPr>
              <a:t>E</a:t>
            </a:r>
            <a:r>
              <a:rPr sz="1650" spc="-270" dirty="0">
                <a:solidFill>
                  <a:srgbClr val="ED1346"/>
                </a:solidFill>
                <a:latin typeface="Arial MT"/>
                <a:cs typeface="Arial MT"/>
              </a:rPr>
              <a:t> </a:t>
            </a:r>
            <a:r>
              <a:rPr sz="1650" spc="165" dirty="0">
                <a:solidFill>
                  <a:srgbClr val="E41A44"/>
                </a:solidFill>
                <a:latin typeface="Arial MT"/>
                <a:cs typeface="Arial MT"/>
              </a:rPr>
              <a:t>LLIG</a:t>
            </a:r>
            <a:r>
              <a:rPr sz="1650" spc="-300" dirty="0">
                <a:solidFill>
                  <a:srgbClr val="E41A44"/>
                </a:solidFill>
                <a:latin typeface="Arial MT"/>
                <a:cs typeface="Arial MT"/>
              </a:rPr>
              <a:t> </a:t>
            </a:r>
            <a:r>
              <a:rPr sz="1650" spc="-50" dirty="0">
                <a:solidFill>
                  <a:srgbClr val="EF1641"/>
                </a:solidFill>
                <a:latin typeface="Arial MT"/>
                <a:cs typeface="Arial MT"/>
              </a:rPr>
              <a:t>E</a:t>
            </a:r>
            <a:r>
              <a:rPr sz="1650" spc="-275" dirty="0">
                <a:solidFill>
                  <a:srgbClr val="EF1641"/>
                </a:solidFill>
                <a:latin typeface="Arial MT"/>
                <a:cs typeface="Arial MT"/>
              </a:rPr>
              <a:t> </a:t>
            </a:r>
            <a:r>
              <a:rPr sz="1650" spc="55" dirty="0">
                <a:solidFill>
                  <a:srgbClr val="C81F46"/>
                </a:solidFill>
                <a:latin typeface="Arial MT"/>
                <a:cs typeface="Arial MT"/>
              </a:rPr>
              <a:t>NC</a:t>
            </a:r>
            <a:r>
              <a:rPr sz="1650" spc="-195" dirty="0">
                <a:solidFill>
                  <a:srgbClr val="C81F46"/>
                </a:solidFill>
                <a:latin typeface="Arial MT"/>
                <a:cs typeface="Arial MT"/>
              </a:rPr>
              <a:t> </a:t>
            </a:r>
            <a:r>
              <a:rPr sz="1650" spc="-50" dirty="0">
                <a:solidFill>
                  <a:srgbClr val="F2214B"/>
                </a:solidFill>
                <a:latin typeface="Arial MT"/>
                <a:cs typeface="Arial MT"/>
              </a:rPr>
              <a:t>E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5885" y="10390466"/>
            <a:ext cx="4482465" cy="299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30"/>
              </a:lnSpc>
            </a:pPr>
            <a:r>
              <a:rPr sz="1900" spc="-60" dirty="0">
                <a:solidFill>
                  <a:srgbClr val="666666"/>
                </a:solidFill>
                <a:latin typeface="Arial MT"/>
                <a:cs typeface="Arial MT"/>
              </a:rPr>
              <a:t>Safe</a:t>
            </a:r>
            <a:r>
              <a:rPr sz="1900" spc="-30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1900" spc="-85" dirty="0">
                <a:solidFill>
                  <a:srgbClr val="676767"/>
                </a:solidFill>
                <a:latin typeface="Arial MT"/>
                <a:cs typeface="Arial MT"/>
              </a:rPr>
              <a:t>Her: </a:t>
            </a:r>
            <a:r>
              <a:rPr sz="1900" spc="-40" dirty="0">
                <a:solidFill>
                  <a:srgbClr val="696969"/>
                </a:solidFill>
                <a:latin typeface="Arial MT"/>
                <a:cs typeface="Arial MT"/>
              </a:rPr>
              <a:t>Al-</a:t>
            </a:r>
            <a:r>
              <a:rPr sz="1900" spc="-320" dirty="0">
                <a:solidFill>
                  <a:srgbClr val="696969"/>
                </a:solidFill>
                <a:latin typeface="Arial MT"/>
                <a:cs typeface="Arial MT"/>
              </a:rPr>
              <a:t> </a:t>
            </a:r>
            <a:r>
              <a:rPr sz="1900" spc="-90" dirty="0">
                <a:solidFill>
                  <a:srgbClr val="707070"/>
                </a:solidFill>
                <a:latin typeface="Arial MT"/>
                <a:cs typeface="Arial MT"/>
              </a:rPr>
              <a:t>Driven </a:t>
            </a:r>
            <a:r>
              <a:rPr sz="1900" spc="-75" dirty="0">
                <a:solidFill>
                  <a:srgbClr val="6B6B6B"/>
                </a:solidFill>
                <a:latin typeface="Arial MT"/>
                <a:cs typeface="Arial MT"/>
              </a:rPr>
              <a:t>Women</a:t>
            </a:r>
            <a:r>
              <a:rPr sz="1900" spc="-90" dirty="0">
                <a:solidFill>
                  <a:srgbClr val="6B6B6B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696969"/>
                </a:solidFill>
                <a:latin typeface="Arial MT"/>
                <a:cs typeface="Arial MT"/>
              </a:rPr>
              <a:t>Safety</a:t>
            </a:r>
            <a:r>
              <a:rPr sz="1900" dirty="0">
                <a:solidFill>
                  <a:srgbClr val="696969"/>
                </a:solidFill>
                <a:latin typeface="Arial MT"/>
                <a:cs typeface="Arial MT"/>
              </a:rPr>
              <a:t> </a:t>
            </a:r>
            <a:r>
              <a:rPr sz="1900" spc="-80" dirty="0">
                <a:solidFill>
                  <a:srgbClr val="6B6B6B"/>
                </a:solidFill>
                <a:latin typeface="Arial MT"/>
                <a:cs typeface="Arial MT"/>
              </a:rPr>
              <a:t>Platf</a:t>
            </a:r>
            <a:r>
              <a:rPr sz="1900" spc="-135" dirty="0">
                <a:solidFill>
                  <a:srgbClr val="6B6B6B"/>
                </a:solidFill>
                <a:latin typeface="Arial MT"/>
                <a:cs typeface="Arial MT"/>
              </a:rPr>
              <a:t> </a:t>
            </a:r>
            <a:r>
              <a:rPr sz="1900" spc="-25" dirty="0">
                <a:solidFill>
                  <a:srgbClr val="707070"/>
                </a:solidFill>
                <a:latin typeface="Arial MT"/>
                <a:cs typeface="Arial MT"/>
              </a:rPr>
              <a:t>orm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945"/>
              </a:lnSpc>
            </a:pPr>
            <a:r>
              <a:rPr dirty="0">
                <a:solidFill>
                  <a:srgbClr val="646464"/>
                </a:solidFill>
              </a:rPr>
              <a:t>Slide</a:t>
            </a:r>
            <a:r>
              <a:rPr spc="200" dirty="0">
                <a:solidFill>
                  <a:srgbClr val="646464"/>
                </a:solidFill>
              </a:rPr>
              <a:t> </a:t>
            </a:r>
            <a:fld id="{81D60167-4931-47E6-BA6A-407CBD079E47}" type="slidenum">
              <a:rPr spc="40" dirty="0">
                <a:solidFill>
                  <a:srgbClr val="626262"/>
                </a:solidFill>
              </a:rPr>
            </a:fld>
            <a:endParaRPr spc="40" dirty="0">
              <a:solidFill>
                <a:srgbClr val="626262"/>
              </a:solidFill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85">
              <a:lnSpc>
                <a:spcPct val="100000"/>
              </a:lnSpc>
              <a:spcBef>
                <a:spcPts val="100"/>
              </a:spcBef>
            </a:pPr>
            <a:r>
              <a:rPr sz="3350" spc="155" dirty="0">
                <a:solidFill>
                  <a:srgbClr val="131313"/>
                </a:solidFill>
              </a:rPr>
              <a:t>AI</a:t>
            </a:r>
            <a:r>
              <a:rPr sz="3350" spc="-409" dirty="0">
                <a:solidFill>
                  <a:srgbClr val="131313"/>
                </a:solidFill>
              </a:rPr>
              <a:t> </a:t>
            </a:r>
            <a:r>
              <a:rPr sz="3350" spc="175" dirty="0">
                <a:solidFill>
                  <a:srgbClr val="161616"/>
                </a:solidFill>
              </a:rPr>
              <a:t>&amp;</a:t>
            </a:r>
            <a:r>
              <a:rPr sz="3350" spc="-520" dirty="0">
                <a:solidFill>
                  <a:srgbClr val="161616"/>
                </a:solidFill>
              </a:rPr>
              <a:t> </a:t>
            </a:r>
            <a:r>
              <a:rPr sz="3350" spc="320" dirty="0">
                <a:solidFill>
                  <a:srgbClr val="131313"/>
                </a:solidFill>
              </a:rPr>
              <a:t>Smod</a:t>
            </a:r>
            <a:r>
              <a:rPr sz="3350" spc="-475" dirty="0">
                <a:solidFill>
                  <a:srgbClr val="131313"/>
                </a:solidFill>
              </a:rPr>
              <a:t> </a:t>
            </a:r>
            <a:r>
              <a:rPr sz="3350" spc="140" dirty="0">
                <a:solidFill>
                  <a:srgbClr val="111111"/>
                </a:solidFill>
              </a:rPr>
              <a:t>Safety</a:t>
            </a:r>
            <a:r>
              <a:rPr sz="3350" spc="-110" dirty="0">
                <a:solidFill>
                  <a:srgbClr val="111111"/>
                </a:solidFill>
              </a:rPr>
              <a:t> </a:t>
            </a:r>
            <a:r>
              <a:rPr sz="3350" spc="45" dirty="0">
                <a:solidFill>
                  <a:srgbClr val="111111"/>
                </a:solidFill>
              </a:rPr>
              <a:t>Mechanisms</a:t>
            </a:r>
            <a:endParaRPr sz="3350"/>
          </a:p>
        </p:txBody>
      </p:sp>
      <p:sp>
        <p:nvSpPr>
          <p:cNvPr id="5" name="object 5"/>
          <p:cNvSpPr txBox="1"/>
          <p:nvPr/>
        </p:nvSpPr>
        <p:spPr>
          <a:xfrm>
            <a:off x="1082836" y="3720825"/>
            <a:ext cx="8018145" cy="480885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20955" marR="5080" indent="-5080">
              <a:lnSpc>
                <a:spcPts val="2840"/>
              </a:lnSpc>
              <a:spcBef>
                <a:spcPts val="275"/>
              </a:spcBef>
            </a:pPr>
            <a:r>
              <a:rPr sz="2450" spc="-415" dirty="0">
                <a:solidFill>
                  <a:srgbClr val="161616"/>
                </a:solidFill>
                <a:latin typeface="Arial Black" panose="020B0A04020102020204"/>
                <a:cs typeface="Arial Black" panose="020B0A04020102020204"/>
              </a:rPr>
              <a:t>Risk</a:t>
            </a:r>
            <a:r>
              <a:rPr sz="2450" spc="-229" dirty="0">
                <a:solidFill>
                  <a:srgbClr val="161616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2450" spc="-350" dirty="0">
                <a:solidFill>
                  <a:srgbClr val="161616"/>
                </a:solidFill>
                <a:latin typeface="Arial Black" panose="020B0A04020102020204"/>
                <a:cs typeface="Arial Black" panose="020B0A04020102020204"/>
              </a:rPr>
              <a:t>Pattern</a:t>
            </a:r>
            <a:r>
              <a:rPr sz="2450" spc="-165" dirty="0">
                <a:solidFill>
                  <a:srgbClr val="161616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2450" spc="-254" dirty="0">
                <a:solidFill>
                  <a:srgbClr val="0C0C0C"/>
                </a:solidFill>
                <a:latin typeface="Arial Black" panose="020B0A04020102020204"/>
                <a:cs typeface="Arial Black" panose="020B0A04020102020204"/>
              </a:rPr>
              <a:t>Identification:</a:t>
            </a:r>
            <a:r>
              <a:rPr sz="2450" spc="-90" dirty="0">
                <a:solidFill>
                  <a:srgbClr val="0C0C0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2450" spc="-409" dirty="0">
                <a:solidFill>
                  <a:srgbClr val="444444"/>
                </a:solidFill>
                <a:latin typeface="Arial Black" panose="020B0A04020102020204"/>
                <a:cs typeface="Arial Black" panose="020B0A04020102020204"/>
              </a:rPr>
              <a:t>Analyzes</a:t>
            </a:r>
            <a:r>
              <a:rPr sz="2450" spc="-145" dirty="0">
                <a:solidFill>
                  <a:srgbClr val="444444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2450" spc="-345" dirty="0">
                <a:solidFill>
                  <a:srgbClr val="525252"/>
                </a:solidFill>
                <a:latin typeface="Arial Black" panose="020B0A04020102020204"/>
                <a:cs typeface="Arial Black" panose="020B0A04020102020204"/>
              </a:rPr>
              <a:t>route</a:t>
            </a:r>
            <a:r>
              <a:rPr sz="2450" spc="-170" dirty="0">
                <a:solidFill>
                  <a:srgbClr val="525252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2450" spc="-405" dirty="0">
                <a:solidFill>
                  <a:srgbClr val="464646"/>
                </a:solidFill>
                <a:latin typeface="Arial Black" panose="020B0A04020102020204"/>
                <a:cs typeface="Arial Black" panose="020B0A04020102020204"/>
              </a:rPr>
              <a:t>anomalies</a:t>
            </a:r>
            <a:r>
              <a:rPr sz="2450" spc="-75" dirty="0">
                <a:solidFill>
                  <a:srgbClr val="464646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2450" spc="-400" dirty="0">
                <a:solidFill>
                  <a:srgbClr val="4F4F4F"/>
                </a:solidFill>
                <a:latin typeface="Arial Black" panose="020B0A04020102020204"/>
                <a:cs typeface="Arial Black" panose="020B0A04020102020204"/>
              </a:rPr>
              <a:t>against </a:t>
            </a:r>
            <a:r>
              <a:rPr sz="2450" spc="-355" dirty="0">
                <a:solidFill>
                  <a:srgbClr val="484848"/>
                </a:solidFill>
                <a:latin typeface="Arial Black" panose="020B0A04020102020204"/>
                <a:cs typeface="Arial Black" panose="020B0A04020102020204"/>
              </a:rPr>
              <a:t>historical</a:t>
            </a:r>
            <a:r>
              <a:rPr sz="2450" spc="-160" dirty="0">
                <a:solidFill>
                  <a:srgbClr val="48484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2450" spc="-345" dirty="0">
                <a:solidFill>
                  <a:srgbClr val="4B4B4B"/>
                </a:solidFill>
                <a:latin typeface="Arial Black" panose="020B0A04020102020204"/>
                <a:cs typeface="Arial Black" panose="020B0A04020102020204"/>
              </a:rPr>
              <a:t>danger</a:t>
            </a:r>
            <a:r>
              <a:rPr sz="2450" spc="-220" dirty="0">
                <a:solidFill>
                  <a:srgbClr val="4B4B4B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2450" spc="-370" dirty="0">
                <a:solidFill>
                  <a:srgbClr val="464646"/>
                </a:solidFill>
                <a:latin typeface="Arial Black" panose="020B0A04020102020204"/>
                <a:cs typeface="Arial Black" panose="020B0A04020102020204"/>
              </a:rPr>
              <a:t>zones.</a:t>
            </a:r>
            <a:endParaRPr sz="2450">
              <a:latin typeface="Arial Black" panose="020B0A04020102020204"/>
              <a:cs typeface="Arial Black" panose="020B0A04020102020204"/>
            </a:endParaRPr>
          </a:p>
          <a:p>
            <a:pPr>
              <a:lnSpc>
                <a:spcPct val="100000"/>
              </a:lnSpc>
              <a:spcBef>
                <a:spcPts val="1500"/>
              </a:spcBef>
            </a:pPr>
            <a:endParaRPr sz="2450">
              <a:latin typeface="Arial Black" panose="020B0A04020102020204"/>
              <a:cs typeface="Arial Black" panose="020B0A04020102020204"/>
            </a:endParaRPr>
          </a:p>
          <a:p>
            <a:pPr marL="22225" marR="751205" indent="-5715">
              <a:lnSpc>
                <a:spcPts val="2840"/>
              </a:lnSpc>
            </a:pPr>
            <a:r>
              <a:rPr sz="2450" spc="-50" dirty="0">
                <a:solidFill>
                  <a:srgbClr val="0F0F0F"/>
                </a:solidFill>
                <a:latin typeface="Arial MT"/>
                <a:cs typeface="Arial MT"/>
              </a:rPr>
              <a:t>Behavioral</a:t>
            </a:r>
            <a:r>
              <a:rPr sz="2450" spc="-12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2450" spc="-25" dirty="0">
                <a:solidFill>
                  <a:srgbClr val="0F0F0F"/>
                </a:solidFill>
                <a:latin typeface="Arial MT"/>
                <a:cs typeface="Arial MT"/>
              </a:rPr>
              <a:t>Tracking:</a:t>
            </a:r>
            <a:r>
              <a:rPr sz="2450" spc="-6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2450" spc="-125" dirty="0">
                <a:solidFill>
                  <a:srgbClr val="494949"/>
                </a:solidFill>
                <a:latin typeface="Arial MT"/>
                <a:cs typeface="Arial MT"/>
              </a:rPr>
              <a:t>Evaluates</a:t>
            </a:r>
            <a:r>
              <a:rPr sz="2450" spc="-45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2450" spc="-20" dirty="0">
                <a:solidFill>
                  <a:srgbClr val="444444"/>
                </a:solidFill>
                <a:latin typeface="Arial MT"/>
                <a:cs typeface="Arial MT"/>
              </a:rPr>
              <a:t>unexpected</a:t>
            </a:r>
            <a:r>
              <a:rPr sz="2450" spc="-3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464646"/>
                </a:solidFill>
                <a:latin typeface="Arial MT"/>
                <a:cs typeface="Arial MT"/>
              </a:rPr>
              <a:t>prolonged </a:t>
            </a:r>
            <a:r>
              <a:rPr sz="2450" spc="-40" dirty="0">
                <a:solidFill>
                  <a:srgbClr val="464646"/>
                </a:solidFill>
                <a:latin typeface="Arial MT"/>
                <a:cs typeface="Arial MT"/>
              </a:rPr>
              <a:t>stationary</a:t>
            </a:r>
            <a:r>
              <a:rPr sz="2450" spc="-4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444444"/>
                </a:solidFill>
                <a:latin typeface="Arial MT"/>
                <a:cs typeface="Arial MT"/>
              </a:rPr>
              <a:t>stops</a:t>
            </a:r>
            <a:r>
              <a:rPr sz="2450" spc="-13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2450" spc="-80" dirty="0">
                <a:solidFill>
                  <a:srgbClr val="444444"/>
                </a:solidFill>
                <a:latin typeface="Arial MT"/>
                <a:cs typeface="Arial MT"/>
              </a:rPr>
              <a:t>during</a:t>
            </a:r>
            <a:r>
              <a:rPr sz="2450" spc="-114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464646"/>
                </a:solidFill>
                <a:latin typeface="Arial MT"/>
                <a:cs typeface="Arial MT"/>
              </a:rPr>
              <a:t>transit.</a:t>
            </a:r>
            <a:endParaRPr sz="2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25"/>
              </a:spcBef>
            </a:pPr>
            <a:endParaRPr sz="2450">
              <a:latin typeface="Arial MT"/>
              <a:cs typeface="Arial MT"/>
            </a:endParaRPr>
          </a:p>
          <a:p>
            <a:pPr marL="22225" marR="1502410" indent="-5080">
              <a:lnSpc>
                <a:spcPct val="103000"/>
              </a:lnSpc>
            </a:pPr>
            <a:r>
              <a:rPr sz="2300" spc="80" dirty="0">
                <a:solidFill>
                  <a:srgbClr val="0F0F0F"/>
                </a:solidFill>
                <a:latin typeface="Arial MT"/>
                <a:cs typeface="Arial MT"/>
              </a:rPr>
              <a:t>Contextual</a:t>
            </a:r>
            <a:r>
              <a:rPr sz="2300" spc="3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2300" spc="50" dirty="0">
                <a:solidFill>
                  <a:srgbClr val="0F0F0F"/>
                </a:solidFill>
                <a:latin typeface="Arial MT"/>
                <a:cs typeface="Arial MT"/>
              </a:rPr>
              <a:t>Safety</a:t>
            </a:r>
            <a:r>
              <a:rPr sz="2300" spc="2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2300" spc="100" dirty="0">
                <a:solidFill>
                  <a:srgbClr val="0C0C0C"/>
                </a:solidFill>
                <a:latin typeface="Arial MT"/>
                <a:cs typeface="Arial MT"/>
              </a:rPr>
              <a:t>Scoring:</a:t>
            </a:r>
            <a:r>
              <a:rPr sz="2300" spc="-5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484848"/>
                </a:solidFill>
                <a:latin typeface="Arial MT"/>
                <a:cs typeface="Arial MT"/>
              </a:rPr>
              <a:t>Factors</a:t>
            </a:r>
            <a:r>
              <a:rPr sz="2300" spc="-35" dirty="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sz="2300" spc="50" dirty="0">
                <a:solidFill>
                  <a:srgbClr val="495666"/>
                </a:solidFill>
                <a:latin typeface="Arial MT"/>
                <a:cs typeface="Arial MT"/>
              </a:rPr>
              <a:t>time</a:t>
            </a:r>
            <a:r>
              <a:rPr sz="2300" spc="-75" dirty="0">
                <a:solidFill>
                  <a:srgbClr val="495666"/>
                </a:solidFill>
                <a:latin typeface="Arial MT"/>
                <a:cs typeface="Arial MT"/>
              </a:rPr>
              <a:t> </a:t>
            </a:r>
            <a:r>
              <a:rPr sz="2300" spc="100" dirty="0">
                <a:solidFill>
                  <a:srgbClr val="505050"/>
                </a:solidFill>
                <a:latin typeface="Arial MT"/>
                <a:cs typeface="Arial MT"/>
              </a:rPr>
              <a:t>of</a:t>
            </a:r>
            <a:r>
              <a:rPr sz="2300" spc="-40" dirty="0">
                <a:solidFill>
                  <a:srgbClr val="505050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444444"/>
                </a:solidFill>
                <a:latin typeface="Arial MT"/>
                <a:cs typeface="Arial MT"/>
              </a:rPr>
              <a:t>night </a:t>
            </a:r>
            <a:r>
              <a:rPr sz="2300" dirty="0">
                <a:solidFill>
                  <a:srgbClr val="464646"/>
                </a:solidFill>
                <a:latin typeface="Arial MT"/>
                <a:cs typeface="Arial MT"/>
              </a:rPr>
              <a:t>destination</a:t>
            </a:r>
            <a:r>
              <a:rPr sz="2300" spc="14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494949"/>
                </a:solidFill>
                <a:latin typeface="Arial MT"/>
                <a:cs typeface="Arial MT"/>
              </a:rPr>
              <a:t>safety</a:t>
            </a:r>
            <a:r>
              <a:rPr sz="2300" spc="90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464646"/>
                </a:solidFill>
                <a:latin typeface="Arial MT"/>
                <a:cs typeface="Arial MT"/>
              </a:rPr>
              <a:t>score,</a:t>
            </a:r>
            <a:r>
              <a:rPr sz="2300" spc="14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300" spc="-70" dirty="0">
                <a:solidFill>
                  <a:srgbClr val="425267"/>
                </a:solidFill>
                <a:latin typeface="Arial MT"/>
                <a:cs typeface="Arial MT"/>
              </a:rPr>
              <a:t>&amp;</a:t>
            </a:r>
            <a:r>
              <a:rPr sz="2300" spc="25" dirty="0">
                <a:solidFill>
                  <a:srgbClr val="425267"/>
                </a:solidFill>
                <a:latin typeface="Arial MT"/>
                <a:cs typeface="Arial MT"/>
              </a:rPr>
              <a:t> </a:t>
            </a:r>
            <a:r>
              <a:rPr sz="2300" spc="80" dirty="0">
                <a:solidFill>
                  <a:srgbClr val="464646"/>
                </a:solidFill>
                <a:latin typeface="Arial MT"/>
                <a:cs typeface="Arial MT"/>
              </a:rPr>
              <a:t>battery</a:t>
            </a:r>
            <a:r>
              <a:rPr sz="2300" spc="15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464646"/>
                </a:solidFill>
                <a:latin typeface="Arial MT"/>
                <a:cs typeface="Arial MT"/>
              </a:rPr>
              <a:t>status.</a:t>
            </a:r>
            <a:endParaRPr sz="2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300"/>
              </a:spcBef>
            </a:pPr>
            <a:endParaRPr sz="2300">
              <a:latin typeface="Arial MT"/>
              <a:cs typeface="Arial MT"/>
            </a:endParaRPr>
          </a:p>
          <a:p>
            <a:pPr marL="23495" marR="486410" indent="-11430">
              <a:lnSpc>
                <a:spcPct val="103000"/>
              </a:lnSpc>
            </a:pPr>
            <a:r>
              <a:rPr sz="2300" spc="100" dirty="0">
                <a:solidFill>
                  <a:srgbClr val="0E0E0E"/>
                </a:solidFill>
                <a:latin typeface="Arial MT"/>
                <a:cs typeface="Arial MT"/>
              </a:rPr>
              <a:t>Intelligent</a:t>
            </a:r>
            <a:r>
              <a:rPr sz="2300" spc="40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Assistance:</a:t>
            </a:r>
            <a:r>
              <a:rPr sz="2300" spc="260" dirty="0">
                <a:latin typeface="Arial MT"/>
                <a:cs typeface="Arial MT"/>
              </a:rPr>
              <a:t> </a:t>
            </a:r>
            <a:r>
              <a:rPr sz="2300" spc="-140" dirty="0">
                <a:solidFill>
                  <a:srgbClr val="525252"/>
                </a:solidFill>
                <a:latin typeface="Arial MT"/>
                <a:cs typeface="Arial MT"/>
              </a:rPr>
              <a:t>AI</a:t>
            </a:r>
            <a:r>
              <a:rPr sz="2300" spc="-45" dirty="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sz="2300" spc="-25" dirty="0">
                <a:solidFill>
                  <a:srgbClr val="464646"/>
                </a:solidFill>
                <a:latin typeface="Arial MT"/>
                <a:cs typeface="Arial MT"/>
              </a:rPr>
              <a:t>assists</a:t>
            </a:r>
            <a:r>
              <a:rPr sz="2300" spc="7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494949"/>
                </a:solidFill>
                <a:latin typeface="Arial MT"/>
                <a:cs typeface="Arial MT"/>
              </a:rPr>
              <a:t>safety</a:t>
            </a:r>
            <a:r>
              <a:rPr sz="2300" spc="50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2300" spc="65" dirty="0">
                <a:solidFill>
                  <a:srgbClr val="444444"/>
                </a:solidFill>
                <a:latin typeface="Arial MT"/>
                <a:cs typeface="Arial MT"/>
              </a:rPr>
              <a:t>decision-</a:t>
            </a:r>
            <a:r>
              <a:rPr sz="2300" spc="70" dirty="0">
                <a:solidFill>
                  <a:srgbClr val="444444"/>
                </a:solidFill>
                <a:latin typeface="Arial MT"/>
                <a:cs typeface="Arial MT"/>
              </a:rPr>
              <a:t>making </a:t>
            </a:r>
            <a:r>
              <a:rPr sz="2300" spc="45" dirty="0">
                <a:solidFill>
                  <a:srgbClr val="4B4B4B"/>
                </a:solidFill>
                <a:latin typeface="Arial MT"/>
                <a:cs typeface="Arial MT"/>
              </a:rPr>
              <a:t>without</a:t>
            </a:r>
            <a:r>
              <a:rPr sz="2300" spc="185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4B4B4B"/>
                </a:solidFill>
                <a:latin typeface="Arial MT"/>
                <a:cs typeface="Arial MT"/>
              </a:rPr>
              <a:t>autonomous</a:t>
            </a:r>
            <a:r>
              <a:rPr sz="2300" spc="275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2300" spc="55" dirty="0">
                <a:solidFill>
                  <a:srgbClr val="464646"/>
                </a:solidFill>
                <a:latin typeface="Arial MT"/>
                <a:cs typeface="Arial MT"/>
              </a:rPr>
              <a:t>lockouts.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244423" y="1117500"/>
            <a:ext cx="1884680" cy="2806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50" dirty="0">
                <a:solidFill>
                  <a:srgbClr val="494949"/>
                </a:solidFill>
                <a:latin typeface="Arial MT"/>
                <a:cs typeface="Arial MT"/>
              </a:rPr>
              <a:t>Intelligence</a:t>
            </a:r>
            <a:r>
              <a:rPr sz="1650" spc="65" dirty="0">
                <a:solidFill>
                  <a:srgbClr val="494949"/>
                </a:solidFill>
                <a:latin typeface="Arial MT"/>
                <a:cs typeface="Arial MT"/>
              </a:rPr>
              <a:t>  </a:t>
            </a:r>
            <a:r>
              <a:rPr sz="1650" spc="-10" dirty="0">
                <a:solidFill>
                  <a:srgbClr val="4D4D4D"/>
                </a:solidFill>
                <a:latin typeface="Arial MT"/>
                <a:cs typeface="Arial MT"/>
              </a:rPr>
              <a:t>Engine</a:t>
            </a:r>
            <a:endParaRPr sz="16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7245548" y="1193680"/>
            <a:ext cx="1884759" cy="15706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39462" y="614898"/>
            <a:ext cx="2841625" cy="2806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50" spc="-50" dirty="0">
                <a:solidFill>
                  <a:srgbClr val="EB1A50"/>
                </a:solidFill>
                <a:latin typeface="Arial Black" panose="020B0A04020102020204"/>
                <a:cs typeface="Arial Black" panose="020B0A04020102020204"/>
              </a:rPr>
              <a:t>I</a:t>
            </a:r>
            <a:r>
              <a:rPr sz="1650" spc="-50" dirty="0">
                <a:solidFill>
                  <a:srgbClr val="D4114B"/>
                </a:solidFill>
                <a:latin typeface="Arial Black" panose="020B0A04020102020204"/>
                <a:cs typeface="Arial Black" panose="020B0A04020102020204"/>
              </a:rPr>
              <a:t>NC</a:t>
            </a:r>
            <a:r>
              <a:rPr sz="1650" spc="-315" dirty="0">
                <a:solidFill>
                  <a:srgbClr val="D4114B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650" dirty="0">
                <a:solidFill>
                  <a:srgbClr val="B52F50"/>
                </a:solidFill>
                <a:latin typeface="Arial Black" panose="020B0A04020102020204"/>
                <a:cs typeface="Arial Black" panose="020B0A04020102020204"/>
              </a:rPr>
              <a:t>I</a:t>
            </a:r>
            <a:r>
              <a:rPr sz="1650" dirty="0">
                <a:solidFill>
                  <a:srgbClr val="DD234B"/>
                </a:solidFill>
                <a:latin typeface="Arial Black" panose="020B0A04020102020204"/>
                <a:cs typeface="Arial Black" panose="020B0A04020102020204"/>
              </a:rPr>
              <a:t>D</a:t>
            </a:r>
            <a:r>
              <a:rPr sz="1650" dirty="0">
                <a:solidFill>
                  <a:srgbClr val="DF214B"/>
                </a:solidFill>
                <a:latin typeface="Arial Black" panose="020B0A04020102020204"/>
                <a:cs typeface="Arial Black" panose="020B0A04020102020204"/>
              </a:rPr>
              <a:t>E</a:t>
            </a:r>
            <a:r>
              <a:rPr sz="1650" spc="-335" dirty="0">
                <a:solidFill>
                  <a:srgbClr val="DF214B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650" dirty="0">
                <a:solidFill>
                  <a:srgbClr val="C42F54"/>
                </a:solidFill>
                <a:latin typeface="Arial Black" panose="020B0A04020102020204"/>
                <a:cs typeface="Arial Black" panose="020B0A04020102020204"/>
              </a:rPr>
              <a:t>NT</a:t>
            </a:r>
            <a:r>
              <a:rPr sz="1650" spc="180" dirty="0">
                <a:solidFill>
                  <a:srgbClr val="C42F54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650" spc="-35" dirty="0">
                <a:solidFill>
                  <a:srgbClr val="DF2148"/>
                </a:solidFill>
                <a:latin typeface="Arial Black" panose="020B0A04020102020204"/>
                <a:cs typeface="Arial Black" panose="020B0A04020102020204"/>
              </a:rPr>
              <a:t>ESCAL</a:t>
            </a:r>
            <a:r>
              <a:rPr sz="1650" spc="-140" dirty="0">
                <a:solidFill>
                  <a:srgbClr val="DF214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650" spc="-10" dirty="0">
                <a:solidFill>
                  <a:srgbClr val="E81F4F"/>
                </a:solidFill>
                <a:latin typeface="Arial Black" panose="020B0A04020102020204"/>
                <a:cs typeface="Arial Black" panose="020B0A04020102020204"/>
              </a:rPr>
              <a:t>ATION</a:t>
            </a:r>
            <a:endParaRPr sz="165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7355" y="10420088"/>
            <a:ext cx="4472305" cy="263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45"/>
              </a:lnSpc>
            </a:pPr>
            <a:r>
              <a:rPr sz="1650" dirty="0">
                <a:solidFill>
                  <a:srgbClr val="696969"/>
                </a:solidFill>
                <a:latin typeface="Arial MT"/>
                <a:cs typeface="Arial MT"/>
              </a:rPr>
              <a:t>Saf</a:t>
            </a:r>
            <a:r>
              <a:rPr sz="1650" spc="-114" dirty="0">
                <a:solidFill>
                  <a:srgbClr val="696969"/>
                </a:solidFill>
                <a:latin typeface="Arial MT"/>
                <a:cs typeface="Arial MT"/>
              </a:rPr>
              <a:t> </a:t>
            </a:r>
            <a:r>
              <a:rPr sz="1650" spc="65" dirty="0">
                <a:solidFill>
                  <a:srgbClr val="606060"/>
                </a:solidFill>
                <a:latin typeface="Arial MT"/>
                <a:cs typeface="Arial MT"/>
              </a:rPr>
              <a:t>eHer:</a:t>
            </a:r>
            <a:r>
              <a:rPr sz="1650" spc="15" dirty="0">
                <a:solidFill>
                  <a:srgbClr val="606060"/>
                </a:solidFill>
                <a:latin typeface="Arial MT"/>
                <a:cs typeface="Arial MT"/>
              </a:rPr>
              <a:t> </a:t>
            </a:r>
            <a:r>
              <a:rPr sz="1650" spc="-55" dirty="0">
                <a:solidFill>
                  <a:srgbClr val="95A5C3"/>
                </a:solidFill>
                <a:latin typeface="Arial MT"/>
                <a:cs typeface="Arial MT"/>
              </a:rPr>
              <a:t>AI</a:t>
            </a:r>
            <a:r>
              <a:rPr sz="1650" spc="-220" dirty="0">
                <a:solidFill>
                  <a:srgbClr val="95A5C3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646464"/>
                </a:solidFill>
                <a:latin typeface="Arial MT"/>
                <a:cs typeface="Arial MT"/>
              </a:rPr>
              <a:t>-</a:t>
            </a:r>
            <a:r>
              <a:rPr sz="1650" spc="65" dirty="0">
                <a:solidFill>
                  <a:srgbClr val="646464"/>
                </a:solidFill>
                <a:latin typeface="Arial MT"/>
                <a:cs typeface="Arial MT"/>
              </a:rPr>
              <a:t>Driven</a:t>
            </a:r>
            <a:r>
              <a:rPr sz="1650" spc="-5" dirty="0">
                <a:solidFill>
                  <a:srgbClr val="646464"/>
                </a:solidFill>
                <a:latin typeface="Arial MT"/>
                <a:cs typeface="Arial MT"/>
              </a:rPr>
              <a:t> </a:t>
            </a:r>
            <a:r>
              <a:rPr sz="1650" spc="105" dirty="0">
                <a:solidFill>
                  <a:srgbClr val="676767"/>
                </a:solidFill>
                <a:latin typeface="Arial MT"/>
                <a:cs typeface="Arial MT"/>
              </a:rPr>
              <a:t>Women</a:t>
            </a:r>
            <a:r>
              <a:rPr sz="1650" spc="5" dirty="0">
                <a:solidFill>
                  <a:srgbClr val="676767"/>
                </a:solidFill>
                <a:latin typeface="Arial MT"/>
                <a:cs typeface="Arial MT"/>
              </a:rPr>
              <a:t> </a:t>
            </a:r>
            <a:r>
              <a:rPr sz="1650" spc="100" dirty="0">
                <a:solidFill>
                  <a:srgbClr val="6B6B6B"/>
                </a:solidFill>
                <a:latin typeface="Arial MT"/>
                <a:cs typeface="Arial MT"/>
              </a:rPr>
              <a:t>Safety</a:t>
            </a:r>
            <a:r>
              <a:rPr sz="1650" spc="55" dirty="0">
                <a:solidFill>
                  <a:srgbClr val="6B6B6B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6B6B6B"/>
                </a:solidFill>
                <a:latin typeface="Arial MT"/>
                <a:cs typeface="Arial MT"/>
              </a:rPr>
              <a:t>Platf</a:t>
            </a:r>
            <a:r>
              <a:rPr sz="1650" spc="-80" dirty="0">
                <a:solidFill>
                  <a:srgbClr val="6B6B6B"/>
                </a:solidFill>
                <a:latin typeface="Arial MT"/>
                <a:cs typeface="Arial MT"/>
              </a:rPr>
              <a:t> </a:t>
            </a:r>
            <a:r>
              <a:rPr sz="1650" spc="50" dirty="0">
                <a:solidFill>
                  <a:srgbClr val="5E5E5E"/>
                </a:solidFill>
                <a:latin typeface="Arial MT"/>
                <a:cs typeface="Arial MT"/>
              </a:rPr>
              <a:t>orm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1440">
              <a:lnSpc>
                <a:spcPts val="1945"/>
              </a:lnSpc>
            </a:pPr>
            <a:r>
              <a:rPr dirty="0">
                <a:solidFill>
                  <a:srgbClr val="696969"/>
                </a:solidFill>
              </a:rPr>
              <a:t>Slide</a:t>
            </a:r>
            <a:r>
              <a:rPr spc="200" dirty="0">
                <a:solidFill>
                  <a:srgbClr val="696969"/>
                </a:solidFill>
              </a:rPr>
              <a:t> </a:t>
            </a:r>
            <a:fld id="{81D60167-4931-47E6-BA6A-407CBD079E47}" type="slidenum">
              <a:rPr spc="-50" dirty="0">
                <a:solidFill>
                  <a:srgbClr val="646464"/>
                </a:solidFill>
              </a:rPr>
            </a:fld>
            <a:endParaRPr spc="-50" dirty="0">
              <a:solidFill>
                <a:srgbClr val="646464"/>
              </a:solidFill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100"/>
              </a:spcBef>
            </a:pPr>
            <a:r>
              <a:rPr sz="3350" spc="-395" dirty="0">
                <a:solidFill>
                  <a:srgbClr val="131313"/>
                </a:solidFill>
                <a:latin typeface="Arial Black" panose="020B0A04020102020204"/>
                <a:cs typeface="Arial Black" panose="020B0A04020102020204"/>
              </a:rPr>
              <a:t>Emergency</a:t>
            </a:r>
            <a:r>
              <a:rPr sz="3350" spc="25" dirty="0">
                <a:solidFill>
                  <a:srgbClr val="131313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3350" spc="-409" dirty="0">
                <a:solidFill>
                  <a:srgbClr val="0F0F0F"/>
                </a:solidFill>
                <a:latin typeface="Arial Black" panose="020B0A04020102020204"/>
                <a:cs typeface="Arial Black" panose="020B0A04020102020204"/>
              </a:rPr>
              <a:t>Response</a:t>
            </a:r>
            <a:r>
              <a:rPr sz="3350" spc="-130" dirty="0">
                <a:solidFill>
                  <a:srgbClr val="0F0F0F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3350" spc="-315" dirty="0">
                <a:solidFill>
                  <a:srgbClr val="151515"/>
                </a:solidFill>
                <a:latin typeface="Arial Black" panose="020B0A04020102020204"/>
                <a:cs typeface="Arial Black" panose="020B0A04020102020204"/>
              </a:rPr>
              <a:t>Workflow</a:t>
            </a:r>
            <a:endParaRPr sz="335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4671" y="2715619"/>
            <a:ext cx="6083300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20065" algn="l"/>
              </a:tabLst>
            </a:pPr>
            <a:r>
              <a:rPr sz="2450" spc="-50" dirty="0">
                <a:solidFill>
                  <a:srgbClr val="CD2323"/>
                </a:solidFill>
                <a:latin typeface="Arial MT"/>
                <a:cs typeface="Arial MT"/>
              </a:rPr>
              <a:t>&amp;</a:t>
            </a:r>
            <a:r>
              <a:rPr sz="2450" dirty="0">
                <a:solidFill>
                  <a:srgbClr val="CD2323"/>
                </a:solidFill>
                <a:latin typeface="Arial MT"/>
                <a:cs typeface="Arial MT"/>
              </a:rPr>
              <a:t>	</a:t>
            </a:r>
            <a:r>
              <a:rPr sz="2450" dirty="0">
                <a:solidFill>
                  <a:srgbClr val="901F23"/>
                </a:solidFill>
                <a:latin typeface="Arial MT"/>
                <a:cs typeface="Arial MT"/>
              </a:rPr>
              <a:t>Potential</a:t>
            </a:r>
            <a:r>
              <a:rPr sz="2450" spc="-175" dirty="0">
                <a:solidFill>
                  <a:srgbClr val="901F23"/>
                </a:solidFill>
                <a:latin typeface="Arial MT"/>
                <a:cs typeface="Arial MT"/>
              </a:rPr>
              <a:t> </a:t>
            </a:r>
            <a:r>
              <a:rPr sz="2450" spc="80" dirty="0">
                <a:solidFill>
                  <a:srgbClr val="8E2424"/>
                </a:solidFill>
                <a:latin typeface="Arial MT"/>
                <a:cs typeface="Arial MT"/>
              </a:rPr>
              <a:t>Risk/</a:t>
            </a:r>
            <a:r>
              <a:rPr sz="2450" spc="-240" dirty="0">
                <a:solidFill>
                  <a:srgbClr val="8E2424"/>
                </a:solidFill>
                <a:latin typeface="Arial MT"/>
                <a:cs typeface="Arial MT"/>
              </a:rPr>
              <a:t> </a:t>
            </a:r>
            <a:r>
              <a:rPr sz="2450" spc="-50" dirty="0">
                <a:solidFill>
                  <a:srgbClr val="90161A"/>
                </a:solidFill>
                <a:latin typeface="Arial MT"/>
                <a:cs typeface="Arial MT"/>
              </a:rPr>
              <a:t>Route</a:t>
            </a:r>
            <a:r>
              <a:rPr sz="2450" spc="-150" dirty="0">
                <a:solidFill>
                  <a:srgbClr val="90161A"/>
                </a:solidFill>
                <a:latin typeface="Arial MT"/>
                <a:cs typeface="Arial MT"/>
              </a:rPr>
              <a:t> </a:t>
            </a:r>
            <a:r>
              <a:rPr sz="2450" spc="-20" dirty="0">
                <a:solidFill>
                  <a:srgbClr val="9E232D"/>
                </a:solidFill>
                <a:latin typeface="Arial MT"/>
                <a:cs typeface="Arial MT"/>
              </a:rPr>
              <a:t>Anomaly</a:t>
            </a:r>
            <a:r>
              <a:rPr sz="2450" spc="-60" dirty="0">
                <a:solidFill>
                  <a:srgbClr val="9E232D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9E1A1A"/>
                </a:solidFill>
                <a:latin typeface="Arial MT"/>
                <a:cs typeface="Arial MT"/>
              </a:rPr>
              <a:t>Detected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81127" y="4513994"/>
            <a:ext cx="5914390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dirty="0">
                <a:solidFill>
                  <a:srgbClr val="0E0E0E"/>
                </a:solidFill>
                <a:latin typeface="Arial MT"/>
                <a:cs typeface="Arial MT"/>
              </a:rPr>
              <a:t>Interactive</a:t>
            </a:r>
            <a:r>
              <a:rPr sz="2450" spc="-140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2450" spc="-110" dirty="0">
                <a:solidFill>
                  <a:srgbClr val="181818"/>
                </a:solidFill>
                <a:latin typeface="Arial MT"/>
                <a:cs typeface="Arial MT"/>
              </a:rPr>
              <a:t>User</a:t>
            </a:r>
            <a:r>
              <a:rPr sz="2450" spc="9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0E0E0E"/>
                </a:solidFill>
                <a:latin typeface="Arial MT"/>
                <a:cs typeface="Arial MT"/>
              </a:rPr>
              <a:t>Safety </a:t>
            </a:r>
            <a:r>
              <a:rPr sz="2450" spc="55" dirty="0">
                <a:solidFill>
                  <a:srgbClr val="0C0C0C"/>
                </a:solidFill>
                <a:latin typeface="Arial MT"/>
                <a:cs typeface="Arial MT"/>
              </a:rPr>
              <a:t>Check-</a:t>
            </a:r>
            <a:r>
              <a:rPr sz="2450" dirty="0">
                <a:solidFill>
                  <a:srgbClr val="0C0C0C"/>
                </a:solidFill>
                <a:latin typeface="Arial MT"/>
                <a:cs typeface="Arial MT"/>
              </a:rPr>
              <a:t>in</a:t>
            </a:r>
            <a:r>
              <a:rPr sz="2450" spc="-75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latin typeface="Arial MT"/>
                <a:cs typeface="Arial MT"/>
              </a:rPr>
              <a:t>Triggered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68023" y="5695896"/>
            <a:ext cx="5864860" cy="1344930"/>
          </a:xfrm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930"/>
              </a:spcBef>
            </a:pPr>
            <a:r>
              <a:rPr sz="2450" spc="55" dirty="0">
                <a:solidFill>
                  <a:srgbClr val="1DC664"/>
                </a:solidFill>
                <a:latin typeface="Arial MT"/>
                <a:cs typeface="Arial MT"/>
              </a:rPr>
              <a:t>OUser</a:t>
            </a:r>
            <a:r>
              <a:rPr sz="2450" spc="-145" dirty="0">
                <a:solidFill>
                  <a:srgbClr val="1DC664"/>
                </a:solidFill>
                <a:latin typeface="Arial MT"/>
                <a:cs typeface="Arial MT"/>
              </a:rPr>
              <a:t> </a:t>
            </a:r>
            <a:r>
              <a:rPr sz="2450" spc="-55" dirty="0">
                <a:solidFill>
                  <a:srgbClr val="1F6744"/>
                </a:solidFill>
                <a:latin typeface="Arial MT"/>
                <a:cs typeface="Arial MT"/>
              </a:rPr>
              <a:t>Responds</a:t>
            </a:r>
            <a:r>
              <a:rPr sz="2450" spc="-95" dirty="0">
                <a:solidFill>
                  <a:srgbClr val="1F6744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0A4F4D"/>
                </a:solidFill>
                <a:latin typeface="Arial MT"/>
                <a:cs typeface="Arial MT"/>
              </a:rPr>
              <a:t>"SAFE"</a:t>
            </a:r>
            <a:endParaRPr sz="2450">
              <a:latin typeface="Arial MT"/>
              <a:cs typeface="Arial MT"/>
            </a:endParaRPr>
          </a:p>
          <a:p>
            <a:pPr marL="12700" marR="5080" algn="ctr">
              <a:lnSpc>
                <a:spcPts val="2840"/>
              </a:lnSpc>
              <a:spcBef>
                <a:spcPts val="1010"/>
              </a:spcBef>
            </a:pPr>
            <a:r>
              <a:rPr sz="2450" spc="-140" dirty="0">
                <a:solidFill>
                  <a:srgbClr val="1C7C52"/>
                </a:solidFill>
                <a:latin typeface="Arial MT"/>
                <a:cs typeface="Arial MT"/>
              </a:rPr>
              <a:t>Reset</a:t>
            </a:r>
            <a:r>
              <a:rPr sz="2450" dirty="0">
                <a:solidFill>
                  <a:srgbClr val="1C7C52"/>
                </a:solidFill>
                <a:latin typeface="Arial MT"/>
                <a:cs typeface="Arial MT"/>
              </a:rPr>
              <a:t> </a:t>
            </a:r>
            <a:r>
              <a:rPr sz="2450" spc="-105" dirty="0">
                <a:solidFill>
                  <a:srgbClr val="67B3A8"/>
                </a:solidFill>
                <a:latin typeface="Arial MT"/>
                <a:cs typeface="Arial MT"/>
              </a:rPr>
              <a:t>risk</a:t>
            </a:r>
            <a:r>
              <a:rPr sz="2450" spc="-175" dirty="0">
                <a:solidFill>
                  <a:srgbClr val="67B3A8"/>
                </a:solidFill>
                <a:latin typeface="Arial MT"/>
                <a:cs typeface="Arial MT"/>
              </a:rPr>
              <a:t> </a:t>
            </a:r>
            <a:r>
              <a:rPr sz="2450" spc="-35" dirty="0">
                <a:solidFill>
                  <a:srgbClr val="66AE85"/>
                </a:solidFill>
                <a:latin typeface="Arial MT"/>
                <a:cs typeface="Arial MT"/>
              </a:rPr>
              <a:t>timer</a:t>
            </a:r>
            <a:r>
              <a:rPr sz="2450" spc="-120" dirty="0">
                <a:solidFill>
                  <a:srgbClr val="66AE85"/>
                </a:solidFill>
                <a:latin typeface="Arial MT"/>
                <a:cs typeface="Arial MT"/>
              </a:rPr>
              <a:t> </a:t>
            </a:r>
            <a:r>
              <a:rPr sz="2450" spc="-105" dirty="0">
                <a:solidFill>
                  <a:srgbClr val="18834F"/>
                </a:solidFill>
                <a:latin typeface="Arial MT"/>
                <a:cs typeface="Arial MT"/>
              </a:rPr>
              <a:t>&amp;</a:t>
            </a:r>
            <a:r>
              <a:rPr sz="2450" spc="-220" dirty="0">
                <a:solidFill>
                  <a:srgbClr val="18834F"/>
                </a:solidFill>
                <a:latin typeface="Arial MT"/>
                <a:cs typeface="Arial MT"/>
              </a:rPr>
              <a:t> </a:t>
            </a:r>
            <a:r>
              <a:rPr sz="2450" spc="-45" dirty="0">
                <a:solidFill>
                  <a:srgbClr val="56A380"/>
                </a:solidFill>
                <a:latin typeface="Arial MT"/>
                <a:cs typeface="Arial MT"/>
              </a:rPr>
              <a:t>continue</a:t>
            </a:r>
            <a:r>
              <a:rPr sz="2450" spc="-120" dirty="0">
                <a:solidFill>
                  <a:srgbClr val="56A380"/>
                </a:solidFill>
                <a:latin typeface="Arial MT"/>
                <a:cs typeface="Arial MT"/>
              </a:rPr>
              <a:t> </a:t>
            </a:r>
            <a:r>
              <a:rPr sz="2450" spc="-70" dirty="0">
                <a:solidFill>
                  <a:srgbClr val="698969"/>
                </a:solidFill>
                <a:latin typeface="Arial MT"/>
                <a:cs typeface="Arial MT"/>
              </a:rPr>
              <a:t>journey</a:t>
            </a:r>
            <a:r>
              <a:rPr sz="2450" spc="-90" dirty="0">
                <a:solidFill>
                  <a:srgbClr val="698969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74A187"/>
                </a:solidFill>
                <a:latin typeface="Arial MT"/>
                <a:cs typeface="Arial MT"/>
              </a:rPr>
              <a:t>telemetry </a:t>
            </a:r>
            <a:r>
              <a:rPr sz="2450" spc="-10" dirty="0">
                <a:solidFill>
                  <a:srgbClr val="60B397"/>
                </a:solidFill>
                <a:latin typeface="Arial MT"/>
                <a:cs typeface="Arial MT"/>
              </a:rPr>
              <a:t>monitoring.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960817" y="5801913"/>
            <a:ext cx="5794375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spc="80" dirty="0">
                <a:solidFill>
                  <a:srgbClr val="E41A44"/>
                </a:solidFill>
                <a:latin typeface="Arial MT"/>
                <a:cs typeface="Arial MT"/>
              </a:rPr>
              <a:t>0</a:t>
            </a:r>
            <a:r>
              <a:rPr sz="2450" spc="90" dirty="0">
                <a:solidFill>
                  <a:srgbClr val="E41A44"/>
                </a:solidFill>
                <a:latin typeface="Arial MT"/>
                <a:cs typeface="Arial MT"/>
              </a:rPr>
              <a:t>  </a:t>
            </a:r>
            <a:r>
              <a:rPr sz="2450" spc="-110" dirty="0">
                <a:solidFill>
                  <a:srgbClr val="8A133B"/>
                </a:solidFill>
                <a:latin typeface="Arial MT"/>
                <a:cs typeface="Arial MT"/>
              </a:rPr>
              <a:t>User</a:t>
            </a:r>
            <a:r>
              <a:rPr sz="2450" spc="-170" dirty="0">
                <a:solidFill>
                  <a:srgbClr val="8A133B"/>
                </a:solidFill>
                <a:latin typeface="Arial MT"/>
                <a:cs typeface="Arial MT"/>
              </a:rPr>
              <a:t> </a:t>
            </a:r>
            <a:r>
              <a:rPr sz="2450" spc="-25" dirty="0">
                <a:solidFill>
                  <a:srgbClr val="970531"/>
                </a:solidFill>
                <a:latin typeface="Arial MT"/>
                <a:cs typeface="Arial MT"/>
              </a:rPr>
              <a:t>Unresponsive</a:t>
            </a:r>
            <a:r>
              <a:rPr sz="2450" spc="-30" dirty="0">
                <a:solidFill>
                  <a:srgbClr val="970531"/>
                </a:solidFill>
                <a:latin typeface="Arial MT"/>
                <a:cs typeface="Arial MT"/>
              </a:rPr>
              <a:t> </a:t>
            </a:r>
            <a:r>
              <a:rPr sz="2450" spc="75" dirty="0">
                <a:solidFill>
                  <a:srgbClr val="9C153F"/>
                </a:solidFill>
                <a:latin typeface="Arial MT"/>
                <a:cs typeface="Arial MT"/>
              </a:rPr>
              <a:t>/Timeout</a:t>
            </a:r>
            <a:r>
              <a:rPr sz="2450" spc="-200" dirty="0">
                <a:solidFill>
                  <a:srgbClr val="9C153F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A31133"/>
                </a:solidFill>
                <a:latin typeface="Arial MT"/>
                <a:cs typeface="Arial MT"/>
              </a:rPr>
              <a:t>Exceeded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029062" y="6532257"/>
            <a:ext cx="7000240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spc="-165" dirty="0">
                <a:solidFill>
                  <a:srgbClr val="B81646"/>
                </a:solidFill>
                <a:latin typeface="Arial MT"/>
                <a:cs typeface="Arial MT"/>
              </a:rPr>
              <a:t>1.</a:t>
            </a:r>
            <a:r>
              <a:rPr sz="2450" spc="-114" dirty="0">
                <a:solidFill>
                  <a:srgbClr val="B81646"/>
                </a:solidFill>
                <a:latin typeface="Arial MT"/>
                <a:cs typeface="Arial MT"/>
              </a:rPr>
              <a:t> </a:t>
            </a:r>
            <a:r>
              <a:rPr sz="2450" spc="-35" dirty="0">
                <a:solidFill>
                  <a:srgbClr val="9A2A42"/>
                </a:solidFill>
                <a:latin typeface="Arial MT"/>
                <a:cs typeface="Arial MT"/>
              </a:rPr>
              <a:t>Automatically</a:t>
            </a:r>
            <a:r>
              <a:rPr sz="2450" spc="-30" dirty="0">
                <a:solidFill>
                  <a:srgbClr val="9A2A42"/>
                </a:solidFill>
                <a:latin typeface="Arial MT"/>
                <a:cs typeface="Arial MT"/>
              </a:rPr>
              <a:t> </a:t>
            </a:r>
            <a:r>
              <a:rPr sz="2450" spc="-105" dirty="0">
                <a:solidFill>
                  <a:srgbClr val="850F2F"/>
                </a:solidFill>
                <a:latin typeface="Arial MT"/>
                <a:cs typeface="Arial MT"/>
              </a:rPr>
              <a:t>Elevate</a:t>
            </a:r>
            <a:r>
              <a:rPr sz="2450" spc="-95" dirty="0">
                <a:solidFill>
                  <a:srgbClr val="850F2F"/>
                </a:solidFill>
                <a:latin typeface="Arial MT"/>
                <a:cs typeface="Arial MT"/>
              </a:rPr>
              <a:t> </a:t>
            </a:r>
            <a:r>
              <a:rPr sz="2450" spc="-60" dirty="0">
                <a:solidFill>
                  <a:srgbClr val="B10F3F"/>
                </a:solidFill>
                <a:latin typeface="Arial MT"/>
                <a:cs typeface="Arial MT"/>
              </a:rPr>
              <a:t>System</a:t>
            </a:r>
            <a:r>
              <a:rPr sz="2450" spc="-260" dirty="0">
                <a:solidFill>
                  <a:srgbClr val="B10F3F"/>
                </a:solidFill>
                <a:latin typeface="Arial MT"/>
                <a:cs typeface="Arial MT"/>
              </a:rPr>
              <a:t> </a:t>
            </a:r>
            <a:r>
              <a:rPr sz="2450" spc="-140" dirty="0">
                <a:solidFill>
                  <a:srgbClr val="AA6485"/>
                </a:solidFill>
                <a:latin typeface="Arial MT"/>
                <a:cs typeface="Arial MT"/>
              </a:rPr>
              <a:t>Threat</a:t>
            </a:r>
            <a:r>
              <a:rPr sz="2450" spc="-45" dirty="0">
                <a:solidFill>
                  <a:srgbClr val="AA6485"/>
                </a:solidFill>
                <a:latin typeface="Arial MT"/>
                <a:cs typeface="Arial MT"/>
              </a:rPr>
              <a:t> </a:t>
            </a:r>
            <a:r>
              <a:rPr sz="2450" spc="-95" dirty="0">
                <a:solidFill>
                  <a:srgbClr val="990A33"/>
                </a:solidFill>
                <a:latin typeface="Arial MT"/>
                <a:cs typeface="Arial MT"/>
              </a:rPr>
              <a:t>Level</a:t>
            </a:r>
            <a:r>
              <a:rPr sz="2450" spc="-240" dirty="0">
                <a:solidFill>
                  <a:srgbClr val="990A33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D6779C"/>
                </a:solidFill>
                <a:latin typeface="Arial MT"/>
                <a:cs typeface="Arial MT"/>
              </a:rPr>
              <a:t>to</a:t>
            </a:r>
            <a:r>
              <a:rPr sz="2450" spc="80" dirty="0">
                <a:solidFill>
                  <a:srgbClr val="D6779C"/>
                </a:solidFill>
                <a:latin typeface="Arial MT"/>
                <a:cs typeface="Arial MT"/>
              </a:rPr>
              <a:t> </a:t>
            </a:r>
            <a:r>
              <a:rPr sz="2450" spc="-20" dirty="0">
                <a:solidFill>
                  <a:srgbClr val="972346"/>
                </a:solidFill>
                <a:latin typeface="Arial MT"/>
                <a:cs typeface="Arial MT"/>
              </a:rPr>
              <a:t>HIGH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047768" y="7246895"/>
            <a:ext cx="7369809" cy="2173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8615" indent="-330200">
              <a:lnSpc>
                <a:spcPct val="100000"/>
              </a:lnSpc>
              <a:spcBef>
                <a:spcPts val="95"/>
              </a:spcBef>
              <a:buClr>
                <a:srgbClr val="C80F3D"/>
              </a:buClr>
              <a:buAutoNum type="arabicPeriod" startAt="2"/>
              <a:tabLst>
                <a:tab pos="348615" algn="l"/>
              </a:tabLst>
            </a:pPr>
            <a:r>
              <a:rPr sz="2450" spc="-40" dirty="0">
                <a:solidFill>
                  <a:srgbClr val="991133"/>
                </a:solidFill>
                <a:latin typeface="Arial MT"/>
                <a:cs typeface="Arial MT"/>
              </a:rPr>
              <a:t>Broadcast</a:t>
            </a:r>
            <a:r>
              <a:rPr sz="2450" spc="-105" dirty="0">
                <a:solidFill>
                  <a:srgbClr val="991133"/>
                </a:solidFill>
                <a:latin typeface="Arial MT"/>
                <a:cs typeface="Arial MT"/>
              </a:rPr>
              <a:t> </a:t>
            </a:r>
            <a:r>
              <a:rPr sz="2450" spc="-254" dirty="0">
                <a:solidFill>
                  <a:srgbClr val="9E1131"/>
                </a:solidFill>
                <a:latin typeface="Arial MT"/>
                <a:cs typeface="Arial MT"/>
              </a:rPr>
              <a:t>SMS</a:t>
            </a:r>
            <a:r>
              <a:rPr sz="2450" spc="-95" dirty="0">
                <a:solidFill>
                  <a:srgbClr val="9E1131"/>
                </a:solidFill>
                <a:latin typeface="Arial MT"/>
                <a:cs typeface="Arial MT"/>
              </a:rPr>
              <a:t> </a:t>
            </a:r>
            <a:r>
              <a:rPr sz="2450" spc="-105" dirty="0">
                <a:solidFill>
                  <a:srgbClr val="C8003D"/>
                </a:solidFill>
                <a:latin typeface="Arial MT"/>
                <a:cs typeface="Arial MT"/>
              </a:rPr>
              <a:t>&amp;</a:t>
            </a:r>
            <a:r>
              <a:rPr sz="2450" spc="-305" dirty="0">
                <a:solidFill>
                  <a:srgbClr val="C8003D"/>
                </a:solidFill>
                <a:latin typeface="Arial MT"/>
                <a:cs typeface="Arial MT"/>
              </a:rPr>
              <a:t> </a:t>
            </a:r>
            <a:r>
              <a:rPr sz="2450" spc="-95" dirty="0">
                <a:solidFill>
                  <a:srgbClr val="A7233B"/>
                </a:solidFill>
                <a:latin typeface="Arial MT"/>
                <a:cs typeface="Arial MT"/>
              </a:rPr>
              <a:t>Web</a:t>
            </a:r>
            <a:r>
              <a:rPr sz="2450" spc="-165" dirty="0">
                <a:solidFill>
                  <a:srgbClr val="A7233B"/>
                </a:solidFill>
                <a:latin typeface="Arial MT"/>
                <a:cs typeface="Arial MT"/>
              </a:rPr>
              <a:t> </a:t>
            </a:r>
            <a:r>
              <a:rPr sz="2450" spc="-80" dirty="0">
                <a:solidFill>
                  <a:srgbClr val="952A4D"/>
                </a:solidFill>
                <a:latin typeface="Arial MT"/>
                <a:cs typeface="Arial MT"/>
              </a:rPr>
              <a:t>Alerts</a:t>
            </a:r>
            <a:r>
              <a:rPr sz="2450" spc="-120" dirty="0">
                <a:solidFill>
                  <a:srgbClr val="952A4D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E67995"/>
                </a:solidFill>
                <a:latin typeface="Arial MT"/>
                <a:cs typeface="Arial MT"/>
              </a:rPr>
              <a:t>to</a:t>
            </a:r>
            <a:r>
              <a:rPr sz="2450" spc="55" dirty="0">
                <a:solidFill>
                  <a:srgbClr val="E67995"/>
                </a:solidFill>
                <a:latin typeface="Arial MT"/>
                <a:cs typeface="Arial MT"/>
              </a:rPr>
              <a:t> </a:t>
            </a:r>
            <a:r>
              <a:rPr sz="2450" spc="-65" dirty="0">
                <a:solidFill>
                  <a:srgbClr val="A52F4B"/>
                </a:solidFill>
                <a:latin typeface="Arial MT"/>
                <a:cs typeface="Arial MT"/>
              </a:rPr>
              <a:t>Emergency</a:t>
            </a:r>
            <a:r>
              <a:rPr sz="2450" spc="-95" dirty="0">
                <a:solidFill>
                  <a:srgbClr val="A52F4B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A14254"/>
                </a:solidFill>
                <a:latin typeface="Arial MT"/>
                <a:cs typeface="Arial MT"/>
              </a:rPr>
              <a:t>Contacts</a:t>
            </a:r>
            <a:endParaRPr sz="2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AutoNum type="arabicPeriod" startAt="2"/>
            </a:pPr>
            <a:endParaRPr sz="2450">
              <a:latin typeface="Arial MT"/>
              <a:cs typeface="Arial MT"/>
            </a:endParaRPr>
          </a:p>
          <a:p>
            <a:pPr marL="12700" marR="583565" indent="336550">
              <a:lnSpc>
                <a:spcPts val="2780"/>
              </a:lnSpc>
              <a:buClr>
                <a:srgbClr val="CA053F"/>
              </a:buClr>
              <a:buAutoNum type="arabicPeriod" startAt="2"/>
              <a:tabLst>
                <a:tab pos="349250" algn="l"/>
              </a:tabLst>
            </a:pPr>
            <a:r>
              <a:rPr sz="2450" spc="-150" dirty="0">
                <a:solidFill>
                  <a:srgbClr val="A70F3B"/>
                </a:solidFill>
                <a:latin typeface="Arial MT"/>
                <a:cs typeface="Arial MT"/>
              </a:rPr>
              <a:t>Share</a:t>
            </a:r>
            <a:r>
              <a:rPr sz="2450" spc="-130" dirty="0">
                <a:solidFill>
                  <a:srgbClr val="A70F3B"/>
                </a:solidFill>
                <a:latin typeface="Arial MT"/>
                <a:cs typeface="Arial MT"/>
              </a:rPr>
              <a:t> </a:t>
            </a:r>
            <a:r>
              <a:rPr sz="2450" spc="-125" dirty="0">
                <a:solidFill>
                  <a:srgbClr val="9C0C34"/>
                </a:solidFill>
                <a:latin typeface="Arial MT"/>
                <a:cs typeface="Arial MT"/>
              </a:rPr>
              <a:t>Live</a:t>
            </a:r>
            <a:r>
              <a:rPr sz="2450" spc="-195" dirty="0">
                <a:solidFill>
                  <a:srgbClr val="9C0C34"/>
                </a:solidFill>
                <a:latin typeface="Arial MT"/>
                <a:cs typeface="Arial MT"/>
              </a:rPr>
              <a:t> </a:t>
            </a:r>
            <a:r>
              <a:rPr sz="2450" spc="-35" dirty="0">
                <a:solidFill>
                  <a:srgbClr val="A54460"/>
                </a:solidFill>
                <a:latin typeface="Arial MT"/>
                <a:cs typeface="Arial MT"/>
              </a:rPr>
              <a:t>Coordinates,</a:t>
            </a:r>
            <a:r>
              <a:rPr sz="2450" spc="-25" dirty="0">
                <a:solidFill>
                  <a:srgbClr val="A54460"/>
                </a:solidFill>
                <a:latin typeface="Arial MT"/>
                <a:cs typeface="Arial MT"/>
              </a:rPr>
              <a:t> </a:t>
            </a:r>
            <a:r>
              <a:rPr sz="2450" spc="-85" dirty="0">
                <a:solidFill>
                  <a:srgbClr val="A50834"/>
                </a:solidFill>
                <a:latin typeface="Arial MT"/>
                <a:cs typeface="Arial MT"/>
              </a:rPr>
              <a:t>Black</a:t>
            </a:r>
            <a:r>
              <a:rPr sz="2450" spc="-120" dirty="0">
                <a:solidFill>
                  <a:srgbClr val="A50834"/>
                </a:solidFill>
                <a:latin typeface="Arial MT"/>
                <a:cs typeface="Arial MT"/>
              </a:rPr>
              <a:t> </a:t>
            </a:r>
            <a:r>
              <a:rPr sz="2450" spc="-114" dirty="0">
                <a:solidFill>
                  <a:srgbClr val="BD1344"/>
                </a:solidFill>
                <a:latin typeface="Arial MT"/>
                <a:cs typeface="Arial MT"/>
              </a:rPr>
              <a:t>Box</a:t>
            </a:r>
            <a:r>
              <a:rPr sz="2450" spc="-150" dirty="0">
                <a:solidFill>
                  <a:srgbClr val="BD1344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AA1C48"/>
                </a:solidFill>
                <a:latin typeface="Arial MT"/>
                <a:cs typeface="Arial MT"/>
              </a:rPr>
              <a:t>Log</a:t>
            </a:r>
            <a:r>
              <a:rPr sz="2450" spc="-220" dirty="0">
                <a:solidFill>
                  <a:srgbClr val="AA1C48"/>
                </a:solidFill>
                <a:latin typeface="Arial MT"/>
                <a:cs typeface="Arial MT"/>
              </a:rPr>
              <a:t> </a:t>
            </a:r>
            <a:r>
              <a:rPr sz="2450" spc="-105" dirty="0">
                <a:solidFill>
                  <a:srgbClr val="C33159"/>
                </a:solidFill>
                <a:latin typeface="Arial MT"/>
                <a:cs typeface="Arial MT"/>
              </a:rPr>
              <a:t>&amp;</a:t>
            </a:r>
            <a:r>
              <a:rPr sz="2450" spc="-275" dirty="0">
                <a:solidFill>
                  <a:srgbClr val="C33159"/>
                </a:solidFill>
                <a:latin typeface="Arial MT"/>
                <a:cs typeface="Arial MT"/>
              </a:rPr>
              <a:t> </a:t>
            </a:r>
            <a:r>
              <a:rPr sz="2450" spc="-70" dirty="0">
                <a:solidFill>
                  <a:srgbClr val="B13362"/>
                </a:solidFill>
                <a:latin typeface="Arial MT"/>
                <a:cs typeface="Arial MT"/>
              </a:rPr>
              <a:t>Reverse </a:t>
            </a:r>
            <a:r>
              <a:rPr sz="2450" spc="-10" dirty="0">
                <a:solidFill>
                  <a:srgbClr val="AA6285"/>
                </a:solidFill>
                <a:latin typeface="Arial MT"/>
                <a:cs typeface="Arial MT"/>
              </a:rPr>
              <a:t>Tracking</a:t>
            </a:r>
            <a:endParaRPr sz="2450">
              <a:latin typeface="Arial MT"/>
              <a:cs typeface="Arial MT"/>
            </a:endParaRPr>
          </a:p>
          <a:p>
            <a:pPr marL="362585" indent="-339090">
              <a:lnSpc>
                <a:spcPct val="100000"/>
              </a:lnSpc>
              <a:spcBef>
                <a:spcPts val="2625"/>
              </a:spcBef>
              <a:buClr>
                <a:srgbClr val="BD0E3F"/>
              </a:buClr>
              <a:buAutoNum type="arabicPeriod" startAt="2"/>
              <a:tabLst>
                <a:tab pos="362585" algn="l"/>
              </a:tabLst>
            </a:pPr>
            <a:r>
              <a:rPr sz="2450" spc="-55" dirty="0">
                <a:solidFill>
                  <a:srgbClr val="AC1A38"/>
                </a:solidFill>
                <a:latin typeface="Arial MT"/>
                <a:cs typeface="Arial MT"/>
              </a:rPr>
              <a:t>Dispatch</a:t>
            </a:r>
            <a:r>
              <a:rPr sz="2450" spc="-125" dirty="0">
                <a:solidFill>
                  <a:srgbClr val="AC1A38"/>
                </a:solidFill>
                <a:latin typeface="Arial MT"/>
                <a:cs typeface="Arial MT"/>
              </a:rPr>
              <a:t> </a:t>
            </a:r>
            <a:r>
              <a:rPr sz="2450" spc="-65" dirty="0">
                <a:solidFill>
                  <a:srgbClr val="9A163D"/>
                </a:solidFill>
                <a:latin typeface="Arial MT"/>
                <a:cs typeface="Arial MT"/>
              </a:rPr>
              <a:t>Spatial</a:t>
            </a:r>
            <a:r>
              <a:rPr sz="2450" spc="-215" dirty="0">
                <a:solidFill>
                  <a:srgbClr val="9A163D"/>
                </a:solidFill>
                <a:latin typeface="Arial MT"/>
                <a:cs typeface="Arial MT"/>
              </a:rPr>
              <a:t> </a:t>
            </a:r>
            <a:r>
              <a:rPr sz="2450" spc="-90" dirty="0">
                <a:solidFill>
                  <a:srgbClr val="BD1341"/>
                </a:solidFill>
                <a:latin typeface="Arial MT"/>
                <a:cs typeface="Arial MT"/>
              </a:rPr>
              <a:t>Distress</a:t>
            </a:r>
            <a:r>
              <a:rPr sz="2450" spc="-95" dirty="0">
                <a:solidFill>
                  <a:srgbClr val="BD1341"/>
                </a:solidFill>
                <a:latin typeface="Arial MT"/>
                <a:cs typeface="Arial MT"/>
              </a:rPr>
              <a:t> </a:t>
            </a:r>
            <a:r>
              <a:rPr sz="2450" spc="-105" dirty="0">
                <a:solidFill>
                  <a:srgbClr val="AF3152"/>
                </a:solidFill>
                <a:latin typeface="Arial MT"/>
                <a:cs typeface="Arial MT"/>
              </a:rPr>
              <a:t>Signal</a:t>
            </a:r>
            <a:r>
              <a:rPr sz="2450" spc="-195" dirty="0">
                <a:solidFill>
                  <a:srgbClr val="AF3152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DA6E91"/>
                </a:solidFill>
                <a:latin typeface="Arial MT"/>
                <a:cs typeface="Arial MT"/>
              </a:rPr>
              <a:t>to</a:t>
            </a:r>
            <a:r>
              <a:rPr sz="2450" spc="130" dirty="0">
                <a:solidFill>
                  <a:srgbClr val="DA6E91"/>
                </a:solidFill>
                <a:latin typeface="Arial MT"/>
                <a:cs typeface="Arial MT"/>
              </a:rPr>
              <a:t> </a:t>
            </a:r>
            <a:r>
              <a:rPr sz="2450" spc="-85" dirty="0">
                <a:solidFill>
                  <a:srgbClr val="A11644"/>
                </a:solidFill>
                <a:latin typeface="Arial MT"/>
                <a:cs typeface="Arial MT"/>
              </a:rPr>
              <a:t>Nearby</a:t>
            </a:r>
            <a:r>
              <a:rPr sz="2450" spc="-150" dirty="0">
                <a:solidFill>
                  <a:srgbClr val="A11644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A81336"/>
                </a:solidFill>
                <a:latin typeface="Arial MT"/>
                <a:cs typeface="Arial MT"/>
              </a:rPr>
              <a:t>Volunteers</a:t>
            </a:r>
            <a:endParaRPr sz="2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8197" y="2088941"/>
            <a:ext cx="18620105" cy="76200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186690" rIns="0" bIns="0" rtlCol="0">
            <a:spAutoFit/>
          </a:bodyPr>
          <a:lstStyle/>
          <a:p>
            <a:pPr marL="269875">
              <a:lnSpc>
                <a:spcPct val="100000"/>
              </a:lnSpc>
              <a:spcBef>
                <a:spcPts val="1470"/>
              </a:spcBef>
              <a:tabLst>
                <a:tab pos="5480050" algn="l"/>
                <a:tab pos="8083550" algn="l"/>
                <a:tab pos="13656310" algn="l"/>
              </a:tabLst>
            </a:pPr>
            <a:r>
              <a:rPr sz="2050" spc="120" dirty="0">
                <a:solidFill>
                  <a:srgbClr val="FFFFFF"/>
                </a:solidFill>
                <a:latin typeface="Arial MT"/>
                <a:cs typeface="Arial MT"/>
              </a:rPr>
              <a:t>Paper</a:t>
            </a:r>
            <a:r>
              <a:rPr sz="2050" spc="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50" spc="95" dirty="0">
                <a:solidFill>
                  <a:srgbClr val="FFFFFF"/>
                </a:solidFill>
                <a:latin typeface="Arial MT"/>
                <a:cs typeface="Arial MT"/>
              </a:rPr>
              <a:t>Title</a:t>
            </a:r>
            <a:r>
              <a:rPr sz="20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50" spc="105" dirty="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2050" spc="-2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50" spc="100" dirty="0">
                <a:solidFill>
                  <a:srgbClr val="FFFFFF"/>
                </a:solidFill>
                <a:latin typeface="Arial MT"/>
                <a:cs typeface="Arial MT"/>
              </a:rPr>
              <a:t>Authors</a:t>
            </a:r>
            <a:r>
              <a:rPr sz="205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Year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sz="2200" spc="-1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35" dirty="0">
                <a:solidFill>
                  <a:srgbClr val="FFFFFF"/>
                </a:solidFill>
                <a:latin typeface="Arial MT"/>
                <a:cs typeface="Arial MT"/>
              </a:rPr>
              <a:t>Journal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	Main</a:t>
            </a:r>
            <a:r>
              <a:rPr sz="22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40" dirty="0">
                <a:solidFill>
                  <a:srgbClr val="FFFFFF"/>
                </a:solidFill>
                <a:latin typeface="Arial MT"/>
                <a:cs typeface="Arial MT"/>
              </a:rPr>
              <a:t>Contribution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2300" spc="-65" dirty="0">
                <a:solidFill>
                  <a:srgbClr val="FFFFFF"/>
                </a:solidFill>
                <a:latin typeface="Arial MT"/>
                <a:cs typeface="Arial MT"/>
              </a:rPr>
              <a:t>Relevance</a:t>
            </a:r>
            <a:r>
              <a:rPr sz="23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23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Arial MT"/>
                <a:cs typeface="Arial MT"/>
              </a:rPr>
              <a:t>SofeHer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9369" y="614898"/>
            <a:ext cx="3042285" cy="2806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50" dirty="0">
                <a:solidFill>
                  <a:srgbClr val="DF1C54"/>
                </a:solidFill>
                <a:latin typeface="Arial MT"/>
                <a:cs typeface="Arial MT"/>
              </a:rPr>
              <a:t>AC</a:t>
            </a:r>
            <a:r>
              <a:rPr sz="1650" spc="-110" dirty="0">
                <a:solidFill>
                  <a:srgbClr val="DF1C54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ED1652"/>
                </a:solidFill>
                <a:latin typeface="Arial MT"/>
                <a:cs typeface="Arial MT"/>
              </a:rPr>
              <a:t>AD</a:t>
            </a:r>
            <a:r>
              <a:rPr sz="1650" spc="70" dirty="0">
                <a:solidFill>
                  <a:srgbClr val="ED1652"/>
                </a:solidFill>
                <a:latin typeface="Arial MT"/>
                <a:cs typeface="Arial MT"/>
              </a:rPr>
              <a:t> </a:t>
            </a:r>
            <a:r>
              <a:rPr sz="1650" spc="-50" dirty="0">
                <a:solidFill>
                  <a:srgbClr val="EB1849"/>
                </a:solidFill>
                <a:latin typeface="Arial MT"/>
                <a:cs typeface="Arial MT"/>
              </a:rPr>
              <a:t>E</a:t>
            </a:r>
            <a:r>
              <a:rPr sz="1650" spc="-170" dirty="0">
                <a:solidFill>
                  <a:srgbClr val="EB1849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E8163A"/>
                </a:solidFill>
                <a:latin typeface="Arial MT"/>
                <a:cs typeface="Arial MT"/>
              </a:rPr>
              <a:t>f•l</a:t>
            </a:r>
            <a:r>
              <a:rPr sz="1650" dirty="0">
                <a:solidFill>
                  <a:srgbClr val="E11F52"/>
                </a:solidFill>
                <a:latin typeface="Arial MT"/>
                <a:cs typeface="Arial MT"/>
              </a:rPr>
              <a:t>I</a:t>
            </a:r>
            <a:r>
              <a:rPr sz="1650" spc="-204" dirty="0">
                <a:solidFill>
                  <a:srgbClr val="E11F52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D31F46"/>
                </a:solidFill>
                <a:latin typeface="Arial MT"/>
                <a:cs typeface="Arial MT"/>
              </a:rPr>
              <a:t>C</a:t>
            </a:r>
            <a:r>
              <a:rPr sz="1650" spc="285" dirty="0">
                <a:solidFill>
                  <a:srgbClr val="D31F46"/>
                </a:solidFill>
                <a:latin typeface="Arial MT"/>
                <a:cs typeface="Arial MT"/>
              </a:rPr>
              <a:t> </a:t>
            </a:r>
            <a:r>
              <a:rPr sz="1650" spc="100" dirty="0">
                <a:solidFill>
                  <a:srgbClr val="DF1F4B"/>
                </a:solidFill>
                <a:latin typeface="Arial MT"/>
                <a:cs typeface="Arial MT"/>
              </a:rPr>
              <a:t>FOU</a:t>
            </a:r>
            <a:r>
              <a:rPr sz="1650" spc="-250" dirty="0">
                <a:solidFill>
                  <a:srgbClr val="DF1F4B"/>
                </a:solidFill>
                <a:latin typeface="Arial MT"/>
                <a:cs typeface="Arial MT"/>
              </a:rPr>
              <a:t> </a:t>
            </a:r>
            <a:r>
              <a:rPr sz="1650" spc="140" dirty="0">
                <a:solidFill>
                  <a:srgbClr val="CF2A67"/>
                </a:solidFill>
                <a:latin typeface="Arial MT"/>
                <a:cs typeface="Arial MT"/>
              </a:rPr>
              <a:t>ND</a:t>
            </a:r>
            <a:r>
              <a:rPr sz="1650" spc="-210" dirty="0">
                <a:solidFill>
                  <a:srgbClr val="CF2A67"/>
                </a:solidFill>
                <a:latin typeface="Arial MT"/>
                <a:cs typeface="Arial MT"/>
              </a:rPr>
              <a:t> </a:t>
            </a:r>
            <a:r>
              <a:rPr sz="1650" spc="145" dirty="0">
                <a:solidFill>
                  <a:srgbClr val="E91D52"/>
                </a:solidFill>
                <a:latin typeface="Arial MT"/>
                <a:cs typeface="Arial MT"/>
              </a:rPr>
              <a:t>ATION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740008" y="951929"/>
            <a:ext cx="6262370" cy="535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50" b="1" spc="-150" dirty="0">
                <a:solidFill>
                  <a:srgbClr val="0F0F0F"/>
                </a:solidFill>
                <a:latin typeface="Arial" panose="020B0604020202020204"/>
                <a:cs typeface="Arial" panose="020B0604020202020204"/>
              </a:rPr>
              <a:t>Li4ero4ure</a:t>
            </a:r>
            <a:r>
              <a:rPr sz="3350" b="1" spc="-165" dirty="0">
                <a:solidFill>
                  <a:srgbClr val="0F0F0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350" b="1" spc="-120" dirty="0">
                <a:solidFill>
                  <a:srgbClr val="131313"/>
                </a:solidFill>
                <a:latin typeface="Arial" panose="020B0604020202020204"/>
                <a:cs typeface="Arial" panose="020B0604020202020204"/>
              </a:rPr>
              <a:t>Survey </a:t>
            </a:r>
            <a:r>
              <a:rPr sz="3350" b="1" spc="-80" dirty="0">
                <a:solidFill>
                  <a:srgbClr val="131313"/>
                </a:solidFill>
                <a:latin typeface="Arial" panose="020B0604020202020204"/>
                <a:cs typeface="Arial" panose="020B0604020202020204"/>
              </a:rPr>
              <a:t>&amp;</a:t>
            </a:r>
            <a:r>
              <a:rPr sz="3350" b="1" spc="-430" dirty="0">
                <a:solidFill>
                  <a:srgbClr val="131313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350" b="1" dirty="0">
                <a:solidFill>
                  <a:srgbClr val="151515"/>
                </a:solidFill>
                <a:latin typeface="Arial" panose="020B0604020202020204"/>
                <a:cs typeface="Arial" panose="020B0604020202020204"/>
              </a:rPr>
              <a:t>Prior</a:t>
            </a:r>
            <a:r>
              <a:rPr sz="3350" b="1" spc="-85" dirty="0">
                <a:solidFill>
                  <a:srgbClr val="15151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350" b="1" spc="-50" dirty="0">
                <a:solidFill>
                  <a:srgbClr val="131313"/>
                </a:solidFill>
                <a:latin typeface="Arial" panose="020B0604020202020204"/>
                <a:cs typeface="Arial" panose="020B0604020202020204"/>
              </a:rPr>
              <a:t>Works</a:t>
            </a:r>
            <a:endParaRPr sz="3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88326" y="3006187"/>
            <a:ext cx="4020820" cy="109347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 marR="5080" indent="5715">
              <a:lnSpc>
                <a:spcPts val="2780"/>
              </a:lnSpc>
              <a:spcBef>
                <a:spcPts val="320"/>
              </a:spcBef>
            </a:pPr>
            <a:r>
              <a:rPr sz="2450" spc="-25" dirty="0">
                <a:solidFill>
                  <a:srgbClr val="3D3D3D"/>
                </a:solidFill>
                <a:latin typeface="Arial MT"/>
                <a:cs typeface="Arial MT"/>
              </a:rPr>
              <a:t>Smart</a:t>
            </a:r>
            <a:r>
              <a:rPr sz="2450" spc="-235" dirty="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sz="2450" spc="-45" dirty="0">
                <a:solidFill>
                  <a:srgbClr val="424242"/>
                </a:solidFill>
                <a:latin typeface="Arial MT"/>
                <a:cs typeface="Arial MT"/>
              </a:rPr>
              <a:t>Women</a:t>
            </a:r>
            <a:r>
              <a:rPr sz="2450" spc="-180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363636"/>
                </a:solidFill>
                <a:latin typeface="Arial MT"/>
                <a:cs typeface="Arial MT"/>
              </a:rPr>
              <a:t>Safety</a:t>
            </a:r>
            <a:r>
              <a:rPr sz="2450" spc="-50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3B3B3B"/>
                </a:solidFill>
                <a:latin typeface="Arial MT"/>
                <a:cs typeface="Arial MT"/>
              </a:rPr>
              <a:t>System </a:t>
            </a:r>
            <a:r>
              <a:rPr sz="2450" spc="-10" dirty="0">
                <a:solidFill>
                  <a:srgbClr val="313131"/>
                </a:solidFill>
                <a:latin typeface="Arial MT"/>
                <a:cs typeface="Arial MT"/>
              </a:rPr>
              <a:t>using</a:t>
            </a:r>
            <a:r>
              <a:rPr sz="2450" spc="-345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450" spc="-75" dirty="0">
                <a:solidFill>
                  <a:srgbClr val="383838"/>
                </a:solidFill>
                <a:latin typeface="Arial MT"/>
                <a:cs typeface="Arial MT"/>
              </a:rPr>
              <a:t>IoT</a:t>
            </a:r>
            <a:r>
              <a:rPr sz="2450" spc="-130" dirty="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sz="2450" spc="-105" dirty="0">
                <a:solidFill>
                  <a:srgbClr val="385266"/>
                </a:solidFill>
                <a:latin typeface="Arial MT"/>
                <a:cs typeface="Arial MT"/>
              </a:rPr>
              <a:t>&amp;</a:t>
            </a:r>
            <a:r>
              <a:rPr sz="2450" spc="-260" dirty="0">
                <a:solidFill>
                  <a:srgbClr val="385266"/>
                </a:solidFill>
                <a:latin typeface="Arial MT"/>
                <a:cs typeface="Arial MT"/>
              </a:rPr>
              <a:t> </a:t>
            </a:r>
            <a:r>
              <a:rPr sz="2450" spc="-25" dirty="0">
                <a:solidFill>
                  <a:srgbClr val="33445B"/>
                </a:solidFill>
                <a:latin typeface="Arial MT"/>
                <a:cs typeface="Arial MT"/>
              </a:rPr>
              <a:t>ML</a:t>
            </a:r>
            <a:endParaRPr sz="2450">
              <a:latin typeface="Arial MT"/>
              <a:cs typeface="Arial MT"/>
            </a:endParaRPr>
          </a:p>
          <a:p>
            <a:pPr marL="22860">
              <a:lnSpc>
                <a:spcPct val="100000"/>
              </a:lnSpc>
              <a:spcBef>
                <a:spcPts val="645"/>
              </a:spcBef>
            </a:pPr>
            <a:r>
              <a:rPr sz="1650" spc="-50" dirty="0">
                <a:solidFill>
                  <a:srgbClr val="676767"/>
                </a:solidFill>
                <a:latin typeface="Arial MT"/>
                <a:cs typeface="Arial MT"/>
              </a:rPr>
              <a:t>S.</a:t>
            </a:r>
            <a:r>
              <a:rPr sz="1650" spc="15" dirty="0">
                <a:solidFill>
                  <a:srgbClr val="676767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6B6B6B"/>
                </a:solidFill>
                <a:latin typeface="Arial MT"/>
                <a:cs typeface="Arial MT"/>
              </a:rPr>
              <a:t>Sharma,</a:t>
            </a:r>
            <a:r>
              <a:rPr sz="1650" spc="70" dirty="0">
                <a:solidFill>
                  <a:srgbClr val="6B6B6B"/>
                </a:solidFill>
                <a:latin typeface="Arial MT"/>
                <a:cs typeface="Arial MT"/>
              </a:rPr>
              <a:t> </a:t>
            </a:r>
            <a:r>
              <a:rPr sz="1650" spc="-25" dirty="0">
                <a:solidFill>
                  <a:srgbClr val="757575"/>
                </a:solidFill>
                <a:latin typeface="Arial MT"/>
                <a:cs typeface="Arial MT"/>
              </a:rPr>
              <a:t>A.</a:t>
            </a:r>
            <a:r>
              <a:rPr sz="1650" spc="-65" dirty="0">
                <a:solidFill>
                  <a:srgbClr val="757575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6B6B6B"/>
                </a:solidFill>
                <a:latin typeface="Arial MT"/>
                <a:cs typeface="Arial MT"/>
              </a:rPr>
              <a:t>Kumar, </a:t>
            </a:r>
            <a:r>
              <a:rPr sz="1650" spc="-95" dirty="0">
                <a:solidFill>
                  <a:srgbClr val="6B6B6B"/>
                </a:solidFill>
                <a:latin typeface="Arial MT"/>
                <a:cs typeface="Arial MT"/>
              </a:rPr>
              <a:t>P.</a:t>
            </a:r>
            <a:r>
              <a:rPr sz="1650" spc="-45" dirty="0">
                <a:solidFill>
                  <a:srgbClr val="6B6B6B"/>
                </a:solidFill>
                <a:latin typeface="Arial MT"/>
                <a:cs typeface="Arial MT"/>
              </a:rPr>
              <a:t> </a:t>
            </a:r>
            <a:r>
              <a:rPr sz="1650" spc="-75" dirty="0">
                <a:solidFill>
                  <a:srgbClr val="707070"/>
                </a:solidFill>
                <a:latin typeface="Arial MT"/>
                <a:cs typeface="Arial MT"/>
              </a:rPr>
              <a:t>R.</a:t>
            </a:r>
            <a:r>
              <a:rPr sz="1650" spc="-55" dirty="0">
                <a:solidFill>
                  <a:srgbClr val="707070"/>
                </a:solidFill>
                <a:latin typeface="Arial MT"/>
                <a:cs typeface="Arial MT"/>
              </a:rPr>
              <a:t> </a:t>
            </a:r>
            <a:r>
              <a:rPr sz="1650" spc="-25" dirty="0">
                <a:solidFill>
                  <a:srgbClr val="707070"/>
                </a:solidFill>
                <a:latin typeface="Arial MT"/>
                <a:cs typeface="Arial MT"/>
              </a:rPr>
              <a:t>Rao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0205" y="4482581"/>
            <a:ext cx="4586605" cy="109728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6510" marR="5080" indent="-1905">
              <a:lnSpc>
                <a:spcPts val="2840"/>
              </a:lnSpc>
              <a:spcBef>
                <a:spcPts val="275"/>
              </a:spcBef>
            </a:pPr>
            <a:r>
              <a:rPr sz="2450" spc="-35" dirty="0">
                <a:solidFill>
                  <a:srgbClr val="313131"/>
                </a:solidFill>
                <a:latin typeface="Arial MT"/>
                <a:cs typeface="Arial MT"/>
              </a:rPr>
              <a:t>AI</a:t>
            </a:r>
            <a:r>
              <a:rPr sz="2450" spc="-385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2A2A2A"/>
                </a:solidFill>
                <a:latin typeface="Arial MT"/>
                <a:cs typeface="Arial MT"/>
              </a:rPr>
              <a:t>Predictive</a:t>
            </a:r>
            <a:r>
              <a:rPr sz="2450" spc="-7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2450" spc="-35" dirty="0">
                <a:solidFill>
                  <a:srgbClr val="383838"/>
                </a:solidFill>
                <a:latin typeface="Arial MT"/>
                <a:cs typeface="Arial MT"/>
              </a:rPr>
              <a:t>Systems</a:t>
            </a:r>
            <a:r>
              <a:rPr sz="2450" dirty="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sz="2450" spc="55" dirty="0">
                <a:solidFill>
                  <a:srgbClr val="383838"/>
                </a:solidFill>
                <a:latin typeface="Arial MT"/>
                <a:cs typeface="Arial MT"/>
              </a:rPr>
              <a:t>for</a:t>
            </a:r>
            <a:r>
              <a:rPr sz="2450" spc="-125" dirty="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383838"/>
                </a:solidFill>
                <a:latin typeface="Arial MT"/>
                <a:cs typeface="Arial MT"/>
              </a:rPr>
              <a:t>Women </a:t>
            </a:r>
            <a:r>
              <a:rPr sz="2450" spc="-10" dirty="0">
                <a:solidFill>
                  <a:srgbClr val="3D3D3D"/>
                </a:solidFill>
                <a:latin typeface="Arial MT"/>
                <a:cs typeface="Arial MT"/>
              </a:rPr>
              <a:t>Safety</a:t>
            </a:r>
            <a:endParaRPr sz="24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800" spc="-155" dirty="0">
                <a:solidFill>
                  <a:srgbClr val="7993A0"/>
                </a:solidFill>
                <a:latin typeface="Arial MT"/>
                <a:cs typeface="Arial MT"/>
              </a:rPr>
              <a:t>R.</a:t>
            </a:r>
            <a:r>
              <a:rPr sz="1800" spc="-60" dirty="0">
                <a:solidFill>
                  <a:srgbClr val="7993A0"/>
                </a:solidFill>
                <a:latin typeface="Arial MT"/>
                <a:cs typeface="Arial MT"/>
              </a:rPr>
              <a:t> </a:t>
            </a:r>
            <a:r>
              <a:rPr sz="1800" spc="-40" dirty="0">
                <a:solidFill>
                  <a:srgbClr val="858585"/>
                </a:solidFill>
                <a:latin typeface="Arial MT"/>
                <a:cs typeface="Arial MT"/>
              </a:rPr>
              <a:t>Verma,</a:t>
            </a:r>
            <a:r>
              <a:rPr sz="1800" spc="-110" dirty="0">
                <a:solidFill>
                  <a:srgbClr val="858585"/>
                </a:solidFill>
                <a:latin typeface="Arial MT"/>
                <a:cs typeface="Arial MT"/>
              </a:rPr>
              <a:t> </a:t>
            </a:r>
            <a:r>
              <a:rPr sz="1800" spc="-60" dirty="0">
                <a:solidFill>
                  <a:srgbClr val="6D6D6D"/>
                </a:solidFill>
                <a:latin typeface="Arial MT"/>
                <a:cs typeface="Arial MT"/>
              </a:rPr>
              <a:t>M.</a:t>
            </a:r>
            <a:r>
              <a:rPr sz="1800" spc="-150" dirty="0">
                <a:solidFill>
                  <a:srgbClr val="6D6D6D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995A3"/>
                </a:solidFill>
                <a:latin typeface="Arial MT"/>
                <a:cs typeface="Arial MT"/>
              </a:rPr>
              <a:t>M</a:t>
            </a:r>
            <a:r>
              <a:rPr sz="1800" dirty="0">
                <a:solidFill>
                  <a:srgbClr val="939393"/>
                </a:solidFill>
                <a:latin typeface="Arial MT"/>
                <a:cs typeface="Arial MT"/>
              </a:rPr>
              <a:t>ehta,</a:t>
            </a:r>
            <a:r>
              <a:rPr sz="1800" spc="-140" dirty="0">
                <a:solidFill>
                  <a:srgbClr val="939393"/>
                </a:solidFill>
                <a:latin typeface="Arial MT"/>
                <a:cs typeface="Arial MT"/>
              </a:rPr>
              <a:t> </a:t>
            </a:r>
            <a:r>
              <a:rPr sz="1800" spc="-80" dirty="0">
                <a:solidFill>
                  <a:srgbClr val="727272"/>
                </a:solidFill>
                <a:latin typeface="Arial MT"/>
                <a:cs typeface="Arial MT"/>
              </a:rPr>
              <a:t>N.</a:t>
            </a:r>
            <a:r>
              <a:rPr sz="1800" spc="-95" dirty="0">
                <a:solidFill>
                  <a:srgbClr val="727272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727272"/>
                </a:solidFill>
                <a:latin typeface="Arial MT"/>
                <a:cs typeface="Arial MT"/>
              </a:rPr>
              <a:t>Singh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85140" y="5951123"/>
            <a:ext cx="4473575" cy="1111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925"/>
              </a:lnSpc>
              <a:spcBef>
                <a:spcPts val="95"/>
              </a:spcBef>
            </a:pPr>
            <a:r>
              <a:rPr sz="2450" spc="-305" dirty="0">
                <a:solidFill>
                  <a:srgbClr val="363636"/>
                </a:solidFill>
                <a:latin typeface="Arial Black" panose="020B0A04020102020204"/>
                <a:cs typeface="Arial Black" panose="020B0A04020102020204"/>
              </a:rPr>
              <a:t>Holistic</a:t>
            </a:r>
            <a:r>
              <a:rPr sz="2450" spc="-190" dirty="0">
                <a:solidFill>
                  <a:srgbClr val="363636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2450" spc="-360" dirty="0">
                <a:solidFill>
                  <a:srgbClr val="363636"/>
                </a:solidFill>
                <a:latin typeface="Arial Black" panose="020B0A04020102020204"/>
                <a:cs typeface="Arial Black" panose="020B0A04020102020204"/>
              </a:rPr>
              <a:t>Framework</a:t>
            </a:r>
            <a:r>
              <a:rPr sz="2450" spc="-15" dirty="0">
                <a:solidFill>
                  <a:srgbClr val="363636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2450" spc="-250" dirty="0">
                <a:solidFill>
                  <a:srgbClr val="31425B"/>
                </a:solidFill>
                <a:latin typeface="Arial Black" panose="020B0A04020102020204"/>
                <a:cs typeface="Arial Black" panose="020B0A04020102020204"/>
              </a:rPr>
              <a:t>for</a:t>
            </a:r>
            <a:r>
              <a:rPr sz="2450" spc="-170" dirty="0">
                <a:solidFill>
                  <a:srgbClr val="31425B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2450" spc="-325" dirty="0">
                <a:solidFill>
                  <a:srgbClr val="2F2F2F"/>
                </a:solidFill>
                <a:latin typeface="Arial Black" panose="020B0A04020102020204"/>
                <a:cs typeface="Arial Black" panose="020B0A04020102020204"/>
              </a:rPr>
              <a:t>Women's</a:t>
            </a:r>
            <a:endParaRPr sz="2450">
              <a:latin typeface="Arial Black" panose="020B0A04020102020204"/>
              <a:cs typeface="Arial Black" panose="020B0A04020102020204"/>
            </a:endParaRPr>
          </a:p>
          <a:p>
            <a:pPr marL="21590">
              <a:lnSpc>
                <a:spcPts val="2925"/>
              </a:lnSpc>
            </a:pPr>
            <a:r>
              <a:rPr sz="2450" spc="-10" dirty="0">
                <a:solidFill>
                  <a:srgbClr val="313131"/>
                </a:solidFill>
                <a:latin typeface="Arial MT"/>
                <a:cs typeface="Arial MT"/>
              </a:rPr>
              <a:t>Safety</a:t>
            </a:r>
            <a:endParaRPr sz="245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  <a:spcBef>
                <a:spcPts val="245"/>
              </a:spcBef>
            </a:pPr>
            <a:r>
              <a:rPr sz="2050" spc="-225" dirty="0">
                <a:solidFill>
                  <a:srgbClr val="757575"/>
                </a:solidFill>
                <a:latin typeface="Arial MT"/>
                <a:cs typeface="Arial MT"/>
              </a:rPr>
              <a:t>A.</a:t>
            </a:r>
            <a:r>
              <a:rPr sz="2050" spc="-215" dirty="0">
                <a:solidFill>
                  <a:srgbClr val="757575"/>
                </a:solidFill>
                <a:latin typeface="Arial MT"/>
                <a:cs typeface="Arial MT"/>
              </a:rPr>
              <a:t> </a:t>
            </a:r>
            <a:r>
              <a:rPr sz="2050" spc="-120" dirty="0">
                <a:solidFill>
                  <a:srgbClr val="838383"/>
                </a:solidFill>
                <a:latin typeface="Arial MT"/>
                <a:cs typeface="Arial MT"/>
              </a:rPr>
              <a:t>Gupta,</a:t>
            </a:r>
            <a:r>
              <a:rPr sz="2050" spc="-105" dirty="0">
                <a:solidFill>
                  <a:srgbClr val="838383"/>
                </a:solidFill>
                <a:latin typeface="Arial MT"/>
                <a:cs typeface="Arial MT"/>
              </a:rPr>
              <a:t> </a:t>
            </a:r>
            <a:r>
              <a:rPr sz="2050" spc="-235" dirty="0">
                <a:solidFill>
                  <a:srgbClr val="6D6D6D"/>
                </a:solidFill>
                <a:latin typeface="Arial MT"/>
                <a:cs typeface="Arial MT"/>
              </a:rPr>
              <a:t>S.</a:t>
            </a:r>
            <a:r>
              <a:rPr sz="2050" spc="-250" dirty="0">
                <a:solidFill>
                  <a:srgbClr val="6D6D6D"/>
                </a:solidFill>
                <a:latin typeface="Arial MT"/>
                <a:cs typeface="Arial MT"/>
              </a:rPr>
              <a:t> </a:t>
            </a:r>
            <a:r>
              <a:rPr sz="2050" spc="-155" dirty="0">
                <a:solidFill>
                  <a:srgbClr val="727272"/>
                </a:solidFill>
                <a:latin typeface="Arial MT"/>
                <a:cs typeface="Arial MT"/>
              </a:rPr>
              <a:t>Deshmukh,</a:t>
            </a:r>
            <a:r>
              <a:rPr sz="2050" spc="-85" dirty="0">
                <a:solidFill>
                  <a:srgbClr val="727272"/>
                </a:solidFill>
                <a:latin typeface="Arial MT"/>
                <a:cs typeface="Arial MT"/>
              </a:rPr>
              <a:t> </a:t>
            </a:r>
            <a:r>
              <a:rPr sz="2050" spc="-225" dirty="0">
                <a:solidFill>
                  <a:srgbClr val="727272"/>
                </a:solidFill>
                <a:latin typeface="Arial MT"/>
                <a:cs typeface="Arial MT"/>
              </a:rPr>
              <a:t>K.</a:t>
            </a:r>
            <a:r>
              <a:rPr sz="2050" spc="-235" dirty="0">
                <a:solidFill>
                  <a:srgbClr val="727272"/>
                </a:solidFill>
                <a:latin typeface="Arial MT"/>
                <a:cs typeface="Arial MT"/>
              </a:rPr>
              <a:t> </a:t>
            </a:r>
            <a:r>
              <a:rPr sz="2050" spc="-10" dirty="0">
                <a:solidFill>
                  <a:srgbClr val="727272"/>
                </a:solidFill>
                <a:latin typeface="Arial MT"/>
                <a:cs typeface="Arial MT"/>
              </a:rPr>
              <a:t>Patty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84533" y="7435371"/>
            <a:ext cx="3794125" cy="109347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 marR="5080" indent="635">
              <a:lnSpc>
                <a:spcPts val="2840"/>
              </a:lnSpc>
              <a:spcBef>
                <a:spcPts val="275"/>
              </a:spcBef>
            </a:pPr>
            <a:r>
              <a:rPr sz="2450" spc="-235" dirty="0">
                <a:solidFill>
                  <a:srgbClr val="2B2B2B"/>
                </a:solidFill>
                <a:latin typeface="Arial Black" panose="020B0A04020102020204"/>
                <a:cs typeface="Arial Black" panose="020B0A04020102020204"/>
              </a:rPr>
              <a:t>Location-</a:t>
            </a:r>
            <a:r>
              <a:rPr sz="2450" spc="-270" dirty="0">
                <a:solidFill>
                  <a:srgbClr val="2B2B2B"/>
                </a:solidFill>
                <a:latin typeface="Arial Black" panose="020B0A04020102020204"/>
                <a:cs typeface="Arial Black" panose="020B0A04020102020204"/>
              </a:rPr>
              <a:t>Based</a:t>
            </a:r>
            <a:r>
              <a:rPr sz="2450" spc="-295" dirty="0">
                <a:solidFill>
                  <a:srgbClr val="2B2B2B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2450" spc="-320" dirty="0">
                <a:solidFill>
                  <a:srgbClr val="3B3B3B"/>
                </a:solidFill>
                <a:latin typeface="Arial Black" panose="020B0A04020102020204"/>
                <a:cs typeface="Arial Black" panose="020B0A04020102020204"/>
              </a:rPr>
              <a:t>Safe</a:t>
            </a:r>
            <a:r>
              <a:rPr sz="2450" spc="-355" dirty="0">
                <a:solidFill>
                  <a:srgbClr val="3B3B3B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2450" spc="-350" dirty="0">
                <a:solidFill>
                  <a:srgbClr val="383838"/>
                </a:solidFill>
                <a:latin typeface="Arial Black" panose="020B0A04020102020204"/>
                <a:cs typeface="Arial Black" panose="020B0A04020102020204"/>
              </a:rPr>
              <a:t>Route </a:t>
            </a:r>
            <a:r>
              <a:rPr sz="2450" spc="-300" dirty="0">
                <a:solidFill>
                  <a:srgbClr val="343434"/>
                </a:solidFill>
                <a:latin typeface="Arial Black" panose="020B0A04020102020204"/>
                <a:cs typeface="Arial Black" panose="020B0A04020102020204"/>
              </a:rPr>
              <a:t>Recommendation</a:t>
            </a:r>
            <a:endParaRPr sz="2450">
              <a:latin typeface="Arial Black" panose="020B0A04020102020204"/>
              <a:cs typeface="Arial Black" panose="020B0A04020102020204"/>
            </a:endParaRPr>
          </a:p>
          <a:p>
            <a:pPr marL="19685">
              <a:lnSpc>
                <a:spcPct val="100000"/>
              </a:lnSpc>
              <a:spcBef>
                <a:spcPts val="570"/>
              </a:spcBef>
            </a:pPr>
            <a:r>
              <a:rPr sz="1650" spc="-95" dirty="0">
                <a:solidFill>
                  <a:srgbClr val="6B6B6B"/>
                </a:solidFill>
                <a:latin typeface="Arial MT"/>
                <a:cs typeface="Arial MT"/>
              </a:rPr>
              <a:t>P.</a:t>
            </a:r>
            <a:r>
              <a:rPr sz="1650" spc="-85" dirty="0">
                <a:solidFill>
                  <a:srgbClr val="6B6B6B"/>
                </a:solidFill>
                <a:latin typeface="Arial MT"/>
                <a:cs typeface="Arial MT"/>
              </a:rPr>
              <a:t> </a:t>
            </a:r>
            <a:r>
              <a:rPr sz="1650" spc="-25" dirty="0">
                <a:solidFill>
                  <a:srgbClr val="6D6D6D"/>
                </a:solidFill>
                <a:latin typeface="Arial MT"/>
                <a:cs typeface="Arial MT"/>
              </a:rPr>
              <a:t>K.</a:t>
            </a:r>
            <a:r>
              <a:rPr sz="1650" spc="-114" dirty="0">
                <a:solidFill>
                  <a:srgbClr val="6D6D6D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8C8C8C"/>
                </a:solidFill>
                <a:latin typeface="Arial MT"/>
                <a:cs typeface="Arial MT"/>
              </a:rPr>
              <a:t>Dash,</a:t>
            </a:r>
            <a:r>
              <a:rPr sz="1650" spc="-60" dirty="0">
                <a:solidFill>
                  <a:srgbClr val="8C8C8C"/>
                </a:solidFill>
                <a:latin typeface="Arial MT"/>
                <a:cs typeface="Arial MT"/>
              </a:rPr>
              <a:t> </a:t>
            </a:r>
            <a:r>
              <a:rPr sz="1650" spc="-75" dirty="0">
                <a:solidFill>
                  <a:srgbClr val="6B6B6B"/>
                </a:solidFill>
                <a:latin typeface="Arial MT"/>
                <a:cs typeface="Arial MT"/>
              </a:rPr>
              <a:t>R.</a:t>
            </a:r>
            <a:r>
              <a:rPr sz="1650" spc="-90" dirty="0">
                <a:solidFill>
                  <a:srgbClr val="6B6B6B"/>
                </a:solidFill>
                <a:latin typeface="Arial MT"/>
                <a:cs typeface="Arial MT"/>
              </a:rPr>
              <a:t> </a:t>
            </a:r>
            <a:r>
              <a:rPr sz="1650" spc="-10" dirty="0">
                <a:solidFill>
                  <a:srgbClr val="747474"/>
                </a:solidFill>
                <a:latin typeface="Arial MT"/>
                <a:cs typeface="Arial MT"/>
              </a:rPr>
              <a:t>N.</a:t>
            </a:r>
            <a:r>
              <a:rPr sz="1650" spc="-10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1650" spc="90" dirty="0">
                <a:solidFill>
                  <a:srgbClr val="696969"/>
                </a:solidFill>
                <a:latin typeface="Arial MT"/>
                <a:cs typeface="Arial MT"/>
              </a:rPr>
              <a:t>Behera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85747" y="8911766"/>
            <a:ext cx="4655820" cy="109347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 marR="5080">
              <a:lnSpc>
                <a:spcPts val="2780"/>
              </a:lnSpc>
              <a:spcBef>
                <a:spcPts val="320"/>
              </a:spcBef>
            </a:pPr>
            <a:r>
              <a:rPr sz="2450" spc="-290" dirty="0">
                <a:solidFill>
                  <a:srgbClr val="3B3B3B"/>
                </a:solidFill>
                <a:latin typeface="Arial Black" panose="020B0A04020102020204"/>
                <a:cs typeface="Arial Black" panose="020B0A04020102020204"/>
              </a:rPr>
              <a:t>Proactive</a:t>
            </a:r>
            <a:r>
              <a:rPr sz="2450" spc="-265" dirty="0">
                <a:solidFill>
                  <a:srgbClr val="3B3B3B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2450" spc="-325" dirty="0">
                <a:solidFill>
                  <a:srgbClr val="3F3F3F"/>
                </a:solidFill>
                <a:latin typeface="Arial Black" panose="020B0A04020102020204"/>
                <a:cs typeface="Arial Black" panose="020B0A04020102020204"/>
              </a:rPr>
              <a:t>Emergency</a:t>
            </a:r>
            <a:r>
              <a:rPr sz="2450" spc="-65" dirty="0">
                <a:solidFill>
                  <a:srgbClr val="3F3F3F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2450" spc="-295" dirty="0">
                <a:solidFill>
                  <a:srgbClr val="343434"/>
                </a:solidFill>
                <a:latin typeface="Arial Black" panose="020B0A04020102020204"/>
                <a:cs typeface="Arial Black" panose="020B0A04020102020204"/>
              </a:rPr>
              <a:t>Notification </a:t>
            </a:r>
            <a:r>
              <a:rPr sz="2450" spc="-285" dirty="0">
                <a:solidFill>
                  <a:srgbClr val="343434"/>
                </a:solidFill>
                <a:latin typeface="Arial Black" panose="020B0A04020102020204"/>
                <a:cs typeface="Arial Black" panose="020B0A04020102020204"/>
              </a:rPr>
              <a:t>Platform</a:t>
            </a:r>
            <a:endParaRPr sz="2450">
              <a:latin typeface="Arial Black" panose="020B0A04020102020204"/>
              <a:cs typeface="Arial Black" panose="020B0A04020102020204"/>
            </a:endParaRPr>
          </a:p>
          <a:p>
            <a:pPr marL="19050">
              <a:lnSpc>
                <a:spcPct val="100000"/>
              </a:lnSpc>
              <a:spcBef>
                <a:spcPts val="645"/>
              </a:spcBef>
            </a:pPr>
            <a:r>
              <a:rPr sz="1650" dirty="0">
                <a:solidFill>
                  <a:srgbClr val="727272"/>
                </a:solidFill>
                <a:latin typeface="Arial MT"/>
                <a:cs typeface="Arial MT"/>
              </a:rPr>
              <a:t>M</a:t>
            </a:r>
            <a:r>
              <a:rPr sz="1650" dirty="0">
                <a:solidFill>
                  <a:srgbClr val="707070"/>
                </a:solidFill>
                <a:latin typeface="Arial MT"/>
                <a:cs typeface="Arial MT"/>
              </a:rPr>
              <a:t>.</a:t>
            </a:r>
            <a:r>
              <a:rPr sz="1650" spc="-45" dirty="0">
                <a:solidFill>
                  <a:srgbClr val="707070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6E6E6E"/>
                </a:solidFill>
                <a:latin typeface="Arial MT"/>
                <a:cs typeface="Arial MT"/>
              </a:rPr>
              <a:t>Patel,</a:t>
            </a:r>
            <a:r>
              <a:rPr sz="1650" spc="-80" dirty="0">
                <a:solidFill>
                  <a:srgbClr val="6E6E6E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6B6B6B"/>
                </a:solidFill>
                <a:latin typeface="Arial MT"/>
                <a:cs typeface="Arial MT"/>
              </a:rPr>
              <a:t>H.</a:t>
            </a:r>
            <a:r>
              <a:rPr sz="1650" spc="-40" dirty="0">
                <a:solidFill>
                  <a:srgbClr val="6B6B6B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6B6B6B"/>
                </a:solidFill>
                <a:latin typeface="Arial MT"/>
                <a:cs typeface="Arial MT"/>
              </a:rPr>
              <a:t>Shah,</a:t>
            </a:r>
            <a:r>
              <a:rPr sz="1650" spc="-45" dirty="0">
                <a:solidFill>
                  <a:srgbClr val="6B6B6B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696969"/>
                </a:solidFill>
                <a:latin typeface="Arial MT"/>
                <a:cs typeface="Arial MT"/>
              </a:rPr>
              <a:t>K.</a:t>
            </a:r>
            <a:r>
              <a:rPr sz="1650" spc="-5" dirty="0">
                <a:solidFill>
                  <a:srgbClr val="696969"/>
                </a:solidFill>
                <a:latin typeface="Arial MT"/>
                <a:cs typeface="Arial MT"/>
              </a:rPr>
              <a:t> </a:t>
            </a:r>
            <a:r>
              <a:rPr sz="1650" spc="-10" dirty="0">
                <a:solidFill>
                  <a:srgbClr val="6D6D6D"/>
                </a:solidFill>
                <a:latin typeface="Arial MT"/>
                <a:cs typeface="Arial MT"/>
              </a:rPr>
              <a:t>Joshi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7355" y="10431353"/>
            <a:ext cx="4486910" cy="2806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50" dirty="0">
                <a:solidFill>
                  <a:srgbClr val="777777"/>
                </a:solidFill>
                <a:latin typeface="Arial MT"/>
                <a:cs typeface="Arial MT"/>
              </a:rPr>
              <a:t>S</a:t>
            </a:r>
            <a:r>
              <a:rPr sz="1650" dirty="0">
                <a:solidFill>
                  <a:srgbClr val="647790"/>
                </a:solidFill>
                <a:latin typeface="Arial MT"/>
                <a:cs typeface="Arial MT"/>
              </a:rPr>
              <a:t>af</a:t>
            </a:r>
            <a:r>
              <a:rPr sz="1650" spc="-155" dirty="0">
                <a:solidFill>
                  <a:srgbClr val="647790"/>
                </a:solidFill>
                <a:latin typeface="Arial MT"/>
                <a:cs typeface="Arial MT"/>
              </a:rPr>
              <a:t> </a:t>
            </a:r>
            <a:r>
              <a:rPr sz="1650" spc="65" dirty="0">
                <a:solidFill>
                  <a:srgbClr val="6D6D6D"/>
                </a:solidFill>
                <a:latin typeface="Arial MT"/>
                <a:cs typeface="Arial MT"/>
              </a:rPr>
              <a:t>eHer:</a:t>
            </a:r>
            <a:r>
              <a:rPr sz="1650" spc="-15" dirty="0">
                <a:solidFill>
                  <a:srgbClr val="6D6D6D"/>
                </a:solidFill>
                <a:latin typeface="Arial MT"/>
                <a:cs typeface="Arial MT"/>
              </a:rPr>
              <a:t> </a:t>
            </a:r>
            <a:r>
              <a:rPr sz="1650" spc="-55" dirty="0">
                <a:solidFill>
                  <a:srgbClr val="9AA7B8"/>
                </a:solidFill>
                <a:latin typeface="Arial MT"/>
                <a:cs typeface="Arial MT"/>
              </a:rPr>
              <a:t>AI</a:t>
            </a:r>
            <a:r>
              <a:rPr sz="1650" spc="-235" dirty="0">
                <a:solidFill>
                  <a:srgbClr val="9AA7B8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6E6E6E"/>
                </a:solidFill>
                <a:latin typeface="Arial MT"/>
                <a:cs typeface="Arial MT"/>
              </a:rPr>
              <a:t>-</a:t>
            </a:r>
            <a:r>
              <a:rPr sz="1650" spc="65" dirty="0">
                <a:solidFill>
                  <a:srgbClr val="6E6E6E"/>
                </a:solidFill>
                <a:latin typeface="Arial MT"/>
                <a:cs typeface="Arial MT"/>
              </a:rPr>
              <a:t>Driven</a:t>
            </a:r>
            <a:r>
              <a:rPr sz="1650" spc="-30" dirty="0">
                <a:solidFill>
                  <a:srgbClr val="6E6E6E"/>
                </a:solidFill>
                <a:latin typeface="Arial MT"/>
                <a:cs typeface="Arial MT"/>
              </a:rPr>
              <a:t> </a:t>
            </a:r>
            <a:r>
              <a:rPr sz="1650" spc="105" dirty="0">
                <a:solidFill>
                  <a:srgbClr val="60708C"/>
                </a:solidFill>
                <a:latin typeface="Arial MT"/>
                <a:cs typeface="Arial MT"/>
              </a:rPr>
              <a:t>Women</a:t>
            </a:r>
            <a:r>
              <a:rPr sz="1650" spc="-25" dirty="0">
                <a:solidFill>
                  <a:srgbClr val="60708C"/>
                </a:solidFill>
                <a:latin typeface="Arial MT"/>
                <a:cs typeface="Arial MT"/>
              </a:rPr>
              <a:t> </a:t>
            </a:r>
            <a:r>
              <a:rPr sz="1650" spc="114" dirty="0">
                <a:solidFill>
                  <a:srgbClr val="707070"/>
                </a:solidFill>
                <a:latin typeface="Arial MT"/>
                <a:cs typeface="Arial MT"/>
              </a:rPr>
              <a:t>Safety</a:t>
            </a:r>
            <a:r>
              <a:rPr sz="1650" spc="-80" dirty="0">
                <a:solidFill>
                  <a:srgbClr val="707070"/>
                </a:solidFill>
                <a:latin typeface="Arial MT"/>
                <a:cs typeface="Arial MT"/>
              </a:rPr>
              <a:t> </a:t>
            </a:r>
            <a:r>
              <a:rPr sz="1650" spc="105" dirty="0">
                <a:solidFill>
                  <a:srgbClr val="6B6B6B"/>
                </a:solidFill>
                <a:latin typeface="Arial MT"/>
                <a:cs typeface="Arial MT"/>
              </a:rPr>
              <a:t>Platform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93495" y="3076071"/>
            <a:ext cx="1255395" cy="838835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845"/>
              </a:spcBef>
            </a:pPr>
            <a:r>
              <a:rPr sz="2450" spc="-20" dirty="0">
                <a:solidFill>
                  <a:srgbClr val="2D2D2D"/>
                </a:solidFill>
                <a:latin typeface="Cambria" panose="02040503050406030204"/>
                <a:cs typeface="Cambria" panose="02040503050406030204"/>
              </a:rPr>
              <a:t>2023</a:t>
            </a:r>
            <a:endParaRPr sz="245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800" spc="-105" dirty="0">
                <a:solidFill>
                  <a:srgbClr val="677C97"/>
                </a:solidFill>
                <a:latin typeface="Arial MT"/>
                <a:cs typeface="Arial MT"/>
              </a:rPr>
              <a:t>IEEE</a:t>
            </a:r>
            <a:r>
              <a:rPr sz="1800" spc="-120" dirty="0">
                <a:solidFill>
                  <a:srgbClr val="677C97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676767"/>
                </a:solidFill>
                <a:latin typeface="Arial MT"/>
                <a:cs typeface="Arial MT"/>
              </a:rPr>
              <a:t>ICCCS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95022" y="4539718"/>
            <a:ext cx="1395730" cy="84836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1095"/>
              </a:spcBef>
            </a:pPr>
            <a:r>
              <a:rPr sz="2300" spc="100" dirty="0">
                <a:solidFill>
                  <a:srgbClr val="333333"/>
                </a:solidFill>
                <a:latin typeface="Arial MT"/>
                <a:cs typeface="Arial MT"/>
              </a:rPr>
              <a:t>2024</a:t>
            </a:r>
            <a:endParaRPr sz="2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z="1650" spc="-55" dirty="0">
                <a:solidFill>
                  <a:srgbClr val="6D707E"/>
                </a:solidFill>
                <a:latin typeface="Arial MT"/>
                <a:cs typeface="Arial MT"/>
              </a:rPr>
              <a:t>I</a:t>
            </a:r>
            <a:r>
              <a:rPr sz="1650" spc="-55" dirty="0">
                <a:solidFill>
                  <a:srgbClr val="6B6B6B"/>
                </a:solidFill>
                <a:latin typeface="Arial MT"/>
                <a:cs typeface="Arial MT"/>
              </a:rPr>
              <a:t>JRIAS</a:t>
            </a:r>
            <a:r>
              <a:rPr sz="1650" spc="-65" dirty="0">
                <a:solidFill>
                  <a:srgbClr val="6B6B6B"/>
                </a:solidFill>
                <a:latin typeface="Arial MT"/>
                <a:cs typeface="Arial MT"/>
              </a:rPr>
              <a:t> </a:t>
            </a:r>
            <a:r>
              <a:rPr sz="1650" spc="-10" dirty="0">
                <a:solidFill>
                  <a:srgbClr val="696969"/>
                </a:solidFill>
                <a:latin typeface="Arial MT"/>
                <a:cs typeface="Arial MT"/>
              </a:rPr>
              <a:t>Journal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95022" y="5997638"/>
            <a:ext cx="1289685" cy="866775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2450" spc="-20" dirty="0">
                <a:solidFill>
                  <a:srgbClr val="2D2D2D"/>
                </a:solidFill>
                <a:latin typeface="Cambria" panose="02040503050406030204"/>
                <a:cs typeface="Cambria" panose="02040503050406030204"/>
              </a:rPr>
              <a:t>2023</a:t>
            </a:r>
            <a:endParaRPr sz="245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1650" dirty="0">
                <a:solidFill>
                  <a:srgbClr val="646464"/>
                </a:solidFill>
                <a:latin typeface="Arial MT"/>
                <a:cs typeface="Arial MT"/>
              </a:rPr>
              <a:t>IEEE</a:t>
            </a:r>
            <a:r>
              <a:rPr sz="1650" spc="-80" dirty="0">
                <a:solidFill>
                  <a:srgbClr val="646464"/>
                </a:solidFill>
                <a:latin typeface="Arial MT"/>
                <a:cs typeface="Arial MT"/>
              </a:rPr>
              <a:t> </a:t>
            </a:r>
            <a:r>
              <a:rPr sz="1650" spc="60" dirty="0">
                <a:solidFill>
                  <a:srgbClr val="757575"/>
                </a:solidFill>
                <a:latin typeface="Arial MT"/>
                <a:cs typeface="Arial MT"/>
              </a:rPr>
              <a:t>Access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06134" y="7522411"/>
            <a:ext cx="1470025" cy="821690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sz="2300" spc="85" dirty="0">
                <a:solidFill>
                  <a:srgbClr val="333333"/>
                </a:solidFill>
                <a:latin typeface="Arial MT"/>
                <a:cs typeface="Arial MT"/>
              </a:rPr>
              <a:t>2022</a:t>
            </a:r>
            <a:endParaRPr sz="2300">
              <a:latin typeface="Arial MT"/>
              <a:cs typeface="Arial MT"/>
            </a:endParaRPr>
          </a:p>
          <a:p>
            <a:pPr marL="13335">
              <a:lnSpc>
                <a:spcPct val="100000"/>
              </a:lnSpc>
              <a:spcBef>
                <a:spcPts val="585"/>
              </a:spcBef>
            </a:pPr>
            <a:r>
              <a:rPr sz="1800" spc="-204" dirty="0">
                <a:solidFill>
                  <a:srgbClr val="6B6B6B"/>
                </a:solidFill>
                <a:latin typeface="Arial Black" panose="020B0A04020102020204"/>
                <a:cs typeface="Arial Black" panose="020B0A04020102020204"/>
              </a:rPr>
              <a:t>Springer</a:t>
            </a:r>
            <a:r>
              <a:rPr sz="1800" spc="-80" dirty="0">
                <a:solidFill>
                  <a:srgbClr val="6B6B6B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800" spc="-320" dirty="0">
                <a:solidFill>
                  <a:srgbClr val="7795B3"/>
                </a:solidFill>
                <a:latin typeface="Arial Black" panose="020B0A04020102020204"/>
                <a:cs typeface="Arial Black" panose="020B0A04020102020204"/>
              </a:rPr>
              <a:t>LNEE</a:t>
            </a:r>
            <a:endParaRPr sz="18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206134" y="9047397"/>
            <a:ext cx="2082800" cy="77914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2300" spc="100" dirty="0">
                <a:solidFill>
                  <a:srgbClr val="2D2D2D"/>
                </a:solidFill>
                <a:latin typeface="Arial MT"/>
                <a:cs typeface="Arial MT"/>
              </a:rPr>
              <a:t>2024</a:t>
            </a:r>
            <a:endParaRPr sz="2300">
              <a:latin typeface="Arial MT"/>
              <a:cs typeface="Arial MT"/>
            </a:endParaRPr>
          </a:p>
          <a:p>
            <a:pPr marL="13335">
              <a:lnSpc>
                <a:spcPct val="100000"/>
              </a:lnSpc>
              <a:spcBef>
                <a:spcPts val="335"/>
              </a:spcBef>
            </a:pPr>
            <a:r>
              <a:rPr sz="2050" spc="-275" dirty="0">
                <a:solidFill>
                  <a:srgbClr val="6D6D6D"/>
                </a:solidFill>
                <a:latin typeface="Arial MT"/>
                <a:cs typeface="Arial MT"/>
              </a:rPr>
              <a:t>ACM</a:t>
            </a:r>
            <a:r>
              <a:rPr sz="2050" spc="-229" dirty="0">
                <a:solidFill>
                  <a:srgbClr val="6D6D6D"/>
                </a:solidFill>
                <a:latin typeface="Arial MT"/>
                <a:cs typeface="Arial MT"/>
              </a:rPr>
              <a:t> </a:t>
            </a:r>
            <a:r>
              <a:rPr sz="2050" spc="-220" dirty="0">
                <a:solidFill>
                  <a:srgbClr val="6D6D6D"/>
                </a:solidFill>
                <a:latin typeface="Arial MT"/>
                <a:cs typeface="Arial MT"/>
              </a:rPr>
              <a:t>Trans.</a:t>
            </a:r>
            <a:r>
              <a:rPr sz="2050" spc="-90" dirty="0">
                <a:solidFill>
                  <a:srgbClr val="6D6D6D"/>
                </a:solidFill>
                <a:latin typeface="Arial MT"/>
                <a:cs typeface="Arial MT"/>
              </a:rPr>
              <a:t> </a:t>
            </a:r>
            <a:r>
              <a:rPr sz="2050" spc="-85" dirty="0">
                <a:solidFill>
                  <a:srgbClr val="6B6B6B"/>
                </a:solidFill>
                <a:latin typeface="Arial MT"/>
                <a:cs typeface="Arial MT"/>
              </a:rPr>
              <a:t>Comput.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800969" y="3006187"/>
            <a:ext cx="4870450" cy="111315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8415" marR="5080" indent="-6350">
              <a:lnSpc>
                <a:spcPct val="96000"/>
              </a:lnSpc>
              <a:spcBef>
                <a:spcPts val="225"/>
              </a:spcBef>
            </a:pPr>
            <a:r>
              <a:rPr sz="2450" dirty="0">
                <a:solidFill>
                  <a:srgbClr val="343434"/>
                </a:solidFill>
                <a:latin typeface="Arial MT"/>
                <a:cs typeface="Arial MT"/>
              </a:rPr>
              <a:t>Integrated</a:t>
            </a:r>
            <a:r>
              <a:rPr sz="2450" spc="-3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2450" spc="-100" dirty="0">
                <a:solidFill>
                  <a:srgbClr val="343434"/>
                </a:solidFill>
                <a:latin typeface="Arial MT"/>
                <a:cs typeface="Arial MT"/>
              </a:rPr>
              <a:t>wearable</a:t>
            </a:r>
            <a:r>
              <a:rPr sz="2450" spc="-4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2450" spc="-130" dirty="0">
                <a:solidFill>
                  <a:srgbClr val="2D2D2D"/>
                </a:solidFill>
                <a:latin typeface="Arial MT"/>
                <a:cs typeface="Arial MT"/>
              </a:rPr>
              <a:t>IoT</a:t>
            </a:r>
            <a:r>
              <a:rPr sz="2450" spc="-180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2450" spc="-105" dirty="0">
                <a:solidFill>
                  <a:srgbClr val="313131"/>
                </a:solidFill>
                <a:latin typeface="Arial MT"/>
                <a:cs typeface="Arial MT"/>
              </a:rPr>
              <a:t>sensors</a:t>
            </a:r>
            <a:r>
              <a:rPr sz="2450" spc="-125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450" spc="-20" dirty="0">
                <a:solidFill>
                  <a:srgbClr val="333333"/>
                </a:solidFill>
                <a:latin typeface="Arial MT"/>
                <a:cs typeface="Arial MT"/>
              </a:rPr>
              <a:t>with </a:t>
            </a:r>
            <a:r>
              <a:rPr sz="2450" spc="-229" dirty="0">
                <a:solidFill>
                  <a:srgbClr val="313131"/>
                </a:solidFill>
                <a:latin typeface="Arial MT"/>
                <a:cs typeface="Arial MT"/>
              </a:rPr>
              <a:t>ML</a:t>
            </a:r>
            <a:r>
              <a:rPr sz="2450" spc="-145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450" spc="-50" dirty="0">
                <a:solidFill>
                  <a:srgbClr val="313131"/>
                </a:solidFill>
                <a:latin typeface="Arial MT"/>
                <a:cs typeface="Arial MT"/>
              </a:rPr>
              <a:t>algorithms</a:t>
            </a:r>
            <a:r>
              <a:rPr sz="2450" spc="-75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363636"/>
                </a:solidFill>
                <a:latin typeface="Arial MT"/>
                <a:cs typeface="Arial MT"/>
              </a:rPr>
              <a:t>for</a:t>
            </a:r>
            <a:r>
              <a:rPr sz="2450" spc="-185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2450" spc="-65" dirty="0">
                <a:solidFill>
                  <a:srgbClr val="363636"/>
                </a:solidFill>
                <a:latin typeface="Arial MT"/>
                <a:cs typeface="Arial MT"/>
              </a:rPr>
              <a:t>panic</a:t>
            </a:r>
            <a:r>
              <a:rPr sz="2450" spc="-80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313131"/>
                </a:solidFill>
                <a:latin typeface="Arial MT"/>
                <a:cs typeface="Arial MT"/>
              </a:rPr>
              <a:t>motion </a:t>
            </a:r>
            <a:r>
              <a:rPr sz="2450" spc="-10" dirty="0">
                <a:solidFill>
                  <a:srgbClr val="2D2D2D"/>
                </a:solidFill>
                <a:latin typeface="Arial MT"/>
                <a:cs typeface="Arial MT"/>
              </a:rPr>
              <a:t>detection.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805374" y="4474728"/>
            <a:ext cx="4683760" cy="112903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7145" marR="5080" indent="-5080" algn="just">
              <a:lnSpc>
                <a:spcPct val="98000"/>
              </a:lnSpc>
              <a:spcBef>
                <a:spcPts val="160"/>
              </a:spcBef>
            </a:pPr>
            <a:r>
              <a:rPr sz="2450" spc="-105" dirty="0">
                <a:solidFill>
                  <a:srgbClr val="2A2A2A"/>
                </a:solidFill>
                <a:latin typeface="Arial MT"/>
                <a:cs typeface="Arial MT"/>
              </a:rPr>
              <a:t>Evaluated</a:t>
            </a:r>
            <a:r>
              <a:rPr sz="2450" spc="-6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2450" spc="-340" dirty="0">
                <a:solidFill>
                  <a:srgbClr val="3D3D3D"/>
                </a:solidFill>
                <a:latin typeface="Arial MT"/>
                <a:cs typeface="Arial MT"/>
              </a:rPr>
              <a:t>AI</a:t>
            </a:r>
            <a:r>
              <a:rPr sz="2450" spc="175" dirty="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2D2D2D"/>
                </a:solidFill>
                <a:latin typeface="Arial MT"/>
                <a:cs typeface="Arial MT"/>
              </a:rPr>
              <a:t>predictive</a:t>
            </a:r>
            <a:r>
              <a:rPr sz="2450" spc="-100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2450" spc="-20" dirty="0">
                <a:solidFill>
                  <a:srgbClr val="313131"/>
                </a:solidFill>
                <a:latin typeface="Arial MT"/>
                <a:cs typeface="Arial MT"/>
              </a:rPr>
              <a:t>frameworks </a:t>
            </a:r>
            <a:r>
              <a:rPr sz="2450" spc="-55" dirty="0">
                <a:solidFill>
                  <a:srgbClr val="333333"/>
                </a:solidFill>
                <a:latin typeface="Arial MT"/>
                <a:cs typeface="Arial MT"/>
              </a:rPr>
              <a:t>for</a:t>
            </a:r>
            <a:r>
              <a:rPr sz="2450" spc="-114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2F2F2F"/>
                </a:solidFill>
                <a:latin typeface="Arial MT"/>
                <a:cs typeface="Arial MT"/>
              </a:rPr>
              <a:t>proactive</a:t>
            </a:r>
            <a:r>
              <a:rPr sz="2450" spc="-130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2450" spc="-35" dirty="0">
                <a:solidFill>
                  <a:srgbClr val="313131"/>
                </a:solidFill>
                <a:latin typeface="Arial MT"/>
                <a:cs typeface="Arial MT"/>
              </a:rPr>
              <a:t>threat</a:t>
            </a:r>
            <a:r>
              <a:rPr sz="2450" spc="5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2A2A2A"/>
                </a:solidFill>
                <a:latin typeface="Arial MT"/>
                <a:cs typeface="Arial MT"/>
              </a:rPr>
              <a:t>identification</a:t>
            </a:r>
            <a:r>
              <a:rPr sz="2450" spc="-16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2450" spc="-25" dirty="0">
                <a:solidFill>
                  <a:srgbClr val="7B89A8"/>
                </a:solidFill>
                <a:latin typeface="Arial MT"/>
                <a:cs typeface="Arial MT"/>
              </a:rPr>
              <a:t>in </a:t>
            </a:r>
            <a:r>
              <a:rPr sz="2450" spc="-10" dirty="0">
                <a:solidFill>
                  <a:srgbClr val="343434"/>
                </a:solidFill>
                <a:latin typeface="Arial MT"/>
                <a:cs typeface="Arial MT"/>
              </a:rPr>
              <a:t>cities.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805563" y="5958976"/>
            <a:ext cx="4839335" cy="112141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6510" marR="5080" indent="-4445">
              <a:lnSpc>
                <a:spcPct val="97000"/>
              </a:lnSpc>
              <a:spcBef>
                <a:spcPts val="190"/>
              </a:spcBef>
            </a:pPr>
            <a:r>
              <a:rPr sz="2450" spc="-25" dirty="0">
                <a:solidFill>
                  <a:srgbClr val="2F2F2F"/>
                </a:solidFill>
                <a:latin typeface="Arial MT"/>
                <a:cs typeface="Arial MT"/>
              </a:rPr>
              <a:t>GIS-</a:t>
            </a:r>
            <a:r>
              <a:rPr sz="2450" spc="-10" dirty="0">
                <a:solidFill>
                  <a:srgbClr val="2F2F2F"/>
                </a:solidFill>
                <a:latin typeface="Arial MT"/>
                <a:cs typeface="Arial MT"/>
              </a:rPr>
              <a:t>based</a:t>
            </a:r>
            <a:r>
              <a:rPr sz="2450" spc="-45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2450" spc="-70" dirty="0">
                <a:solidFill>
                  <a:srgbClr val="383838"/>
                </a:solidFill>
                <a:latin typeface="Arial MT"/>
                <a:cs typeface="Arial MT"/>
              </a:rPr>
              <a:t>crime</a:t>
            </a:r>
            <a:r>
              <a:rPr sz="2450" spc="-50" dirty="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3A3A3A"/>
                </a:solidFill>
                <a:latin typeface="Arial MT"/>
                <a:cs typeface="Arial MT"/>
              </a:rPr>
              <a:t>hotspot</a:t>
            </a:r>
            <a:r>
              <a:rPr sz="2450" spc="55" dirty="0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2F2F2F"/>
                </a:solidFill>
                <a:latin typeface="Arial MT"/>
                <a:cs typeface="Arial MT"/>
              </a:rPr>
              <a:t>mapping </a:t>
            </a:r>
            <a:r>
              <a:rPr sz="2450" spc="-10" dirty="0">
                <a:solidFill>
                  <a:srgbClr val="2A2A2A"/>
                </a:solidFill>
                <a:latin typeface="Arial MT"/>
                <a:cs typeface="Arial MT"/>
              </a:rPr>
              <a:t>combined</a:t>
            </a:r>
            <a:r>
              <a:rPr sz="2450" spc="-18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2450" spc="-20" dirty="0">
                <a:solidFill>
                  <a:srgbClr val="383838"/>
                </a:solidFill>
                <a:latin typeface="Arial MT"/>
                <a:cs typeface="Arial MT"/>
              </a:rPr>
              <a:t>with</a:t>
            </a:r>
            <a:r>
              <a:rPr sz="2450" spc="-300" dirty="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sz="2450" spc="-30" dirty="0">
                <a:solidFill>
                  <a:srgbClr val="2A2A2A"/>
                </a:solidFill>
                <a:latin typeface="Arial MT"/>
                <a:cs typeface="Arial MT"/>
              </a:rPr>
              <a:t>community</a:t>
            </a:r>
            <a:r>
              <a:rPr sz="2450" spc="-5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2450" spc="-20" dirty="0">
                <a:solidFill>
                  <a:srgbClr val="313131"/>
                </a:solidFill>
                <a:latin typeface="Arial MT"/>
                <a:cs typeface="Arial MT"/>
              </a:rPr>
              <a:t>volunteer </a:t>
            </a:r>
            <a:r>
              <a:rPr sz="2450" spc="-10" dirty="0">
                <a:solidFill>
                  <a:srgbClr val="343434"/>
                </a:solidFill>
                <a:latin typeface="Arial MT"/>
                <a:cs typeface="Arial MT"/>
              </a:rPr>
              <a:t>alerts.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808146" y="7608141"/>
            <a:ext cx="4614545" cy="76009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5875" marR="5080" indent="-3810">
              <a:lnSpc>
                <a:spcPts val="2840"/>
              </a:lnSpc>
              <a:spcBef>
                <a:spcPts val="275"/>
              </a:spcBef>
            </a:pPr>
            <a:r>
              <a:rPr sz="2450" spc="-110" dirty="0">
                <a:solidFill>
                  <a:srgbClr val="363636"/>
                </a:solidFill>
                <a:latin typeface="Arial MT"/>
                <a:cs typeface="Arial MT"/>
              </a:rPr>
              <a:t>Safe</a:t>
            </a:r>
            <a:r>
              <a:rPr sz="2450" spc="-125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2450" spc="-20" dirty="0">
                <a:solidFill>
                  <a:srgbClr val="333333"/>
                </a:solidFill>
                <a:latin typeface="Arial MT"/>
                <a:cs typeface="Arial MT"/>
              </a:rPr>
              <a:t>route</a:t>
            </a:r>
            <a:r>
              <a:rPr sz="2450" spc="-11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450" spc="-45" dirty="0">
                <a:solidFill>
                  <a:srgbClr val="333333"/>
                </a:solidFill>
                <a:latin typeface="Arial MT"/>
                <a:cs typeface="Arial MT"/>
              </a:rPr>
              <a:t>routing</a:t>
            </a:r>
            <a:r>
              <a:rPr sz="2450" spc="-13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450" spc="-25" dirty="0">
                <a:solidFill>
                  <a:srgbClr val="2B2B2B"/>
                </a:solidFill>
                <a:latin typeface="Arial MT"/>
                <a:cs typeface="Arial MT"/>
              </a:rPr>
              <a:t>based</a:t>
            </a:r>
            <a:r>
              <a:rPr sz="2450" spc="-190" dirty="0">
                <a:solidFill>
                  <a:srgbClr val="2B2B2B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343434"/>
                </a:solidFill>
                <a:latin typeface="Arial MT"/>
                <a:cs typeface="Arial MT"/>
              </a:rPr>
              <a:t>on</a:t>
            </a:r>
            <a:r>
              <a:rPr sz="2450" spc="-31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2B2B2B"/>
                </a:solidFill>
                <a:latin typeface="Arial MT"/>
                <a:cs typeface="Arial MT"/>
              </a:rPr>
              <a:t>spatial </a:t>
            </a:r>
            <a:r>
              <a:rPr sz="2450" spc="-35" dirty="0">
                <a:solidFill>
                  <a:srgbClr val="2B2B2B"/>
                </a:solidFill>
                <a:latin typeface="Arial MT"/>
                <a:cs typeface="Arial MT"/>
              </a:rPr>
              <a:t>density</a:t>
            </a:r>
            <a:r>
              <a:rPr sz="2450" spc="-50" dirty="0">
                <a:solidFill>
                  <a:srgbClr val="2B2B2B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383838"/>
                </a:solidFill>
                <a:latin typeface="Arial MT"/>
                <a:cs typeface="Arial MT"/>
              </a:rPr>
              <a:t>of</a:t>
            </a:r>
            <a:r>
              <a:rPr sz="2450" spc="-100" dirty="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sz="2450" spc="-25" dirty="0">
                <a:solidFill>
                  <a:srgbClr val="343434"/>
                </a:solidFill>
                <a:latin typeface="Arial MT"/>
                <a:cs typeface="Arial MT"/>
              </a:rPr>
              <a:t>past</a:t>
            </a:r>
            <a:r>
              <a:rPr sz="2450" spc="-9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2450" spc="-70" dirty="0">
                <a:solidFill>
                  <a:srgbClr val="343434"/>
                </a:solidFill>
                <a:latin typeface="Arial MT"/>
                <a:cs typeface="Arial MT"/>
              </a:rPr>
              <a:t>crime</a:t>
            </a:r>
            <a:r>
              <a:rPr sz="2450" spc="-12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383838"/>
                </a:solidFill>
                <a:latin typeface="Arial MT"/>
                <a:cs typeface="Arial MT"/>
              </a:rPr>
              <a:t>reports.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799115" y="8911766"/>
            <a:ext cx="5064760" cy="112141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22225" marR="5080" indent="-10160">
              <a:lnSpc>
                <a:spcPts val="2840"/>
              </a:lnSpc>
              <a:spcBef>
                <a:spcPts val="275"/>
              </a:spcBef>
            </a:pPr>
            <a:r>
              <a:rPr sz="2450" spc="-105" dirty="0">
                <a:solidFill>
                  <a:srgbClr val="363636"/>
                </a:solidFill>
                <a:latin typeface="Arial MT"/>
                <a:cs typeface="Arial MT"/>
              </a:rPr>
              <a:t>Timed</a:t>
            </a:r>
            <a:r>
              <a:rPr sz="2450" spc="-160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2450" spc="-20" dirty="0">
                <a:solidFill>
                  <a:srgbClr val="333333"/>
                </a:solidFill>
                <a:latin typeface="Arial MT"/>
                <a:cs typeface="Arial MT"/>
              </a:rPr>
              <a:t>check-</a:t>
            </a:r>
            <a:r>
              <a:rPr sz="2450" dirty="0">
                <a:solidFill>
                  <a:srgbClr val="333333"/>
                </a:solidFill>
                <a:latin typeface="Arial MT"/>
                <a:cs typeface="Arial MT"/>
              </a:rPr>
              <a:t>ins</a:t>
            </a:r>
            <a:r>
              <a:rPr sz="2450" spc="-10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450" spc="-95" dirty="0">
                <a:solidFill>
                  <a:srgbClr val="363636"/>
                </a:solidFill>
                <a:latin typeface="Arial MT"/>
                <a:cs typeface="Arial MT"/>
              </a:rPr>
              <a:t>and</a:t>
            </a:r>
            <a:r>
              <a:rPr sz="2450" spc="-220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2450" spc="-75" dirty="0">
                <a:solidFill>
                  <a:srgbClr val="313131"/>
                </a:solidFill>
                <a:latin typeface="Arial MT"/>
                <a:cs typeface="Arial MT"/>
              </a:rPr>
              <a:t>missed</a:t>
            </a:r>
            <a:r>
              <a:rPr sz="2450" spc="-175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450" spc="-20" dirty="0">
                <a:solidFill>
                  <a:srgbClr val="2D2D2D"/>
                </a:solidFill>
                <a:latin typeface="Arial MT"/>
                <a:cs typeface="Arial MT"/>
              </a:rPr>
              <a:t>response </a:t>
            </a:r>
            <a:r>
              <a:rPr sz="2450" spc="-20" dirty="0">
                <a:solidFill>
                  <a:srgbClr val="2F2F2F"/>
                </a:solidFill>
                <a:latin typeface="Arial MT"/>
                <a:cs typeface="Arial MT"/>
              </a:rPr>
              <a:t>triggers</a:t>
            </a:r>
            <a:r>
              <a:rPr sz="2450" spc="-125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2F2F2F"/>
                </a:solidFill>
                <a:latin typeface="Arial MT"/>
                <a:cs typeface="Arial MT"/>
              </a:rPr>
              <a:t>for</a:t>
            </a:r>
            <a:r>
              <a:rPr sz="2450" spc="-130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2F2F2F"/>
                </a:solidFill>
                <a:latin typeface="Arial MT"/>
                <a:cs typeface="Arial MT"/>
              </a:rPr>
              <a:t>automated</a:t>
            </a:r>
            <a:r>
              <a:rPr sz="2450" spc="-110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2450" spc="-25" dirty="0">
                <a:solidFill>
                  <a:srgbClr val="2D2D2D"/>
                </a:solidFill>
                <a:latin typeface="Arial MT"/>
                <a:cs typeface="Arial MT"/>
              </a:rPr>
              <a:t>SOS </a:t>
            </a:r>
            <a:r>
              <a:rPr sz="2450" spc="-10" dirty="0">
                <a:solidFill>
                  <a:srgbClr val="2B2B2B"/>
                </a:solidFill>
                <a:latin typeface="Arial MT"/>
                <a:cs typeface="Arial MT"/>
              </a:rPr>
              <a:t>escalation.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7366642" y="1133861"/>
            <a:ext cx="1762125" cy="2616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50" spc="85" dirty="0">
                <a:solidFill>
                  <a:srgbClr val="4D4D4D"/>
                </a:solidFill>
                <a:latin typeface="Arial MT"/>
                <a:cs typeface="Arial MT"/>
              </a:rPr>
              <a:t>Academic</a:t>
            </a:r>
            <a:r>
              <a:rPr sz="1550" spc="135" dirty="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sz="1550" spc="60" dirty="0">
                <a:solidFill>
                  <a:srgbClr val="494949"/>
                </a:solidFill>
                <a:latin typeface="Arial MT"/>
                <a:cs typeface="Arial MT"/>
              </a:rPr>
              <a:t>Review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4380782" y="3006187"/>
            <a:ext cx="4065270" cy="111315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7145" marR="5080" indent="-5080">
              <a:lnSpc>
                <a:spcPct val="96000"/>
              </a:lnSpc>
              <a:spcBef>
                <a:spcPts val="225"/>
              </a:spcBef>
            </a:pPr>
            <a:r>
              <a:rPr sz="2450" spc="-85" dirty="0">
                <a:solidFill>
                  <a:srgbClr val="2B2B2B"/>
                </a:solidFill>
                <a:latin typeface="Arial MT"/>
                <a:cs typeface="Arial MT"/>
              </a:rPr>
              <a:t>Validates</a:t>
            </a:r>
            <a:r>
              <a:rPr sz="2450" spc="-80" dirty="0">
                <a:solidFill>
                  <a:srgbClr val="2B2B2B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2D2D2D"/>
                </a:solidFill>
                <a:latin typeface="Arial MT"/>
                <a:cs typeface="Arial MT"/>
              </a:rPr>
              <a:t>automated</a:t>
            </a:r>
            <a:r>
              <a:rPr sz="2450" spc="-114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313131"/>
                </a:solidFill>
                <a:latin typeface="Arial MT"/>
                <a:cs typeface="Arial MT"/>
              </a:rPr>
              <a:t>anomaly </a:t>
            </a:r>
            <a:r>
              <a:rPr sz="2450" dirty="0">
                <a:solidFill>
                  <a:srgbClr val="2F2F2F"/>
                </a:solidFill>
                <a:latin typeface="Arial MT"/>
                <a:cs typeface="Arial MT"/>
              </a:rPr>
              <a:t>detection</a:t>
            </a:r>
            <a:r>
              <a:rPr sz="2450" spc="-114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2450" spc="-75" dirty="0">
                <a:solidFill>
                  <a:srgbClr val="2F2F2F"/>
                </a:solidFill>
                <a:latin typeface="Arial MT"/>
                <a:cs typeface="Arial MT"/>
              </a:rPr>
              <a:t>over</a:t>
            </a:r>
            <a:r>
              <a:rPr sz="2450" spc="-10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2450" spc="-160" dirty="0">
                <a:solidFill>
                  <a:srgbClr val="2D2D2D"/>
                </a:solidFill>
                <a:latin typeface="Arial MT"/>
                <a:cs typeface="Arial MT"/>
              </a:rPr>
              <a:t>manual</a:t>
            </a:r>
            <a:r>
              <a:rPr sz="2450" spc="60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2450" spc="-25" dirty="0">
                <a:solidFill>
                  <a:srgbClr val="313131"/>
                </a:solidFill>
                <a:latin typeface="Arial MT"/>
                <a:cs typeface="Arial MT"/>
              </a:rPr>
              <a:t>distress </a:t>
            </a:r>
            <a:r>
              <a:rPr sz="2450" spc="-10" dirty="0">
                <a:solidFill>
                  <a:srgbClr val="2F2F2F"/>
                </a:solidFill>
                <a:latin typeface="Arial MT"/>
                <a:cs typeface="Arial MT"/>
              </a:rPr>
              <a:t>buttons.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4382990" y="4498942"/>
            <a:ext cx="4213225" cy="109347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3970" marR="5080" indent="-1905">
              <a:lnSpc>
                <a:spcPct val="102000"/>
              </a:lnSpc>
              <a:spcBef>
                <a:spcPts val="65"/>
              </a:spcBef>
            </a:pPr>
            <a:r>
              <a:rPr sz="2300" dirty="0">
                <a:solidFill>
                  <a:srgbClr val="313131"/>
                </a:solidFill>
                <a:latin typeface="Arial MT"/>
                <a:cs typeface="Arial MT"/>
              </a:rPr>
              <a:t>Provides</a:t>
            </a:r>
            <a:r>
              <a:rPr sz="2300" spc="-6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300" spc="60" dirty="0">
                <a:solidFill>
                  <a:srgbClr val="2A2A2A"/>
                </a:solidFill>
                <a:latin typeface="Arial MT"/>
                <a:cs typeface="Arial MT"/>
              </a:rPr>
              <a:t>theoretical</a:t>
            </a:r>
            <a:r>
              <a:rPr sz="2300" spc="-5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2300" spc="-20" dirty="0">
                <a:solidFill>
                  <a:srgbClr val="313131"/>
                </a:solidFill>
                <a:latin typeface="Arial MT"/>
                <a:cs typeface="Arial MT"/>
              </a:rPr>
              <a:t>basis</a:t>
            </a:r>
            <a:r>
              <a:rPr sz="2300" spc="-9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300" spc="25" dirty="0">
                <a:solidFill>
                  <a:srgbClr val="343434"/>
                </a:solidFill>
                <a:latin typeface="Arial MT"/>
                <a:cs typeface="Arial MT"/>
              </a:rPr>
              <a:t>for </a:t>
            </a:r>
            <a:r>
              <a:rPr sz="2300" dirty="0">
                <a:solidFill>
                  <a:srgbClr val="3B3B3B"/>
                </a:solidFill>
                <a:latin typeface="Arial MT"/>
                <a:cs typeface="Arial MT"/>
              </a:rPr>
              <a:t>S</a:t>
            </a:r>
            <a:r>
              <a:rPr sz="2300" dirty="0">
                <a:solidFill>
                  <a:srgbClr val="2B2B2B"/>
                </a:solidFill>
                <a:latin typeface="Arial MT"/>
                <a:cs typeface="Arial MT"/>
              </a:rPr>
              <a:t>afeHer's</a:t>
            </a:r>
            <a:r>
              <a:rPr sz="2300" spc="-95" dirty="0">
                <a:solidFill>
                  <a:srgbClr val="2B2B2B"/>
                </a:solidFill>
                <a:latin typeface="Arial MT"/>
                <a:cs typeface="Arial MT"/>
              </a:rPr>
              <a:t> </a:t>
            </a:r>
            <a:r>
              <a:rPr sz="2300" spc="55" dirty="0">
                <a:solidFill>
                  <a:srgbClr val="2F2F2F"/>
                </a:solidFill>
                <a:latin typeface="Arial MT"/>
                <a:cs typeface="Arial MT"/>
              </a:rPr>
              <a:t>proactive</a:t>
            </a:r>
            <a:r>
              <a:rPr sz="2300" spc="-5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2300" spc="-50" dirty="0">
                <a:solidFill>
                  <a:srgbClr val="383838"/>
                </a:solidFill>
                <a:latin typeface="Arial MT"/>
                <a:cs typeface="Arial MT"/>
              </a:rPr>
              <a:t>risk</a:t>
            </a:r>
            <a:r>
              <a:rPr sz="2300" spc="-105" dirty="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sz="2300" spc="-40" dirty="0">
                <a:solidFill>
                  <a:srgbClr val="313131"/>
                </a:solidFill>
                <a:latin typeface="Arial MT"/>
                <a:cs typeface="Arial MT"/>
              </a:rPr>
              <a:t>analysis </a:t>
            </a:r>
            <a:r>
              <a:rPr sz="2300" spc="-10" dirty="0">
                <a:solidFill>
                  <a:srgbClr val="343434"/>
                </a:solidFill>
                <a:latin typeface="Arial MT"/>
                <a:cs typeface="Arial MT"/>
              </a:rPr>
              <a:t>engine.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4381725" y="5951123"/>
            <a:ext cx="4138929" cy="112903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6510" marR="5080" indent="-4445">
              <a:lnSpc>
                <a:spcPct val="98000"/>
              </a:lnSpc>
              <a:spcBef>
                <a:spcPts val="160"/>
              </a:spcBef>
            </a:pPr>
            <a:r>
              <a:rPr sz="2450" spc="-30" dirty="0">
                <a:solidFill>
                  <a:srgbClr val="363636"/>
                </a:solidFill>
                <a:latin typeface="Arial MT"/>
                <a:cs typeface="Arial MT"/>
              </a:rPr>
              <a:t>Direct</a:t>
            </a:r>
            <a:r>
              <a:rPr sz="2450" spc="-70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2450" spc="-30" dirty="0">
                <a:solidFill>
                  <a:srgbClr val="282828"/>
                </a:solidFill>
                <a:latin typeface="Arial MT"/>
                <a:cs typeface="Arial MT"/>
              </a:rPr>
              <a:t>foundation</a:t>
            </a:r>
            <a:r>
              <a:rPr sz="2450" spc="-140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2F2F2F"/>
                </a:solidFill>
                <a:latin typeface="Arial MT"/>
                <a:cs typeface="Arial MT"/>
              </a:rPr>
              <a:t>for</a:t>
            </a:r>
            <a:r>
              <a:rPr sz="2450" spc="-165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2450" spc="-90" dirty="0">
                <a:solidFill>
                  <a:srgbClr val="3B3B3B"/>
                </a:solidFill>
                <a:latin typeface="Arial MT"/>
                <a:cs typeface="Arial MT"/>
              </a:rPr>
              <a:t>safe</a:t>
            </a:r>
            <a:r>
              <a:rPr sz="2450" spc="-185" dirty="0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2A2A2A"/>
                </a:solidFill>
                <a:latin typeface="Arial MT"/>
                <a:cs typeface="Arial MT"/>
              </a:rPr>
              <a:t>route </a:t>
            </a:r>
            <a:r>
              <a:rPr sz="2450" spc="-10" dirty="0">
                <a:solidFill>
                  <a:srgbClr val="2B2B2B"/>
                </a:solidFill>
                <a:latin typeface="Arial MT"/>
                <a:cs typeface="Arial MT"/>
              </a:rPr>
              <a:t>geofencing</a:t>
            </a:r>
            <a:r>
              <a:rPr sz="2450" spc="-90" dirty="0">
                <a:solidFill>
                  <a:srgbClr val="2B2B2B"/>
                </a:solidFill>
                <a:latin typeface="Arial MT"/>
                <a:cs typeface="Arial MT"/>
              </a:rPr>
              <a:t> </a:t>
            </a:r>
            <a:r>
              <a:rPr sz="2450" spc="-95" dirty="0">
                <a:solidFill>
                  <a:srgbClr val="333333"/>
                </a:solidFill>
                <a:latin typeface="Arial MT"/>
                <a:cs typeface="Arial MT"/>
              </a:rPr>
              <a:t>and</a:t>
            </a:r>
            <a:r>
              <a:rPr sz="2450" spc="-24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313131"/>
                </a:solidFill>
                <a:latin typeface="Arial MT"/>
                <a:cs typeface="Arial MT"/>
              </a:rPr>
              <a:t>community </a:t>
            </a:r>
            <a:r>
              <a:rPr sz="2450" spc="-55" dirty="0">
                <a:solidFill>
                  <a:srgbClr val="313131"/>
                </a:solidFill>
                <a:latin typeface="Arial MT"/>
                <a:cs typeface="Arial MT"/>
              </a:rPr>
              <a:t>volunteer</a:t>
            </a:r>
            <a:r>
              <a:rPr sz="2450" spc="-9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2D2D2D"/>
                </a:solidFill>
                <a:latin typeface="Arial MT"/>
                <a:cs typeface="Arial MT"/>
              </a:rPr>
              <a:t>alerts.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4381309" y="7608141"/>
            <a:ext cx="4638675" cy="76009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5875" marR="5080" indent="-3810">
              <a:lnSpc>
                <a:spcPts val="2840"/>
              </a:lnSpc>
              <a:spcBef>
                <a:spcPts val="275"/>
              </a:spcBef>
            </a:pPr>
            <a:r>
              <a:rPr sz="2450" spc="-70" dirty="0">
                <a:solidFill>
                  <a:srgbClr val="313131"/>
                </a:solidFill>
                <a:latin typeface="Arial MT"/>
                <a:cs typeface="Arial MT"/>
              </a:rPr>
              <a:t>Guides</a:t>
            </a:r>
            <a:r>
              <a:rPr sz="2450" spc="-114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450" spc="-45" dirty="0">
                <a:solidFill>
                  <a:srgbClr val="2B2B2B"/>
                </a:solidFill>
                <a:latin typeface="Arial MT"/>
                <a:cs typeface="Arial MT"/>
              </a:rPr>
              <a:t>SafeHerjourney</a:t>
            </a:r>
            <a:r>
              <a:rPr sz="2450" spc="-204" dirty="0">
                <a:solidFill>
                  <a:srgbClr val="2B2B2B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333333"/>
                </a:solidFill>
                <a:latin typeface="Arial MT"/>
                <a:cs typeface="Arial MT"/>
              </a:rPr>
              <a:t>monitoring </a:t>
            </a:r>
            <a:r>
              <a:rPr sz="2450" spc="-105" dirty="0">
                <a:solidFill>
                  <a:srgbClr val="18364F"/>
                </a:solidFill>
                <a:latin typeface="Arial MT"/>
                <a:cs typeface="Arial MT"/>
              </a:rPr>
              <a:t>&amp;</a:t>
            </a:r>
            <a:r>
              <a:rPr sz="2450" spc="-229" dirty="0">
                <a:solidFill>
                  <a:srgbClr val="18364F"/>
                </a:solidFill>
                <a:latin typeface="Arial MT"/>
                <a:cs typeface="Arial MT"/>
              </a:rPr>
              <a:t> </a:t>
            </a:r>
            <a:r>
              <a:rPr sz="2450" spc="-114" dirty="0">
                <a:solidFill>
                  <a:srgbClr val="313131"/>
                </a:solidFill>
                <a:latin typeface="Arial MT"/>
                <a:cs typeface="Arial MT"/>
              </a:rPr>
              <a:t>zone </a:t>
            </a:r>
            <a:r>
              <a:rPr sz="2450" spc="-80" dirty="0">
                <a:solidFill>
                  <a:srgbClr val="2D2D2D"/>
                </a:solidFill>
                <a:latin typeface="Arial MT"/>
                <a:cs typeface="Arial MT"/>
              </a:rPr>
              <a:t>evaluation</a:t>
            </a:r>
            <a:r>
              <a:rPr sz="2450" spc="-120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2F2F2F"/>
                </a:solidFill>
                <a:latin typeface="Arial MT"/>
                <a:cs typeface="Arial MT"/>
              </a:rPr>
              <a:t>module.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4374862" y="9076683"/>
            <a:ext cx="4203700" cy="76009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 marR="5080" indent="1270">
              <a:lnSpc>
                <a:spcPts val="2840"/>
              </a:lnSpc>
              <a:spcBef>
                <a:spcPts val="275"/>
              </a:spcBef>
            </a:pPr>
            <a:r>
              <a:rPr sz="2450" spc="-80" dirty="0">
                <a:solidFill>
                  <a:srgbClr val="2F2F2F"/>
                </a:solidFill>
                <a:latin typeface="Arial MT"/>
                <a:cs typeface="Arial MT"/>
              </a:rPr>
              <a:t>Inspires</a:t>
            </a:r>
            <a:r>
              <a:rPr sz="2450" spc="-125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2450" spc="-95" dirty="0">
                <a:solidFill>
                  <a:srgbClr val="313131"/>
                </a:solidFill>
                <a:latin typeface="Arial MT"/>
                <a:cs typeface="Arial MT"/>
              </a:rPr>
              <a:t>SafeHer's</a:t>
            </a:r>
            <a:r>
              <a:rPr sz="2450" spc="-75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450" spc="-50" dirty="0">
                <a:solidFill>
                  <a:srgbClr val="343434"/>
                </a:solidFill>
                <a:latin typeface="Arial MT"/>
                <a:cs typeface="Arial MT"/>
              </a:rPr>
              <a:t>Digital</a:t>
            </a:r>
            <a:r>
              <a:rPr sz="2450" spc="-18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2A2A2A"/>
                </a:solidFill>
                <a:latin typeface="Arial MT"/>
                <a:cs typeface="Arial MT"/>
              </a:rPr>
              <a:t>Safety </a:t>
            </a:r>
            <a:r>
              <a:rPr sz="2450" spc="-195" dirty="0">
                <a:solidFill>
                  <a:srgbClr val="5B6780"/>
                </a:solidFill>
                <a:latin typeface="Arial MT"/>
                <a:cs typeface="Arial MT"/>
              </a:rPr>
              <a:t>Twin</a:t>
            </a:r>
            <a:r>
              <a:rPr sz="2450" spc="-250" dirty="0">
                <a:solidFill>
                  <a:srgbClr val="5B6780"/>
                </a:solidFill>
                <a:latin typeface="Arial MT"/>
                <a:cs typeface="Arial MT"/>
              </a:rPr>
              <a:t> </a:t>
            </a:r>
            <a:r>
              <a:rPr sz="2450" spc="-105" dirty="0">
                <a:solidFill>
                  <a:srgbClr val="2F2F2F"/>
                </a:solidFill>
                <a:latin typeface="Arial MT"/>
                <a:cs typeface="Arial MT"/>
              </a:rPr>
              <a:t>&amp;</a:t>
            </a:r>
            <a:r>
              <a:rPr sz="2450" spc="-220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313131"/>
                </a:solidFill>
                <a:latin typeface="Arial MT"/>
                <a:cs typeface="Arial MT"/>
              </a:rPr>
              <a:t>timed</a:t>
            </a:r>
            <a:r>
              <a:rPr sz="2450" spc="-19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313131"/>
                </a:solidFill>
                <a:latin typeface="Arial MT"/>
                <a:cs typeface="Arial MT"/>
              </a:rPr>
              <a:t>check-in</a:t>
            </a:r>
            <a:r>
              <a:rPr sz="2450" spc="-155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3A3A3A"/>
                </a:solidFill>
                <a:latin typeface="Arial MT"/>
                <a:cs typeface="Arial MT"/>
              </a:rPr>
              <a:t>design.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8558329" y="10431353"/>
            <a:ext cx="792480" cy="2806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50" dirty="0">
                <a:solidFill>
                  <a:srgbClr val="5D5D5D"/>
                </a:solidFill>
                <a:latin typeface="Arial MT"/>
                <a:cs typeface="Arial MT"/>
              </a:rPr>
              <a:t>Slide</a:t>
            </a:r>
            <a:r>
              <a:rPr sz="1650" spc="50" dirty="0">
                <a:solidFill>
                  <a:srgbClr val="5D5D5D"/>
                </a:solidFill>
                <a:latin typeface="Arial MT"/>
                <a:cs typeface="Arial MT"/>
              </a:rPr>
              <a:t> </a:t>
            </a:r>
            <a:r>
              <a:rPr sz="1650" spc="-25" dirty="0">
                <a:solidFill>
                  <a:srgbClr val="707070"/>
                </a:solidFill>
                <a:latin typeface="Arial MT"/>
                <a:cs typeface="Arial MT"/>
              </a:rPr>
              <a:t>IO</a:t>
            </a:r>
            <a:endParaRPr sz="16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746620" y="10405277"/>
            <a:ext cx="44907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5"/>
              </a:lnSpc>
            </a:pPr>
            <a:r>
              <a:rPr sz="1800" spc="-55" dirty="0">
                <a:solidFill>
                  <a:srgbClr val="696969"/>
                </a:solidFill>
                <a:latin typeface="Arial MT"/>
                <a:cs typeface="Arial MT"/>
              </a:rPr>
              <a:t>Saf</a:t>
            </a:r>
            <a:r>
              <a:rPr sz="1800" spc="-180" dirty="0">
                <a:solidFill>
                  <a:srgbClr val="6969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606060"/>
                </a:solidFill>
                <a:latin typeface="Arial MT"/>
                <a:cs typeface="Arial MT"/>
              </a:rPr>
              <a:t>eHer:</a:t>
            </a:r>
            <a:r>
              <a:rPr sz="1800" spc="-30" dirty="0">
                <a:solidFill>
                  <a:srgbClr val="606060"/>
                </a:solidFill>
                <a:latin typeface="Arial MT"/>
                <a:cs typeface="Arial MT"/>
              </a:rPr>
              <a:t> </a:t>
            </a:r>
            <a:r>
              <a:rPr sz="1800" spc="-130" dirty="0">
                <a:solidFill>
                  <a:srgbClr val="95A5C3"/>
                </a:solidFill>
                <a:latin typeface="Arial MT"/>
                <a:cs typeface="Arial MT"/>
              </a:rPr>
              <a:t>AI</a:t>
            </a:r>
            <a:r>
              <a:rPr sz="1800" spc="-270" dirty="0">
                <a:solidFill>
                  <a:srgbClr val="95A5C3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646464"/>
                </a:solidFill>
                <a:latin typeface="Arial MT"/>
                <a:cs typeface="Arial MT"/>
              </a:rPr>
              <a:t>-</a:t>
            </a:r>
            <a:r>
              <a:rPr sz="1800" dirty="0">
                <a:solidFill>
                  <a:srgbClr val="646464"/>
                </a:solidFill>
                <a:latin typeface="Arial MT"/>
                <a:cs typeface="Arial MT"/>
              </a:rPr>
              <a:t>Driven</a:t>
            </a:r>
            <a:r>
              <a:rPr sz="1800" spc="-50" dirty="0">
                <a:solidFill>
                  <a:srgbClr val="64646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676767"/>
                </a:solidFill>
                <a:latin typeface="Arial MT"/>
                <a:cs typeface="Arial MT"/>
              </a:rPr>
              <a:t>Women</a:t>
            </a:r>
            <a:r>
              <a:rPr sz="1800" spc="-50" dirty="0">
                <a:solidFill>
                  <a:srgbClr val="676767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6B6B6B"/>
                </a:solidFill>
                <a:latin typeface="Arial MT"/>
                <a:cs typeface="Arial MT"/>
              </a:rPr>
              <a:t>Safety</a:t>
            </a:r>
            <a:r>
              <a:rPr sz="1800" spc="-20" dirty="0">
                <a:solidFill>
                  <a:srgbClr val="6B6B6B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6B6B6B"/>
                </a:solidFill>
                <a:latin typeface="Arial MT"/>
                <a:cs typeface="Arial MT"/>
              </a:rPr>
              <a:t>Platf</a:t>
            </a:r>
            <a:r>
              <a:rPr sz="1800" spc="-155" dirty="0">
                <a:solidFill>
                  <a:srgbClr val="6B6B6B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5E5E5E"/>
                </a:solidFill>
                <a:latin typeface="Arial MT"/>
                <a:cs typeface="Arial MT"/>
              </a:rPr>
              <a:t>orm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636860" y="10420088"/>
            <a:ext cx="769620" cy="263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45"/>
              </a:lnSpc>
            </a:pPr>
            <a:r>
              <a:rPr sz="1650" dirty="0">
                <a:solidFill>
                  <a:srgbClr val="777777"/>
                </a:solidFill>
                <a:latin typeface="Arial MT"/>
                <a:cs typeface="Arial MT"/>
              </a:rPr>
              <a:t>Slide</a:t>
            </a:r>
            <a:r>
              <a:rPr sz="1650" spc="25" dirty="0">
                <a:solidFill>
                  <a:srgbClr val="777777"/>
                </a:solidFill>
                <a:latin typeface="Arial MT"/>
                <a:cs typeface="Arial MT"/>
              </a:rPr>
              <a:t> </a:t>
            </a:r>
            <a:fld id="{81D60167-4931-47E6-BA6A-407CBD079E47}" type="slidenum">
              <a:rPr sz="1650" spc="-35" dirty="0">
                <a:solidFill>
                  <a:srgbClr val="8A8A8A"/>
                </a:solidFill>
                <a:latin typeface="Arial MT"/>
                <a:cs typeface="Arial MT"/>
              </a:rPr>
            </a:fld>
            <a:endParaRPr sz="1650">
              <a:latin typeface="Arial MT"/>
              <a:cs typeface="Arial MT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739293" y="614898"/>
            <a:ext cx="1788795" cy="2806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50" dirty="0">
                <a:solidFill>
                  <a:srgbClr val="CD2659"/>
                </a:solidFill>
                <a:latin typeface="Arial Black" panose="020B0A04020102020204"/>
                <a:cs typeface="Arial Black" panose="020B0A04020102020204"/>
              </a:rPr>
              <a:t>GAP</a:t>
            </a:r>
            <a:r>
              <a:rPr sz="1650" spc="330" dirty="0">
                <a:solidFill>
                  <a:srgbClr val="CD2659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650" spc="-65" dirty="0">
                <a:solidFill>
                  <a:srgbClr val="DF234F"/>
                </a:solidFill>
                <a:latin typeface="Arial Black" panose="020B0A04020102020204"/>
                <a:cs typeface="Arial Black" panose="020B0A04020102020204"/>
              </a:rPr>
              <a:t>ANA</a:t>
            </a:r>
            <a:r>
              <a:rPr sz="1650" spc="-229" dirty="0">
                <a:solidFill>
                  <a:srgbClr val="DF234F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650" spc="-114" dirty="0">
                <a:solidFill>
                  <a:srgbClr val="E90C44"/>
                </a:solidFill>
                <a:latin typeface="Arial Black" panose="020B0A04020102020204"/>
                <a:cs typeface="Arial Black" panose="020B0A04020102020204"/>
              </a:rPr>
              <a:t>LYSI</a:t>
            </a:r>
            <a:r>
              <a:rPr sz="1650" spc="-315" dirty="0">
                <a:solidFill>
                  <a:srgbClr val="E90C44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650" spc="-50" dirty="0">
                <a:solidFill>
                  <a:srgbClr val="C6214B"/>
                </a:solidFill>
                <a:latin typeface="Arial Black" panose="020B0A04020102020204"/>
                <a:cs typeface="Arial Black" panose="020B0A04020102020204"/>
              </a:rPr>
              <a:t>S</a:t>
            </a:r>
            <a:endParaRPr sz="165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0" dirty="0">
                <a:solidFill>
                  <a:srgbClr val="131313"/>
                </a:solidFill>
              </a:rPr>
              <a:t>Identified</a:t>
            </a:r>
            <a:r>
              <a:rPr spc="-200" dirty="0">
                <a:solidFill>
                  <a:srgbClr val="131313"/>
                </a:solidFill>
              </a:rPr>
              <a:t> </a:t>
            </a:r>
            <a:r>
              <a:rPr spc="-145" dirty="0">
                <a:solidFill>
                  <a:srgbClr val="0F0F0F"/>
                </a:solidFill>
              </a:rPr>
              <a:t>Research</a:t>
            </a:r>
            <a:r>
              <a:rPr spc="-155" dirty="0">
                <a:solidFill>
                  <a:srgbClr val="0F0F0F"/>
                </a:solidFill>
              </a:rPr>
              <a:t> </a:t>
            </a:r>
            <a:r>
              <a:rPr spc="-50" dirty="0">
                <a:solidFill>
                  <a:srgbClr val="0F0F0F"/>
                </a:solidFill>
              </a:rPr>
              <a:t>Gaps</a:t>
            </a:r>
            <a:r>
              <a:rPr spc="-250" dirty="0">
                <a:solidFill>
                  <a:srgbClr val="0F0F0F"/>
                </a:solidFill>
              </a:rPr>
              <a:t> </a:t>
            </a:r>
            <a:r>
              <a:rPr dirty="0">
                <a:solidFill>
                  <a:srgbClr val="151515"/>
                </a:solidFill>
              </a:rPr>
              <a:t>&amp;</a:t>
            </a:r>
            <a:r>
              <a:rPr spc="-580" dirty="0">
                <a:solidFill>
                  <a:srgbClr val="151515"/>
                </a:solidFill>
              </a:rPr>
              <a:t> </a:t>
            </a:r>
            <a:r>
              <a:rPr spc="-55" dirty="0">
                <a:solidFill>
                  <a:srgbClr val="0C0C0C"/>
                </a:solidFill>
              </a:rPr>
              <a:t>Proposed</a:t>
            </a:r>
            <a:r>
              <a:rPr spc="-50" dirty="0">
                <a:solidFill>
                  <a:srgbClr val="0C0C0C"/>
                </a:solidFill>
              </a:rPr>
              <a:t> </a:t>
            </a:r>
            <a:r>
              <a:rPr spc="-50" dirty="0">
                <a:solidFill>
                  <a:srgbClr val="111111"/>
                </a:solidFill>
              </a:rPr>
              <a:t>Value</a:t>
            </a:r>
            <a:endParaRPr spc="-50" dirty="0">
              <a:solidFill>
                <a:srgbClr val="111111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20199" y="4082070"/>
            <a:ext cx="8313420" cy="41287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57200" algn="l"/>
              </a:tabLst>
            </a:pPr>
            <a:r>
              <a:rPr sz="2450" b="1" spc="-50" dirty="0">
                <a:solidFill>
                  <a:srgbClr val="9E133A"/>
                </a:solidFill>
                <a:latin typeface="Arial" panose="020B0604020202020204"/>
                <a:cs typeface="Arial" panose="020B0604020202020204"/>
              </a:rPr>
              <a:t>&amp;</a:t>
            </a:r>
            <a:r>
              <a:rPr sz="2450" b="1" dirty="0">
                <a:solidFill>
                  <a:srgbClr val="9E133A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50" b="1" spc="-40" dirty="0">
                <a:solidFill>
                  <a:srgbClr val="A50E3F"/>
                </a:solidFill>
                <a:latin typeface="Arial" panose="020B0604020202020204"/>
                <a:cs typeface="Arial" panose="020B0604020202020204"/>
              </a:rPr>
              <a:t>Limitations</a:t>
            </a:r>
            <a:r>
              <a:rPr sz="2450" b="1" spc="-125" dirty="0">
                <a:solidFill>
                  <a:srgbClr val="A50E3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50" b="1" spc="-55" dirty="0">
                <a:solidFill>
                  <a:srgbClr val="A70F46"/>
                </a:solidFill>
                <a:latin typeface="Arial" panose="020B0604020202020204"/>
                <a:cs typeface="Arial" panose="020B0604020202020204"/>
              </a:rPr>
              <a:t>in</a:t>
            </a:r>
            <a:r>
              <a:rPr sz="2450" b="1" spc="-300" dirty="0">
                <a:solidFill>
                  <a:srgbClr val="A70F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50" b="1" spc="-95" dirty="0">
                <a:solidFill>
                  <a:srgbClr val="9C113B"/>
                </a:solidFill>
                <a:latin typeface="Arial" panose="020B0604020202020204"/>
                <a:cs typeface="Arial" panose="020B0604020202020204"/>
              </a:rPr>
              <a:t>Existing</a:t>
            </a:r>
            <a:r>
              <a:rPr sz="2450" b="1" spc="20" dirty="0">
                <a:solidFill>
                  <a:srgbClr val="9C113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50" b="1" spc="-10" dirty="0">
                <a:solidFill>
                  <a:srgbClr val="910C3B"/>
                </a:solidFill>
                <a:latin typeface="Arial" panose="020B0604020202020204"/>
                <a:cs typeface="Arial" panose="020B0604020202020204"/>
              </a:rPr>
              <a:t>Solutions</a:t>
            </a:r>
            <a:endParaRPr sz="2450">
              <a:latin typeface="Arial" panose="020B0604020202020204"/>
              <a:cs typeface="Arial" panose="020B0604020202020204"/>
            </a:endParaRPr>
          </a:p>
          <a:p>
            <a:pPr marL="21590" marR="5080" indent="-4445">
              <a:lnSpc>
                <a:spcPts val="2780"/>
              </a:lnSpc>
              <a:spcBef>
                <a:spcPts val="2295"/>
              </a:spcBef>
            </a:pPr>
            <a:r>
              <a:rPr sz="2450" spc="-50" dirty="0">
                <a:solidFill>
                  <a:srgbClr val="8A0E46"/>
                </a:solidFill>
                <a:latin typeface="Arial MT"/>
                <a:cs typeface="Arial MT"/>
              </a:rPr>
              <a:t>Reactive</a:t>
            </a:r>
            <a:r>
              <a:rPr sz="2450" spc="-210" dirty="0">
                <a:solidFill>
                  <a:srgbClr val="8A0E46"/>
                </a:solidFill>
                <a:latin typeface="Arial MT"/>
                <a:cs typeface="Arial MT"/>
              </a:rPr>
              <a:t> </a:t>
            </a:r>
            <a:r>
              <a:rPr sz="2450" spc="-35" dirty="0">
                <a:solidFill>
                  <a:srgbClr val="85183F"/>
                </a:solidFill>
                <a:latin typeface="Arial MT"/>
                <a:cs typeface="Arial MT"/>
              </a:rPr>
              <a:t>Reliance:</a:t>
            </a:r>
            <a:r>
              <a:rPr sz="2450" spc="-25" dirty="0">
                <a:solidFill>
                  <a:srgbClr val="85183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741634"/>
                </a:solidFill>
                <a:latin typeface="Arial MT"/>
                <a:cs typeface="Arial MT"/>
              </a:rPr>
              <a:t>Over-dependence</a:t>
            </a:r>
            <a:r>
              <a:rPr sz="2450" spc="-175" dirty="0">
                <a:solidFill>
                  <a:srgbClr val="741634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6B1A3D"/>
                </a:solidFill>
                <a:latin typeface="Arial MT"/>
                <a:cs typeface="Arial MT"/>
              </a:rPr>
              <a:t>on</a:t>
            </a:r>
            <a:r>
              <a:rPr sz="2450" spc="-395" dirty="0">
                <a:solidFill>
                  <a:srgbClr val="6B1A3D"/>
                </a:solidFill>
                <a:latin typeface="Arial MT"/>
                <a:cs typeface="Arial MT"/>
              </a:rPr>
              <a:t> </a:t>
            </a:r>
            <a:r>
              <a:rPr sz="2450" spc="-55" dirty="0">
                <a:solidFill>
                  <a:srgbClr val="C6759E"/>
                </a:solidFill>
                <a:latin typeface="Arial MT"/>
                <a:cs typeface="Arial MT"/>
              </a:rPr>
              <a:t>physical</a:t>
            </a:r>
            <a:r>
              <a:rPr sz="2450" spc="-135" dirty="0">
                <a:solidFill>
                  <a:srgbClr val="C6759E"/>
                </a:solidFill>
                <a:latin typeface="Arial MT"/>
                <a:cs typeface="Arial MT"/>
              </a:rPr>
              <a:t> </a:t>
            </a:r>
            <a:r>
              <a:rPr sz="2450" spc="-165" dirty="0">
                <a:solidFill>
                  <a:srgbClr val="72243B"/>
                </a:solidFill>
                <a:latin typeface="Arial MT"/>
                <a:cs typeface="Arial MT"/>
              </a:rPr>
              <a:t>SOS</a:t>
            </a:r>
            <a:r>
              <a:rPr sz="2450" spc="-60" dirty="0">
                <a:solidFill>
                  <a:srgbClr val="72243B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754F62"/>
                </a:solidFill>
                <a:latin typeface="Arial MT"/>
                <a:cs typeface="Arial MT"/>
              </a:rPr>
              <a:t>trigger </a:t>
            </a:r>
            <a:r>
              <a:rPr sz="2450" dirty="0">
                <a:solidFill>
                  <a:srgbClr val="AA497E"/>
                </a:solidFill>
                <a:latin typeface="Arial MT"/>
                <a:cs typeface="Arial MT"/>
              </a:rPr>
              <a:t>buttons</a:t>
            </a:r>
            <a:r>
              <a:rPr sz="2450" spc="-65" dirty="0">
                <a:solidFill>
                  <a:srgbClr val="AA497E"/>
                </a:solidFill>
                <a:latin typeface="Arial MT"/>
                <a:cs typeface="Arial MT"/>
              </a:rPr>
              <a:t> </a:t>
            </a:r>
            <a:r>
              <a:rPr sz="2450" spc="-80" dirty="0">
                <a:solidFill>
                  <a:srgbClr val="AE697E"/>
                </a:solidFill>
                <a:latin typeface="Arial MT"/>
                <a:cs typeface="Arial MT"/>
              </a:rPr>
              <a:t>during</a:t>
            </a:r>
            <a:r>
              <a:rPr sz="2450" spc="-105" dirty="0">
                <a:solidFill>
                  <a:srgbClr val="AE697E"/>
                </a:solidFill>
                <a:latin typeface="Arial MT"/>
                <a:cs typeface="Arial MT"/>
              </a:rPr>
              <a:t> </a:t>
            </a:r>
            <a:r>
              <a:rPr sz="2450" spc="-40" dirty="0">
                <a:solidFill>
                  <a:srgbClr val="BC7CAC"/>
                </a:solidFill>
                <a:latin typeface="Arial MT"/>
                <a:cs typeface="Arial MT"/>
              </a:rPr>
              <a:t>high-</a:t>
            </a:r>
            <a:r>
              <a:rPr sz="2450" spc="-30" dirty="0">
                <a:solidFill>
                  <a:srgbClr val="BC7CAC"/>
                </a:solidFill>
                <a:latin typeface="Arial MT"/>
                <a:cs typeface="Arial MT"/>
              </a:rPr>
              <a:t>stress</a:t>
            </a:r>
            <a:r>
              <a:rPr sz="2450" spc="-20" dirty="0">
                <a:solidFill>
                  <a:srgbClr val="BC7CAC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7C1834"/>
                </a:solidFill>
                <a:latin typeface="Arial MT"/>
                <a:cs typeface="Arial MT"/>
              </a:rPr>
              <a:t>encounters.</a:t>
            </a:r>
            <a:endParaRPr sz="2450">
              <a:latin typeface="Arial MT"/>
              <a:cs typeface="Arial MT"/>
            </a:endParaRPr>
          </a:p>
          <a:p>
            <a:pPr marL="20955" marR="1056005" indent="-5080">
              <a:lnSpc>
                <a:spcPts val="2780"/>
              </a:lnSpc>
              <a:spcBef>
                <a:spcPts val="1615"/>
              </a:spcBef>
            </a:pPr>
            <a:r>
              <a:rPr sz="2450" spc="-10" dirty="0">
                <a:solidFill>
                  <a:srgbClr val="7E1C31"/>
                </a:solidFill>
                <a:latin typeface="Arial MT"/>
                <a:cs typeface="Arial MT"/>
              </a:rPr>
              <a:t>Fragmented</a:t>
            </a:r>
            <a:r>
              <a:rPr sz="2450" spc="-35" dirty="0">
                <a:solidFill>
                  <a:srgbClr val="7E1C31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721338"/>
                </a:solidFill>
                <a:latin typeface="Arial MT"/>
                <a:cs typeface="Arial MT"/>
              </a:rPr>
              <a:t>Systems:</a:t>
            </a:r>
            <a:r>
              <a:rPr sz="2450" spc="-130" dirty="0">
                <a:solidFill>
                  <a:srgbClr val="721338"/>
                </a:solidFill>
                <a:latin typeface="Arial MT"/>
                <a:cs typeface="Arial MT"/>
              </a:rPr>
              <a:t> </a:t>
            </a:r>
            <a:r>
              <a:rPr sz="2450" spc="-25" dirty="0">
                <a:solidFill>
                  <a:srgbClr val="6D1A44"/>
                </a:solidFill>
                <a:latin typeface="Arial MT"/>
                <a:cs typeface="Arial MT"/>
              </a:rPr>
              <a:t>Isolated</a:t>
            </a:r>
            <a:r>
              <a:rPr sz="2450" spc="-190" dirty="0">
                <a:solidFill>
                  <a:srgbClr val="6D1A44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701F34"/>
                </a:solidFill>
                <a:latin typeface="Arial MT"/>
                <a:cs typeface="Arial MT"/>
              </a:rPr>
              <a:t>location</a:t>
            </a:r>
            <a:r>
              <a:rPr sz="2450" spc="-170" dirty="0">
                <a:solidFill>
                  <a:srgbClr val="701F34"/>
                </a:solidFill>
                <a:latin typeface="Arial MT"/>
                <a:cs typeface="Arial MT"/>
              </a:rPr>
              <a:t> </a:t>
            </a:r>
            <a:r>
              <a:rPr sz="2450" spc="-60" dirty="0">
                <a:solidFill>
                  <a:srgbClr val="7C3149"/>
                </a:solidFill>
                <a:latin typeface="Arial MT"/>
                <a:cs typeface="Arial MT"/>
              </a:rPr>
              <a:t>apps</a:t>
            </a:r>
            <a:r>
              <a:rPr sz="2450" spc="-135" dirty="0">
                <a:solidFill>
                  <a:srgbClr val="7C3149"/>
                </a:solidFill>
                <a:latin typeface="Arial MT"/>
                <a:cs typeface="Arial MT"/>
              </a:rPr>
              <a:t> </a:t>
            </a:r>
            <a:r>
              <a:rPr sz="2450" spc="-30" dirty="0">
                <a:solidFill>
                  <a:srgbClr val="B36691"/>
                </a:solidFill>
                <a:latin typeface="Arial MT"/>
                <a:cs typeface="Arial MT"/>
              </a:rPr>
              <a:t>that</a:t>
            </a:r>
            <a:r>
              <a:rPr sz="2450" spc="-130" dirty="0">
                <a:solidFill>
                  <a:srgbClr val="B36691"/>
                </a:solidFill>
                <a:latin typeface="Arial MT"/>
                <a:cs typeface="Arial MT"/>
              </a:rPr>
              <a:t> </a:t>
            </a:r>
            <a:r>
              <a:rPr sz="2450" spc="-20" dirty="0">
                <a:solidFill>
                  <a:srgbClr val="662638"/>
                </a:solidFill>
                <a:latin typeface="Arial MT"/>
                <a:cs typeface="Arial MT"/>
              </a:rPr>
              <a:t>lack </a:t>
            </a:r>
            <a:r>
              <a:rPr sz="2450" spc="-20" dirty="0">
                <a:solidFill>
                  <a:srgbClr val="B87587"/>
                </a:solidFill>
                <a:latin typeface="Arial MT"/>
                <a:cs typeface="Arial MT"/>
              </a:rPr>
              <a:t>integration</a:t>
            </a:r>
            <a:r>
              <a:rPr sz="2450" spc="-150" dirty="0">
                <a:solidFill>
                  <a:srgbClr val="B87587"/>
                </a:solidFill>
                <a:latin typeface="Arial MT"/>
                <a:cs typeface="Arial MT"/>
              </a:rPr>
              <a:t> </a:t>
            </a:r>
            <a:r>
              <a:rPr sz="2450" spc="-35" dirty="0">
                <a:solidFill>
                  <a:srgbClr val="6E1A34"/>
                </a:solidFill>
                <a:latin typeface="Arial MT"/>
                <a:cs typeface="Arial MT"/>
              </a:rPr>
              <a:t>with</a:t>
            </a:r>
            <a:r>
              <a:rPr sz="2450" spc="-310" dirty="0">
                <a:solidFill>
                  <a:srgbClr val="6E1A34"/>
                </a:solidFill>
                <a:latin typeface="Arial MT"/>
                <a:cs typeface="Arial MT"/>
              </a:rPr>
              <a:t> </a:t>
            </a:r>
            <a:r>
              <a:rPr sz="2450" spc="-35" dirty="0">
                <a:solidFill>
                  <a:srgbClr val="721D38"/>
                </a:solidFill>
                <a:latin typeface="Arial MT"/>
                <a:cs typeface="Arial MT"/>
              </a:rPr>
              <a:t>emergency</a:t>
            </a:r>
            <a:r>
              <a:rPr sz="2450" spc="25" dirty="0">
                <a:solidFill>
                  <a:srgbClr val="721D38"/>
                </a:solidFill>
                <a:latin typeface="Arial MT"/>
                <a:cs typeface="Arial MT"/>
              </a:rPr>
              <a:t> </a:t>
            </a:r>
            <a:r>
              <a:rPr sz="2450" spc="-50" dirty="0">
                <a:solidFill>
                  <a:srgbClr val="792A42"/>
                </a:solidFill>
                <a:latin typeface="Arial MT"/>
                <a:cs typeface="Arial MT"/>
              </a:rPr>
              <a:t>escalation</a:t>
            </a:r>
            <a:r>
              <a:rPr sz="2450" spc="-114" dirty="0">
                <a:solidFill>
                  <a:srgbClr val="792A42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6B1A42"/>
                </a:solidFill>
                <a:latin typeface="Arial MT"/>
                <a:cs typeface="Arial MT"/>
              </a:rPr>
              <a:t>workflows.</a:t>
            </a:r>
            <a:endParaRPr sz="2450">
              <a:latin typeface="Arial MT"/>
              <a:cs typeface="Arial MT"/>
            </a:endParaRPr>
          </a:p>
          <a:p>
            <a:pPr marL="29845" marR="659765" indent="-1905">
              <a:lnSpc>
                <a:spcPts val="2780"/>
              </a:lnSpc>
              <a:spcBef>
                <a:spcPts val="1610"/>
              </a:spcBef>
            </a:pPr>
            <a:r>
              <a:rPr sz="2450" dirty="0">
                <a:solidFill>
                  <a:srgbClr val="721838"/>
                </a:solidFill>
                <a:latin typeface="Arial MT"/>
                <a:cs typeface="Arial MT"/>
              </a:rPr>
              <a:t>Static</a:t>
            </a:r>
            <a:r>
              <a:rPr sz="2450" spc="-120" dirty="0">
                <a:solidFill>
                  <a:srgbClr val="721838"/>
                </a:solidFill>
                <a:latin typeface="Arial MT"/>
                <a:cs typeface="Arial MT"/>
              </a:rPr>
              <a:t> </a:t>
            </a:r>
            <a:r>
              <a:rPr sz="2450" spc="-20" dirty="0">
                <a:solidFill>
                  <a:srgbClr val="7E1338"/>
                </a:solidFill>
                <a:latin typeface="Arial MT"/>
                <a:cs typeface="Arial MT"/>
              </a:rPr>
              <a:t>Tracking:</a:t>
            </a:r>
            <a:r>
              <a:rPr sz="2450" spc="-30" dirty="0">
                <a:solidFill>
                  <a:srgbClr val="7E1338"/>
                </a:solidFill>
                <a:latin typeface="Arial MT"/>
                <a:cs typeface="Arial MT"/>
              </a:rPr>
              <a:t> </a:t>
            </a:r>
            <a:r>
              <a:rPr sz="2450" spc="-120" dirty="0">
                <a:solidFill>
                  <a:srgbClr val="80263D"/>
                </a:solidFill>
                <a:latin typeface="Arial MT"/>
                <a:cs typeface="Arial MT"/>
              </a:rPr>
              <a:t>Basic</a:t>
            </a:r>
            <a:r>
              <a:rPr sz="2450" spc="-15" dirty="0">
                <a:solidFill>
                  <a:srgbClr val="80263D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771836"/>
                </a:solidFill>
                <a:latin typeface="Arial MT"/>
                <a:cs typeface="Arial MT"/>
              </a:rPr>
              <a:t>one-time</a:t>
            </a:r>
            <a:r>
              <a:rPr sz="2450" spc="-190" dirty="0">
                <a:solidFill>
                  <a:srgbClr val="771836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C37CA3"/>
                </a:solidFill>
                <a:latin typeface="Arial MT"/>
                <a:cs typeface="Arial MT"/>
              </a:rPr>
              <a:t>location</a:t>
            </a:r>
            <a:r>
              <a:rPr sz="2450" spc="-180" dirty="0">
                <a:solidFill>
                  <a:srgbClr val="C37CA3"/>
                </a:solidFill>
                <a:latin typeface="Arial MT"/>
                <a:cs typeface="Arial MT"/>
              </a:rPr>
              <a:t> </a:t>
            </a:r>
            <a:r>
              <a:rPr sz="2450" spc="-55" dirty="0">
                <a:solidFill>
                  <a:srgbClr val="B57089"/>
                </a:solidFill>
                <a:latin typeface="Arial MT"/>
                <a:cs typeface="Arial MT"/>
              </a:rPr>
              <a:t>pings</a:t>
            </a:r>
            <a:r>
              <a:rPr sz="2450" spc="-220" dirty="0">
                <a:solidFill>
                  <a:srgbClr val="B57089"/>
                </a:solidFill>
                <a:latin typeface="Arial MT"/>
                <a:cs typeface="Arial MT"/>
              </a:rPr>
              <a:t> </a:t>
            </a:r>
            <a:r>
              <a:rPr sz="2450" spc="-60" dirty="0">
                <a:solidFill>
                  <a:srgbClr val="B6829C"/>
                </a:solidFill>
                <a:latin typeface="Arial MT"/>
                <a:cs typeface="Arial MT"/>
              </a:rPr>
              <a:t>rather</a:t>
            </a:r>
            <a:r>
              <a:rPr sz="2450" spc="-135" dirty="0">
                <a:solidFill>
                  <a:srgbClr val="B6829C"/>
                </a:solidFill>
                <a:latin typeface="Arial MT"/>
                <a:cs typeface="Arial MT"/>
              </a:rPr>
              <a:t> </a:t>
            </a:r>
            <a:r>
              <a:rPr sz="2450" spc="-20" dirty="0">
                <a:solidFill>
                  <a:srgbClr val="8E3B59"/>
                </a:solidFill>
                <a:latin typeface="Arial MT"/>
                <a:cs typeface="Arial MT"/>
              </a:rPr>
              <a:t>than </a:t>
            </a:r>
            <a:r>
              <a:rPr sz="2450" spc="-20" dirty="0">
                <a:solidFill>
                  <a:srgbClr val="75213D"/>
                </a:solidFill>
                <a:latin typeface="Arial MT"/>
                <a:cs typeface="Arial MT"/>
              </a:rPr>
              <a:t>continuousjourney</a:t>
            </a:r>
            <a:r>
              <a:rPr sz="2450" spc="-135" dirty="0">
                <a:solidFill>
                  <a:srgbClr val="75213D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BA7997"/>
                </a:solidFill>
                <a:latin typeface="Arial MT"/>
                <a:cs typeface="Arial MT"/>
              </a:rPr>
              <a:t>tracking.</a:t>
            </a:r>
            <a:endParaRPr sz="2450">
              <a:latin typeface="Arial MT"/>
              <a:cs typeface="Arial MT"/>
            </a:endParaRPr>
          </a:p>
          <a:p>
            <a:pPr marL="31115" marR="578485" indent="-5080">
              <a:lnSpc>
                <a:spcPts val="2840"/>
              </a:lnSpc>
              <a:spcBef>
                <a:spcPts val="1565"/>
              </a:spcBef>
            </a:pPr>
            <a:r>
              <a:rPr sz="2450" spc="-25" dirty="0">
                <a:solidFill>
                  <a:srgbClr val="85112F"/>
                </a:solidFill>
                <a:latin typeface="Arial MT"/>
                <a:cs typeface="Arial MT"/>
              </a:rPr>
              <a:t>Absence</a:t>
            </a:r>
            <a:r>
              <a:rPr sz="2450" spc="-210" dirty="0">
                <a:solidFill>
                  <a:srgbClr val="85112F"/>
                </a:solidFill>
                <a:latin typeface="Arial MT"/>
                <a:cs typeface="Arial MT"/>
              </a:rPr>
              <a:t> </a:t>
            </a:r>
            <a:r>
              <a:rPr sz="2450" spc="95" dirty="0">
                <a:solidFill>
                  <a:srgbClr val="792144"/>
                </a:solidFill>
                <a:latin typeface="Arial MT"/>
                <a:cs typeface="Arial MT"/>
              </a:rPr>
              <a:t>of</a:t>
            </a:r>
            <a:r>
              <a:rPr sz="2450" spc="-185" dirty="0">
                <a:solidFill>
                  <a:srgbClr val="792144"/>
                </a:solidFill>
                <a:latin typeface="Arial MT"/>
                <a:cs typeface="Arial MT"/>
              </a:rPr>
              <a:t> </a:t>
            </a:r>
            <a:r>
              <a:rPr sz="2450" spc="50" dirty="0">
                <a:solidFill>
                  <a:srgbClr val="85163F"/>
                </a:solidFill>
                <a:latin typeface="Arial MT"/>
                <a:cs typeface="Arial MT"/>
              </a:rPr>
              <a:t>Context:</a:t>
            </a:r>
            <a:r>
              <a:rPr sz="2450" spc="-155" dirty="0">
                <a:solidFill>
                  <a:srgbClr val="85163F"/>
                </a:solidFill>
                <a:latin typeface="Arial MT"/>
                <a:cs typeface="Arial MT"/>
              </a:rPr>
              <a:t> </a:t>
            </a:r>
            <a:r>
              <a:rPr sz="2450" spc="-40" dirty="0">
                <a:solidFill>
                  <a:srgbClr val="67264D"/>
                </a:solidFill>
                <a:latin typeface="Arial MT"/>
                <a:cs typeface="Arial MT"/>
              </a:rPr>
              <a:t>Inability</a:t>
            </a:r>
            <a:r>
              <a:rPr sz="2450" spc="-55" dirty="0">
                <a:solidFill>
                  <a:srgbClr val="67264D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A3727E"/>
                </a:solidFill>
                <a:latin typeface="Arial MT"/>
                <a:cs typeface="Arial MT"/>
              </a:rPr>
              <a:t>to</a:t>
            </a:r>
            <a:r>
              <a:rPr sz="2450" spc="100" dirty="0">
                <a:solidFill>
                  <a:srgbClr val="A3727E"/>
                </a:solidFill>
                <a:latin typeface="Arial MT"/>
                <a:cs typeface="Arial MT"/>
              </a:rPr>
              <a:t> </a:t>
            </a:r>
            <a:r>
              <a:rPr sz="2450" spc="50" dirty="0">
                <a:solidFill>
                  <a:srgbClr val="6B1C31"/>
                </a:solidFill>
                <a:latin typeface="Arial MT"/>
                <a:cs typeface="Arial MT"/>
              </a:rPr>
              <a:t>detect</a:t>
            </a:r>
            <a:r>
              <a:rPr sz="2450" spc="-90" dirty="0">
                <a:solidFill>
                  <a:srgbClr val="6B1C31"/>
                </a:solidFill>
                <a:latin typeface="Arial MT"/>
                <a:cs typeface="Arial MT"/>
              </a:rPr>
              <a:t> </a:t>
            </a:r>
            <a:r>
              <a:rPr sz="2450" spc="-70" dirty="0">
                <a:solidFill>
                  <a:srgbClr val="BA87B1"/>
                </a:solidFill>
                <a:latin typeface="Arial MT"/>
                <a:cs typeface="Arial MT"/>
              </a:rPr>
              <a:t>missed</a:t>
            </a:r>
            <a:r>
              <a:rPr sz="2450" spc="-145" dirty="0">
                <a:solidFill>
                  <a:srgbClr val="BA87B1"/>
                </a:solidFill>
                <a:latin typeface="Arial MT"/>
                <a:cs typeface="Arial MT"/>
              </a:rPr>
              <a:t> </a:t>
            </a:r>
            <a:r>
              <a:rPr sz="2450" spc="-35" dirty="0">
                <a:solidFill>
                  <a:srgbClr val="A75E77"/>
                </a:solidFill>
                <a:latin typeface="Arial MT"/>
                <a:cs typeface="Arial MT"/>
              </a:rPr>
              <a:t>check-</a:t>
            </a:r>
            <a:r>
              <a:rPr sz="2450" spc="-20" dirty="0">
                <a:solidFill>
                  <a:srgbClr val="A75E77"/>
                </a:solidFill>
                <a:latin typeface="Arial MT"/>
                <a:cs typeface="Arial MT"/>
              </a:rPr>
              <a:t>ins, </a:t>
            </a:r>
            <a:r>
              <a:rPr sz="2450" spc="-35" dirty="0">
                <a:solidFill>
                  <a:srgbClr val="95596B"/>
                </a:solidFill>
                <a:latin typeface="Arial MT"/>
                <a:cs typeface="Arial MT"/>
              </a:rPr>
              <a:t>delayed</a:t>
            </a:r>
            <a:r>
              <a:rPr sz="2450" spc="-140" dirty="0">
                <a:solidFill>
                  <a:srgbClr val="95596B"/>
                </a:solidFill>
                <a:latin typeface="Arial MT"/>
                <a:cs typeface="Arial MT"/>
              </a:rPr>
              <a:t> </a:t>
            </a:r>
            <a:r>
              <a:rPr sz="2450" spc="-60" dirty="0">
                <a:solidFill>
                  <a:srgbClr val="803D4F"/>
                </a:solidFill>
                <a:latin typeface="Arial MT"/>
                <a:cs typeface="Arial MT"/>
              </a:rPr>
              <a:t>travel,</a:t>
            </a:r>
            <a:r>
              <a:rPr sz="2450" spc="-155" dirty="0">
                <a:solidFill>
                  <a:srgbClr val="803D4F"/>
                </a:solidFill>
                <a:latin typeface="Arial MT"/>
                <a:cs typeface="Arial MT"/>
              </a:rPr>
              <a:t> </a:t>
            </a:r>
            <a:r>
              <a:rPr sz="2450" spc="-40" dirty="0">
                <a:solidFill>
                  <a:srgbClr val="622334"/>
                </a:solidFill>
                <a:latin typeface="Arial MT"/>
                <a:cs typeface="Arial MT"/>
              </a:rPr>
              <a:t>or</a:t>
            </a:r>
            <a:r>
              <a:rPr sz="2450" spc="-254" dirty="0">
                <a:solidFill>
                  <a:srgbClr val="622334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AF87A1"/>
                </a:solidFill>
                <a:latin typeface="Arial MT"/>
                <a:cs typeface="Arial MT"/>
              </a:rPr>
              <a:t>route</a:t>
            </a:r>
            <a:r>
              <a:rPr sz="2450" spc="-100" dirty="0">
                <a:solidFill>
                  <a:srgbClr val="AF87A1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702356"/>
                </a:solidFill>
                <a:latin typeface="Arial MT"/>
                <a:cs typeface="Arial MT"/>
              </a:rPr>
              <a:t>deviations.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580072" y="4089923"/>
            <a:ext cx="8131175" cy="41211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dirty="0">
                <a:solidFill>
                  <a:srgbClr val="166431"/>
                </a:solidFill>
                <a:latin typeface="Arial MT"/>
                <a:cs typeface="Arial MT"/>
              </a:rPr>
              <a:t>@</a:t>
            </a:r>
            <a:r>
              <a:rPr sz="2450" spc="440" dirty="0">
                <a:solidFill>
                  <a:srgbClr val="166431"/>
                </a:solidFill>
                <a:latin typeface="Arial MT"/>
                <a:cs typeface="Arial MT"/>
              </a:rPr>
              <a:t> </a:t>
            </a:r>
            <a:r>
              <a:rPr sz="2450" b="1" dirty="0">
                <a:solidFill>
                  <a:srgbClr val="086234"/>
                </a:solidFill>
                <a:latin typeface="Arial" panose="020B0604020202020204"/>
                <a:cs typeface="Arial" panose="020B0604020202020204"/>
              </a:rPr>
              <a:t>SofeHer</a:t>
            </a:r>
            <a:r>
              <a:rPr sz="2450" b="1" spc="75" dirty="0">
                <a:solidFill>
                  <a:srgbClr val="08623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50" dirty="0">
                <a:solidFill>
                  <a:srgbClr val="18623D"/>
                </a:solidFill>
                <a:latin typeface="Arial MT"/>
                <a:cs typeface="Arial MT"/>
              </a:rPr>
              <a:t>Proposed</a:t>
            </a:r>
            <a:r>
              <a:rPr sz="2450" spc="40" dirty="0">
                <a:solidFill>
                  <a:srgbClr val="18623D"/>
                </a:solidFill>
                <a:latin typeface="Arial MT"/>
                <a:cs typeface="Arial MT"/>
              </a:rPr>
              <a:t> </a:t>
            </a:r>
            <a:r>
              <a:rPr sz="2450" b="1" spc="-10" dirty="0">
                <a:solidFill>
                  <a:srgbClr val="186744"/>
                </a:solidFill>
                <a:latin typeface="Arial" panose="020B0604020202020204"/>
                <a:cs typeface="Arial" panose="020B0604020202020204"/>
              </a:rPr>
              <a:t>Contribution</a:t>
            </a:r>
            <a:endParaRPr sz="2450">
              <a:latin typeface="Arial" panose="020B0604020202020204"/>
              <a:cs typeface="Arial" panose="020B0604020202020204"/>
            </a:endParaRPr>
          </a:p>
          <a:p>
            <a:pPr marL="24765" marR="119380" indent="-11430">
              <a:lnSpc>
                <a:spcPts val="2840"/>
              </a:lnSpc>
              <a:spcBef>
                <a:spcPts val="2185"/>
              </a:spcBef>
            </a:pPr>
            <a:r>
              <a:rPr sz="2450" dirty="0">
                <a:solidFill>
                  <a:srgbClr val="13503B"/>
                </a:solidFill>
                <a:latin typeface="Arial MT"/>
                <a:cs typeface="Arial MT"/>
              </a:rPr>
              <a:t>Proactive</a:t>
            </a:r>
            <a:r>
              <a:rPr sz="2450" spc="-65" dirty="0">
                <a:solidFill>
                  <a:srgbClr val="13503B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0F4D2D"/>
                </a:solidFill>
                <a:latin typeface="Arial MT"/>
                <a:cs typeface="Arial MT"/>
              </a:rPr>
              <a:t>Automation:</a:t>
            </a:r>
            <a:r>
              <a:rPr sz="2450" spc="70" dirty="0">
                <a:solidFill>
                  <a:srgbClr val="0F4D2D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313131"/>
                </a:solidFill>
                <a:latin typeface="Arial MT"/>
                <a:cs typeface="Arial MT"/>
              </a:rPr>
              <a:t>Automated</a:t>
            </a:r>
            <a:r>
              <a:rPr sz="2450" spc="-45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450" spc="-50" dirty="0">
                <a:solidFill>
                  <a:srgbClr val="313131"/>
                </a:solidFill>
                <a:latin typeface="Arial MT"/>
                <a:cs typeface="Arial MT"/>
              </a:rPr>
              <a:t>escalation</a:t>
            </a:r>
            <a:r>
              <a:rPr sz="2450" spc="-55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72937E"/>
                </a:solidFill>
                <a:latin typeface="Arial MT"/>
                <a:cs typeface="Arial MT"/>
              </a:rPr>
              <a:t>triggers</a:t>
            </a:r>
            <a:r>
              <a:rPr sz="2450" spc="-180" dirty="0">
                <a:solidFill>
                  <a:srgbClr val="72937E"/>
                </a:solidFill>
                <a:latin typeface="Arial MT"/>
                <a:cs typeface="Arial MT"/>
              </a:rPr>
              <a:t> </a:t>
            </a:r>
            <a:r>
              <a:rPr sz="2450" spc="-20" dirty="0">
                <a:solidFill>
                  <a:srgbClr val="799587"/>
                </a:solidFill>
                <a:latin typeface="Arial MT"/>
                <a:cs typeface="Arial MT"/>
              </a:rPr>
              <a:t>upon </a:t>
            </a:r>
            <a:r>
              <a:rPr sz="2450" spc="-75" dirty="0">
                <a:solidFill>
                  <a:srgbClr val="579E9E"/>
                </a:solidFill>
                <a:latin typeface="Arial MT"/>
                <a:cs typeface="Arial MT"/>
              </a:rPr>
              <a:t>missed</a:t>
            </a:r>
            <a:r>
              <a:rPr sz="2450" spc="-235" dirty="0">
                <a:solidFill>
                  <a:srgbClr val="579E9E"/>
                </a:solidFill>
                <a:latin typeface="Arial MT"/>
                <a:cs typeface="Arial MT"/>
              </a:rPr>
              <a:t> </a:t>
            </a:r>
            <a:r>
              <a:rPr sz="2450" spc="-125" dirty="0">
                <a:solidFill>
                  <a:srgbClr val="50795B"/>
                </a:solidFill>
                <a:latin typeface="Arial MT"/>
                <a:cs typeface="Arial MT"/>
              </a:rPr>
              <a:t>user</a:t>
            </a:r>
            <a:r>
              <a:rPr sz="2450" spc="-85" dirty="0">
                <a:solidFill>
                  <a:srgbClr val="50795B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2A2A2A"/>
                </a:solidFill>
                <a:latin typeface="Arial MT"/>
                <a:cs typeface="Arial MT"/>
              </a:rPr>
              <a:t>check-in</a:t>
            </a:r>
            <a:r>
              <a:rPr sz="2450" spc="-17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6B896E"/>
                </a:solidFill>
                <a:latin typeface="Arial MT"/>
                <a:cs typeface="Arial MT"/>
              </a:rPr>
              <a:t>prompts.</a:t>
            </a:r>
            <a:endParaRPr sz="2450">
              <a:latin typeface="Arial MT"/>
              <a:cs typeface="Arial MT"/>
            </a:endParaRPr>
          </a:p>
          <a:p>
            <a:pPr marL="24765" marR="5080" indent="-12700">
              <a:lnSpc>
                <a:spcPts val="2780"/>
              </a:lnSpc>
              <a:spcBef>
                <a:spcPts val="1540"/>
              </a:spcBef>
            </a:pPr>
            <a:r>
              <a:rPr sz="2450" dirty="0">
                <a:solidFill>
                  <a:srgbClr val="08544D"/>
                </a:solidFill>
                <a:latin typeface="Arial MT"/>
                <a:cs typeface="Arial MT"/>
              </a:rPr>
              <a:t>Unified</a:t>
            </a:r>
            <a:r>
              <a:rPr sz="2450" spc="-250" dirty="0">
                <a:solidFill>
                  <a:srgbClr val="08544D"/>
                </a:solidFill>
                <a:latin typeface="Arial MT"/>
                <a:cs typeface="Arial MT"/>
              </a:rPr>
              <a:t> </a:t>
            </a:r>
            <a:r>
              <a:rPr sz="2450" spc="-60" dirty="0">
                <a:solidFill>
                  <a:srgbClr val="00522D"/>
                </a:solidFill>
                <a:latin typeface="Arial MT"/>
                <a:cs typeface="Arial MT"/>
              </a:rPr>
              <a:t>Web</a:t>
            </a:r>
            <a:r>
              <a:rPr sz="2450" spc="-340" dirty="0">
                <a:solidFill>
                  <a:srgbClr val="00522D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185D3D"/>
                </a:solidFill>
                <a:latin typeface="Arial MT"/>
                <a:cs typeface="Arial MT"/>
              </a:rPr>
              <a:t>Hub:</a:t>
            </a:r>
            <a:r>
              <a:rPr sz="2450" spc="-175" dirty="0">
                <a:solidFill>
                  <a:srgbClr val="185D3D"/>
                </a:solidFill>
                <a:latin typeface="Arial MT"/>
                <a:cs typeface="Arial MT"/>
              </a:rPr>
              <a:t> </a:t>
            </a:r>
            <a:r>
              <a:rPr sz="2450" spc="-100" dirty="0">
                <a:solidFill>
                  <a:srgbClr val="2A2A2A"/>
                </a:solidFill>
                <a:latin typeface="Arial MT"/>
                <a:cs typeface="Arial MT"/>
              </a:rPr>
              <a:t>Seamlessly</a:t>
            </a:r>
            <a:r>
              <a:rPr sz="2450" spc="3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5D7E6B"/>
                </a:solidFill>
                <a:latin typeface="Arial MT"/>
                <a:cs typeface="Arial MT"/>
              </a:rPr>
              <a:t>connects</a:t>
            </a:r>
            <a:r>
              <a:rPr sz="2450" spc="-110" dirty="0">
                <a:solidFill>
                  <a:srgbClr val="5D7E6B"/>
                </a:solidFill>
                <a:latin typeface="Arial MT"/>
                <a:cs typeface="Arial MT"/>
              </a:rPr>
              <a:t> </a:t>
            </a:r>
            <a:r>
              <a:rPr sz="2450" spc="-25" dirty="0">
                <a:solidFill>
                  <a:srgbClr val="2A2A2A"/>
                </a:solidFill>
                <a:latin typeface="Arial MT"/>
                <a:cs typeface="Arial MT"/>
              </a:rPr>
              <a:t>telemetry,</a:t>
            </a:r>
            <a:r>
              <a:rPr sz="2450" spc="-8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2450" spc="-160" dirty="0">
                <a:solidFill>
                  <a:srgbClr val="285644"/>
                </a:solidFill>
                <a:latin typeface="Arial MT"/>
                <a:cs typeface="Arial MT"/>
              </a:rPr>
              <a:t>AI</a:t>
            </a:r>
            <a:r>
              <a:rPr sz="2450" spc="-175" dirty="0">
                <a:solidFill>
                  <a:srgbClr val="285644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232323"/>
                </a:solidFill>
                <a:latin typeface="Arial MT"/>
                <a:cs typeface="Arial MT"/>
              </a:rPr>
              <a:t>scoring, </a:t>
            </a:r>
            <a:r>
              <a:rPr sz="2450" dirty="0">
                <a:solidFill>
                  <a:srgbClr val="232323"/>
                </a:solidFill>
                <a:latin typeface="Arial MT"/>
                <a:cs typeface="Arial MT"/>
              </a:rPr>
              <a:t>contacts,</a:t>
            </a:r>
            <a:r>
              <a:rPr sz="2450" spc="-14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2450" spc="-105" dirty="0">
                <a:solidFill>
                  <a:srgbClr val="0F4F3A"/>
                </a:solidFill>
                <a:latin typeface="Arial MT"/>
                <a:cs typeface="Arial MT"/>
              </a:rPr>
              <a:t>&amp;</a:t>
            </a:r>
            <a:r>
              <a:rPr sz="2450" spc="-290" dirty="0">
                <a:solidFill>
                  <a:srgbClr val="0F4F3A"/>
                </a:solidFill>
                <a:latin typeface="Arial MT"/>
                <a:cs typeface="Arial MT"/>
              </a:rPr>
              <a:t> </a:t>
            </a:r>
            <a:r>
              <a:rPr sz="2450" spc="-45" dirty="0">
                <a:solidFill>
                  <a:srgbClr val="363636"/>
                </a:solidFill>
                <a:latin typeface="Arial MT"/>
                <a:cs typeface="Arial MT"/>
              </a:rPr>
              <a:t>volunteer</a:t>
            </a:r>
            <a:r>
              <a:rPr sz="2450" spc="15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0C5656"/>
                </a:solidFill>
                <a:latin typeface="Arial MT"/>
                <a:cs typeface="Arial MT"/>
              </a:rPr>
              <a:t>dispatch.</a:t>
            </a:r>
            <a:endParaRPr sz="2450">
              <a:latin typeface="Arial MT"/>
              <a:cs typeface="Arial MT"/>
            </a:endParaRPr>
          </a:p>
          <a:p>
            <a:pPr marL="16510" marR="418465" indent="-4445">
              <a:lnSpc>
                <a:spcPts val="2840"/>
              </a:lnSpc>
              <a:spcBef>
                <a:spcPts val="1565"/>
              </a:spcBef>
            </a:pPr>
            <a:r>
              <a:rPr sz="2450" spc="-105" dirty="0">
                <a:solidFill>
                  <a:srgbClr val="0F542F"/>
                </a:solidFill>
                <a:latin typeface="Arial MT"/>
                <a:cs typeface="Arial MT"/>
              </a:rPr>
              <a:t>Reverse</a:t>
            </a:r>
            <a:r>
              <a:rPr sz="2450" spc="-185" dirty="0">
                <a:solidFill>
                  <a:srgbClr val="0F542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18543A"/>
                </a:solidFill>
                <a:latin typeface="Arial MT"/>
                <a:cs typeface="Arial MT"/>
              </a:rPr>
              <a:t>Telemetry:</a:t>
            </a:r>
            <a:r>
              <a:rPr sz="2450" spc="-20" dirty="0">
                <a:solidFill>
                  <a:srgbClr val="18543A"/>
                </a:solidFill>
                <a:latin typeface="Arial MT"/>
                <a:cs typeface="Arial MT"/>
              </a:rPr>
              <a:t> </a:t>
            </a:r>
            <a:r>
              <a:rPr sz="2450" spc="-114" dirty="0">
                <a:solidFill>
                  <a:srgbClr val="2F2F2F"/>
                </a:solidFill>
                <a:latin typeface="Arial MT"/>
                <a:cs typeface="Arial MT"/>
              </a:rPr>
              <a:t>Enables</a:t>
            </a:r>
            <a:r>
              <a:rPr sz="2450" spc="-90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2450" spc="-35" dirty="0">
                <a:solidFill>
                  <a:srgbClr val="363636"/>
                </a:solidFill>
                <a:latin typeface="Arial MT"/>
                <a:cs typeface="Arial MT"/>
              </a:rPr>
              <a:t>emergency</a:t>
            </a:r>
            <a:r>
              <a:rPr sz="2450" spc="100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2A2A2A"/>
                </a:solidFill>
                <a:latin typeface="Arial MT"/>
                <a:cs typeface="Arial MT"/>
              </a:rPr>
              <a:t>contacts</a:t>
            </a:r>
            <a:r>
              <a:rPr sz="2450" spc="-16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282828"/>
                </a:solidFill>
                <a:latin typeface="Arial MT"/>
                <a:cs typeface="Arial MT"/>
              </a:rPr>
              <a:t>to</a:t>
            </a:r>
            <a:r>
              <a:rPr sz="2450" spc="-35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1F1F1F"/>
                </a:solidFill>
                <a:latin typeface="Arial MT"/>
                <a:cs typeface="Arial MT"/>
              </a:rPr>
              <a:t>trace </a:t>
            </a:r>
            <a:r>
              <a:rPr sz="2450" dirty="0">
                <a:solidFill>
                  <a:srgbClr val="262626"/>
                </a:solidFill>
                <a:latin typeface="Arial MT"/>
                <a:cs typeface="Arial MT"/>
              </a:rPr>
              <a:t>back</a:t>
            </a:r>
            <a:r>
              <a:rPr sz="2450" spc="-13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2450" spc="-20" dirty="0">
                <a:solidFill>
                  <a:srgbClr val="282828"/>
                </a:solidFill>
                <a:latin typeface="Arial MT"/>
                <a:cs typeface="Arial MT"/>
              </a:rPr>
              <a:t>route</a:t>
            </a:r>
            <a:r>
              <a:rPr sz="2450" spc="-125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343434"/>
                </a:solidFill>
                <a:latin typeface="Arial MT"/>
                <a:cs typeface="Arial MT"/>
              </a:rPr>
              <a:t>trajectory</a:t>
            </a:r>
            <a:r>
              <a:rPr sz="2450" spc="-5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2450" spc="-155" dirty="0">
                <a:solidFill>
                  <a:srgbClr val="2D2D2D"/>
                </a:solidFill>
                <a:latin typeface="Arial MT"/>
                <a:cs typeface="Arial MT"/>
              </a:rPr>
              <a:t>via</a:t>
            </a:r>
            <a:r>
              <a:rPr sz="2450" spc="-190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2450" spc="-85" dirty="0">
                <a:solidFill>
                  <a:srgbClr val="282828"/>
                </a:solidFill>
                <a:latin typeface="Arial MT"/>
                <a:cs typeface="Arial MT"/>
              </a:rPr>
              <a:t>Black</a:t>
            </a:r>
            <a:r>
              <a:rPr sz="2450" spc="-95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2450" spc="-120" dirty="0">
                <a:solidFill>
                  <a:srgbClr val="343434"/>
                </a:solidFill>
                <a:latin typeface="Arial MT"/>
                <a:cs typeface="Arial MT"/>
              </a:rPr>
              <a:t>Box</a:t>
            </a:r>
            <a:r>
              <a:rPr sz="2450" spc="-16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212121"/>
                </a:solidFill>
                <a:latin typeface="Arial MT"/>
                <a:cs typeface="Arial MT"/>
              </a:rPr>
              <a:t>logs.</a:t>
            </a:r>
            <a:endParaRPr sz="2450">
              <a:latin typeface="Arial MT"/>
              <a:cs typeface="Arial MT"/>
            </a:endParaRPr>
          </a:p>
          <a:p>
            <a:pPr marL="24765" marR="200660" indent="-3175">
              <a:lnSpc>
                <a:spcPts val="2840"/>
              </a:lnSpc>
              <a:spcBef>
                <a:spcPts val="1495"/>
              </a:spcBef>
            </a:pPr>
            <a:r>
              <a:rPr sz="2450" dirty="0">
                <a:solidFill>
                  <a:srgbClr val="054B28"/>
                </a:solidFill>
                <a:latin typeface="Arial MT"/>
                <a:cs typeface="Arial MT"/>
              </a:rPr>
              <a:t>Contextual</a:t>
            </a:r>
            <a:r>
              <a:rPr sz="2450" spc="-90" dirty="0">
                <a:solidFill>
                  <a:srgbClr val="054B28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1D5946"/>
                </a:solidFill>
                <a:latin typeface="Arial MT"/>
                <a:cs typeface="Arial MT"/>
              </a:rPr>
              <a:t>Intelligence:</a:t>
            </a:r>
            <a:r>
              <a:rPr sz="2450" spc="175" dirty="0">
                <a:solidFill>
                  <a:srgbClr val="1D5946"/>
                </a:solidFill>
                <a:latin typeface="Arial MT"/>
                <a:cs typeface="Arial MT"/>
              </a:rPr>
              <a:t> </a:t>
            </a:r>
            <a:r>
              <a:rPr sz="2450" spc="-55" dirty="0">
                <a:solidFill>
                  <a:srgbClr val="2A2A2A"/>
                </a:solidFill>
                <a:latin typeface="Arial MT"/>
                <a:cs typeface="Arial MT"/>
              </a:rPr>
              <a:t>Synthesizesjourney</a:t>
            </a:r>
            <a:r>
              <a:rPr sz="2450" spc="-10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2450" spc="-50" dirty="0">
                <a:solidFill>
                  <a:srgbClr val="2A2A2A"/>
                </a:solidFill>
                <a:latin typeface="Arial MT"/>
                <a:cs typeface="Arial MT"/>
              </a:rPr>
              <a:t>parameters</a:t>
            </a:r>
            <a:r>
              <a:rPr sz="2450" spc="114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2450" spc="-25" dirty="0">
                <a:solidFill>
                  <a:srgbClr val="262626"/>
                </a:solidFill>
                <a:latin typeface="Arial MT"/>
                <a:cs typeface="Arial MT"/>
              </a:rPr>
              <a:t>to </a:t>
            </a:r>
            <a:r>
              <a:rPr sz="2450" spc="-45" dirty="0">
                <a:solidFill>
                  <a:srgbClr val="2B2B2B"/>
                </a:solidFill>
                <a:latin typeface="Arial MT"/>
                <a:cs typeface="Arial MT"/>
              </a:rPr>
              <a:t>prioritize</a:t>
            </a:r>
            <a:r>
              <a:rPr sz="2450" spc="-15" dirty="0">
                <a:solidFill>
                  <a:srgbClr val="2B2B2B"/>
                </a:solidFill>
                <a:latin typeface="Arial MT"/>
                <a:cs typeface="Arial MT"/>
              </a:rPr>
              <a:t> </a:t>
            </a:r>
            <a:r>
              <a:rPr sz="2450" spc="-100" dirty="0">
                <a:solidFill>
                  <a:srgbClr val="262626"/>
                </a:solidFill>
                <a:latin typeface="Arial MT"/>
                <a:cs typeface="Arial MT"/>
              </a:rPr>
              <a:t>genuine </a:t>
            </a:r>
            <a:r>
              <a:rPr sz="2450" spc="-10" dirty="0">
                <a:solidFill>
                  <a:srgbClr val="2D2D2D"/>
                </a:solidFill>
                <a:latin typeface="Arial MT"/>
                <a:cs typeface="Arial MT"/>
              </a:rPr>
              <a:t>alerts.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214401" y="1117500"/>
            <a:ext cx="1921510" cy="2806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50" spc="60" dirty="0">
                <a:solidFill>
                  <a:srgbClr val="494949"/>
                </a:solidFill>
                <a:latin typeface="Arial MT"/>
                <a:cs typeface="Arial MT"/>
              </a:rPr>
              <a:t>Comparative </a:t>
            </a:r>
            <a:r>
              <a:rPr sz="1650" spc="-10" dirty="0">
                <a:solidFill>
                  <a:srgbClr val="4F4F4F"/>
                </a:solidFill>
                <a:latin typeface="Arial MT"/>
                <a:cs typeface="Arial MT"/>
              </a:rPr>
              <a:t>Study</a:t>
            </a:r>
            <a:endParaRPr sz="16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16729" y="6486713"/>
            <a:ext cx="5937250" cy="86995"/>
            <a:chOff x="816729" y="6486713"/>
            <a:chExt cx="5937250" cy="86995"/>
          </a:xfrm>
        </p:grpSpPr>
        <p:sp>
          <p:nvSpPr>
            <p:cNvPr id="3" name="object 3"/>
            <p:cNvSpPr/>
            <p:nvPr/>
          </p:nvSpPr>
          <p:spPr>
            <a:xfrm>
              <a:off x="816729" y="6561318"/>
              <a:ext cx="5937250" cy="0"/>
            </a:xfrm>
            <a:custGeom>
              <a:avLst/>
              <a:gdLst/>
              <a:ahLst/>
              <a:cxnLst/>
              <a:rect l="l" t="t" r="r" b="b"/>
              <a:pathLst>
                <a:path w="5937250">
                  <a:moveTo>
                    <a:pt x="0" y="0"/>
                  </a:moveTo>
                  <a:lnTo>
                    <a:pt x="5936992" y="0"/>
                  </a:lnTo>
                </a:path>
              </a:pathLst>
            </a:custGeom>
            <a:ln w="23559">
              <a:solidFill>
                <a:srgbClr val="0380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840288" y="6498493"/>
              <a:ext cx="5874385" cy="0"/>
            </a:xfrm>
            <a:custGeom>
              <a:avLst/>
              <a:gdLst/>
              <a:ahLst/>
              <a:cxnLst/>
              <a:rect l="l" t="t" r="r" b="b"/>
              <a:pathLst>
                <a:path w="5874384">
                  <a:moveTo>
                    <a:pt x="0" y="0"/>
                  </a:moveTo>
                  <a:lnTo>
                    <a:pt x="5874167" y="0"/>
                  </a:lnTo>
                </a:path>
              </a:pathLst>
            </a:custGeom>
            <a:ln w="23559">
              <a:solidFill>
                <a:srgbClr val="0380B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/>
          <p:cNvGrpSpPr/>
          <p:nvPr/>
        </p:nvGrpSpPr>
        <p:grpSpPr>
          <a:xfrm>
            <a:off x="7114966" y="6486713"/>
            <a:ext cx="5953125" cy="86995"/>
            <a:chOff x="7114966" y="6486713"/>
            <a:chExt cx="5953125" cy="86995"/>
          </a:xfrm>
        </p:grpSpPr>
        <p:sp>
          <p:nvSpPr>
            <p:cNvPr id="6" name="object 6"/>
            <p:cNvSpPr/>
            <p:nvPr/>
          </p:nvSpPr>
          <p:spPr>
            <a:xfrm>
              <a:off x="7114966" y="6561318"/>
              <a:ext cx="5953125" cy="0"/>
            </a:xfrm>
            <a:custGeom>
              <a:avLst/>
              <a:gdLst/>
              <a:ahLst/>
              <a:cxnLst/>
              <a:rect l="l" t="t" r="r" b="b"/>
              <a:pathLst>
                <a:path w="5953125">
                  <a:moveTo>
                    <a:pt x="0" y="0"/>
                  </a:moveTo>
                  <a:lnTo>
                    <a:pt x="5952698" y="0"/>
                  </a:lnTo>
                </a:path>
              </a:pathLst>
            </a:custGeom>
            <a:ln w="23559">
              <a:solidFill>
                <a:srgbClr val="0380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138525" y="6498493"/>
              <a:ext cx="5890260" cy="0"/>
            </a:xfrm>
            <a:custGeom>
              <a:avLst/>
              <a:gdLst/>
              <a:ahLst/>
              <a:cxnLst/>
              <a:rect l="l" t="t" r="r" b="b"/>
              <a:pathLst>
                <a:path w="5890259">
                  <a:moveTo>
                    <a:pt x="0" y="0"/>
                  </a:moveTo>
                  <a:lnTo>
                    <a:pt x="5889873" y="0"/>
                  </a:lnTo>
                </a:path>
              </a:pathLst>
            </a:custGeom>
            <a:ln w="23559">
              <a:solidFill>
                <a:srgbClr val="0380B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13428910" y="6486713"/>
            <a:ext cx="5937250" cy="86995"/>
            <a:chOff x="13428910" y="6486713"/>
            <a:chExt cx="5937250" cy="86995"/>
          </a:xfrm>
        </p:grpSpPr>
        <p:sp>
          <p:nvSpPr>
            <p:cNvPr id="9" name="object 9"/>
            <p:cNvSpPr/>
            <p:nvPr/>
          </p:nvSpPr>
          <p:spPr>
            <a:xfrm>
              <a:off x="13428910" y="6561318"/>
              <a:ext cx="5937250" cy="0"/>
            </a:xfrm>
            <a:custGeom>
              <a:avLst/>
              <a:gdLst/>
              <a:ahLst/>
              <a:cxnLst/>
              <a:rect l="l" t="t" r="r" b="b"/>
              <a:pathLst>
                <a:path w="5937250">
                  <a:moveTo>
                    <a:pt x="0" y="0"/>
                  </a:moveTo>
                  <a:lnTo>
                    <a:pt x="5936992" y="0"/>
                  </a:lnTo>
                </a:path>
              </a:pathLst>
            </a:custGeom>
            <a:ln w="23559">
              <a:solidFill>
                <a:srgbClr val="0380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3452470" y="6498493"/>
              <a:ext cx="5874385" cy="0"/>
            </a:xfrm>
            <a:custGeom>
              <a:avLst/>
              <a:gdLst/>
              <a:ahLst/>
              <a:cxnLst/>
              <a:rect l="l" t="t" r="r" b="b"/>
              <a:pathLst>
                <a:path w="5874384">
                  <a:moveTo>
                    <a:pt x="0" y="0"/>
                  </a:moveTo>
                  <a:lnTo>
                    <a:pt x="5874167" y="0"/>
                  </a:lnTo>
                </a:path>
              </a:pathLst>
            </a:custGeom>
            <a:ln w="23559">
              <a:solidFill>
                <a:srgbClr val="0380B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/>
          <p:cNvGrpSpPr/>
          <p:nvPr/>
        </p:nvGrpSpPr>
        <p:grpSpPr>
          <a:xfrm>
            <a:off x="816729" y="3596749"/>
            <a:ext cx="5937250" cy="86995"/>
            <a:chOff x="816729" y="3596749"/>
            <a:chExt cx="5937250" cy="86995"/>
          </a:xfrm>
        </p:grpSpPr>
        <p:sp>
          <p:nvSpPr>
            <p:cNvPr id="12" name="object 12"/>
            <p:cNvSpPr/>
            <p:nvPr/>
          </p:nvSpPr>
          <p:spPr>
            <a:xfrm>
              <a:off x="816729" y="3671354"/>
              <a:ext cx="5937250" cy="0"/>
            </a:xfrm>
            <a:custGeom>
              <a:avLst/>
              <a:gdLst/>
              <a:ahLst/>
              <a:cxnLst/>
              <a:rect l="l" t="t" r="r" b="b"/>
              <a:pathLst>
                <a:path w="5937250">
                  <a:moveTo>
                    <a:pt x="0" y="0"/>
                  </a:moveTo>
                  <a:lnTo>
                    <a:pt x="5936992" y="0"/>
                  </a:lnTo>
                </a:path>
              </a:pathLst>
            </a:custGeom>
            <a:ln w="23559">
              <a:solidFill>
                <a:srgbClr val="D81F4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840288" y="3608528"/>
              <a:ext cx="5874385" cy="0"/>
            </a:xfrm>
            <a:custGeom>
              <a:avLst/>
              <a:gdLst/>
              <a:ahLst/>
              <a:cxnLst/>
              <a:rect l="l" t="t" r="r" b="b"/>
              <a:pathLst>
                <a:path w="5874384">
                  <a:moveTo>
                    <a:pt x="0" y="0"/>
                  </a:moveTo>
                  <a:lnTo>
                    <a:pt x="5874167" y="0"/>
                  </a:lnTo>
                </a:path>
              </a:pathLst>
            </a:custGeom>
            <a:ln w="23559">
              <a:solidFill>
                <a:srgbClr val="D81F4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/>
          <p:cNvGrpSpPr/>
          <p:nvPr/>
        </p:nvGrpSpPr>
        <p:grpSpPr>
          <a:xfrm>
            <a:off x="7114966" y="3596749"/>
            <a:ext cx="5953125" cy="86995"/>
            <a:chOff x="7114966" y="3596749"/>
            <a:chExt cx="5953125" cy="86995"/>
          </a:xfrm>
        </p:grpSpPr>
        <p:sp>
          <p:nvSpPr>
            <p:cNvPr id="15" name="object 15"/>
            <p:cNvSpPr/>
            <p:nvPr/>
          </p:nvSpPr>
          <p:spPr>
            <a:xfrm>
              <a:off x="7114966" y="3671354"/>
              <a:ext cx="5953125" cy="0"/>
            </a:xfrm>
            <a:custGeom>
              <a:avLst/>
              <a:gdLst/>
              <a:ahLst/>
              <a:cxnLst/>
              <a:rect l="l" t="t" r="r" b="b"/>
              <a:pathLst>
                <a:path w="5953125">
                  <a:moveTo>
                    <a:pt x="0" y="0"/>
                  </a:moveTo>
                  <a:lnTo>
                    <a:pt x="5952698" y="0"/>
                  </a:lnTo>
                </a:path>
              </a:pathLst>
            </a:custGeom>
            <a:ln w="23559">
              <a:solidFill>
                <a:srgbClr val="D81F4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7138525" y="3608528"/>
              <a:ext cx="5890260" cy="0"/>
            </a:xfrm>
            <a:custGeom>
              <a:avLst/>
              <a:gdLst/>
              <a:ahLst/>
              <a:cxnLst/>
              <a:rect l="l" t="t" r="r" b="b"/>
              <a:pathLst>
                <a:path w="5890259">
                  <a:moveTo>
                    <a:pt x="0" y="0"/>
                  </a:moveTo>
                  <a:lnTo>
                    <a:pt x="5889873" y="0"/>
                  </a:lnTo>
                </a:path>
              </a:pathLst>
            </a:custGeom>
            <a:ln w="23559">
              <a:solidFill>
                <a:srgbClr val="D81F4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" name="object 17"/>
          <p:cNvGrpSpPr/>
          <p:nvPr/>
        </p:nvGrpSpPr>
        <p:grpSpPr>
          <a:xfrm>
            <a:off x="13428910" y="3596749"/>
            <a:ext cx="5937250" cy="86995"/>
            <a:chOff x="13428910" y="3596749"/>
            <a:chExt cx="5937250" cy="86995"/>
          </a:xfrm>
        </p:grpSpPr>
        <p:sp>
          <p:nvSpPr>
            <p:cNvPr id="18" name="object 18"/>
            <p:cNvSpPr/>
            <p:nvPr/>
          </p:nvSpPr>
          <p:spPr>
            <a:xfrm>
              <a:off x="13428910" y="3671354"/>
              <a:ext cx="5937250" cy="0"/>
            </a:xfrm>
            <a:custGeom>
              <a:avLst/>
              <a:gdLst/>
              <a:ahLst/>
              <a:cxnLst/>
              <a:rect l="l" t="t" r="r" b="b"/>
              <a:pathLst>
                <a:path w="5937250">
                  <a:moveTo>
                    <a:pt x="0" y="0"/>
                  </a:moveTo>
                  <a:lnTo>
                    <a:pt x="5936992" y="0"/>
                  </a:lnTo>
                </a:path>
              </a:pathLst>
            </a:custGeom>
            <a:ln w="23559">
              <a:solidFill>
                <a:srgbClr val="D81F4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3452470" y="3608528"/>
              <a:ext cx="5874385" cy="0"/>
            </a:xfrm>
            <a:custGeom>
              <a:avLst/>
              <a:gdLst/>
              <a:ahLst/>
              <a:cxnLst/>
              <a:rect l="l" t="t" r="r" b="b"/>
              <a:pathLst>
                <a:path w="5874384">
                  <a:moveTo>
                    <a:pt x="0" y="0"/>
                  </a:moveTo>
                  <a:lnTo>
                    <a:pt x="5874167" y="0"/>
                  </a:lnTo>
                </a:path>
              </a:pathLst>
            </a:custGeom>
            <a:ln w="23559">
              <a:solidFill>
                <a:srgbClr val="D81F4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740499" y="614898"/>
            <a:ext cx="2108200" cy="2806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50" spc="85" dirty="0">
                <a:solidFill>
                  <a:srgbClr val="DB1A4D"/>
                </a:solidFill>
                <a:latin typeface="Arial MT"/>
                <a:cs typeface="Arial MT"/>
              </a:rPr>
              <a:t>PROJ</a:t>
            </a:r>
            <a:r>
              <a:rPr sz="1650" spc="-295" dirty="0">
                <a:solidFill>
                  <a:srgbClr val="DB1A4D"/>
                </a:solidFill>
                <a:latin typeface="Arial MT"/>
                <a:cs typeface="Arial MT"/>
              </a:rPr>
              <a:t> </a:t>
            </a:r>
            <a:r>
              <a:rPr sz="1650" spc="105" dirty="0">
                <a:solidFill>
                  <a:srgbClr val="E21544"/>
                </a:solidFill>
                <a:latin typeface="Arial MT"/>
                <a:cs typeface="Arial MT"/>
              </a:rPr>
              <a:t>ECT</a:t>
            </a:r>
            <a:r>
              <a:rPr sz="1650" spc="275" dirty="0">
                <a:solidFill>
                  <a:srgbClr val="E21544"/>
                </a:solidFill>
                <a:latin typeface="Arial MT"/>
                <a:cs typeface="Arial MT"/>
              </a:rPr>
              <a:t> </a:t>
            </a:r>
            <a:r>
              <a:rPr sz="1650" spc="120" dirty="0">
                <a:solidFill>
                  <a:srgbClr val="CC2F54"/>
                </a:solidFill>
                <a:latin typeface="Arial MT"/>
                <a:cs typeface="Arial MT"/>
              </a:rPr>
              <a:t>I</a:t>
            </a:r>
            <a:r>
              <a:rPr sz="1650" spc="120" dirty="0">
                <a:solidFill>
                  <a:srgbClr val="EB214D"/>
                </a:solidFill>
                <a:latin typeface="Arial MT"/>
                <a:cs typeface="Arial MT"/>
              </a:rPr>
              <a:t>M</a:t>
            </a:r>
            <a:r>
              <a:rPr sz="1650" spc="120" dirty="0">
                <a:solidFill>
                  <a:srgbClr val="E1154F"/>
                </a:solidFill>
                <a:latin typeface="Arial MT"/>
                <a:cs typeface="Arial MT"/>
              </a:rPr>
              <a:t>PACT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45885" y="10390466"/>
            <a:ext cx="4482465" cy="299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30"/>
              </a:lnSpc>
            </a:pPr>
            <a:r>
              <a:rPr sz="1900" spc="-60" dirty="0">
                <a:solidFill>
                  <a:srgbClr val="666666"/>
                </a:solidFill>
                <a:latin typeface="Arial MT"/>
                <a:cs typeface="Arial MT"/>
              </a:rPr>
              <a:t>Safe</a:t>
            </a:r>
            <a:r>
              <a:rPr sz="1900" spc="-30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1900" spc="-85" dirty="0">
                <a:solidFill>
                  <a:srgbClr val="676767"/>
                </a:solidFill>
                <a:latin typeface="Arial MT"/>
                <a:cs typeface="Arial MT"/>
              </a:rPr>
              <a:t>Her: </a:t>
            </a:r>
            <a:r>
              <a:rPr sz="1900" spc="-40" dirty="0">
                <a:solidFill>
                  <a:srgbClr val="696969"/>
                </a:solidFill>
                <a:latin typeface="Arial MT"/>
                <a:cs typeface="Arial MT"/>
              </a:rPr>
              <a:t>Al-</a:t>
            </a:r>
            <a:r>
              <a:rPr sz="1900" spc="-320" dirty="0">
                <a:solidFill>
                  <a:srgbClr val="696969"/>
                </a:solidFill>
                <a:latin typeface="Arial MT"/>
                <a:cs typeface="Arial MT"/>
              </a:rPr>
              <a:t> </a:t>
            </a:r>
            <a:r>
              <a:rPr sz="1900" spc="-90" dirty="0">
                <a:solidFill>
                  <a:srgbClr val="707070"/>
                </a:solidFill>
                <a:latin typeface="Arial MT"/>
                <a:cs typeface="Arial MT"/>
              </a:rPr>
              <a:t>Driven </a:t>
            </a:r>
            <a:r>
              <a:rPr sz="1900" spc="-75" dirty="0">
                <a:solidFill>
                  <a:srgbClr val="6B6B6B"/>
                </a:solidFill>
                <a:latin typeface="Arial MT"/>
                <a:cs typeface="Arial MT"/>
              </a:rPr>
              <a:t>Women</a:t>
            </a:r>
            <a:r>
              <a:rPr sz="1900" spc="-90" dirty="0">
                <a:solidFill>
                  <a:srgbClr val="6B6B6B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696969"/>
                </a:solidFill>
                <a:latin typeface="Arial MT"/>
                <a:cs typeface="Arial MT"/>
              </a:rPr>
              <a:t>Safety</a:t>
            </a:r>
            <a:r>
              <a:rPr sz="1900" dirty="0">
                <a:solidFill>
                  <a:srgbClr val="696969"/>
                </a:solidFill>
                <a:latin typeface="Arial MT"/>
                <a:cs typeface="Arial MT"/>
              </a:rPr>
              <a:t> </a:t>
            </a:r>
            <a:r>
              <a:rPr sz="1900" spc="-80" dirty="0">
                <a:solidFill>
                  <a:srgbClr val="6B6B6B"/>
                </a:solidFill>
                <a:latin typeface="Arial MT"/>
                <a:cs typeface="Arial MT"/>
              </a:rPr>
              <a:t>Platf</a:t>
            </a:r>
            <a:r>
              <a:rPr sz="1900" spc="-135" dirty="0">
                <a:solidFill>
                  <a:srgbClr val="6B6B6B"/>
                </a:solidFill>
                <a:latin typeface="Arial MT"/>
                <a:cs typeface="Arial MT"/>
              </a:rPr>
              <a:t> </a:t>
            </a:r>
            <a:r>
              <a:rPr sz="1900" spc="-25" dirty="0">
                <a:solidFill>
                  <a:srgbClr val="707070"/>
                </a:solidFill>
                <a:latin typeface="Arial MT"/>
                <a:cs typeface="Arial MT"/>
              </a:rPr>
              <a:t>orm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5"/>
              </a:lnSpc>
            </a:pPr>
            <a:r>
              <a:rPr sz="1800" spc="-45" dirty="0">
                <a:solidFill>
                  <a:srgbClr val="666666"/>
                </a:solidFill>
              </a:rPr>
              <a:t>Slide</a:t>
            </a:r>
            <a:r>
              <a:rPr sz="1800" spc="-95" dirty="0">
                <a:solidFill>
                  <a:srgbClr val="666666"/>
                </a:solidFill>
              </a:rPr>
              <a:t> </a:t>
            </a:r>
            <a:fld id="{81D60167-4931-47E6-BA6A-407CBD079E47}" type="slidenum">
              <a:rPr sz="1800" spc="-25" dirty="0">
                <a:solidFill>
                  <a:srgbClr val="676767"/>
                </a:solidFill>
              </a:rPr>
            </a:fld>
            <a:endParaRPr sz="1800"/>
          </a:p>
        </p:txBody>
      </p:sp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125"/>
              </a:spcBef>
            </a:pPr>
            <a:r>
              <a:rPr sz="3450" dirty="0">
                <a:solidFill>
                  <a:srgbClr val="131313"/>
                </a:solidFill>
              </a:rPr>
              <a:t>Expected</a:t>
            </a:r>
            <a:r>
              <a:rPr sz="3450" spc="-30" dirty="0">
                <a:solidFill>
                  <a:srgbClr val="131313"/>
                </a:solidFill>
              </a:rPr>
              <a:t> </a:t>
            </a:r>
            <a:r>
              <a:rPr sz="3450" dirty="0">
                <a:solidFill>
                  <a:srgbClr val="111111"/>
                </a:solidFill>
              </a:rPr>
              <a:t>Outcomes</a:t>
            </a:r>
            <a:r>
              <a:rPr sz="3450" spc="40" dirty="0">
                <a:solidFill>
                  <a:srgbClr val="111111"/>
                </a:solidFill>
              </a:rPr>
              <a:t> </a:t>
            </a:r>
            <a:r>
              <a:rPr sz="3450" spc="90" dirty="0">
                <a:solidFill>
                  <a:srgbClr val="151515"/>
                </a:solidFill>
              </a:rPr>
              <a:t>&amp;</a:t>
            </a:r>
            <a:r>
              <a:rPr sz="3450" spc="-434" dirty="0">
                <a:solidFill>
                  <a:srgbClr val="151515"/>
                </a:solidFill>
              </a:rPr>
              <a:t> </a:t>
            </a:r>
            <a:r>
              <a:rPr sz="3450" spc="-10" dirty="0">
                <a:solidFill>
                  <a:srgbClr val="111111"/>
                </a:solidFill>
              </a:rPr>
              <a:t>Deliverables</a:t>
            </a:r>
            <a:endParaRPr sz="3450"/>
          </a:p>
        </p:txBody>
      </p:sp>
      <p:sp>
        <p:nvSpPr>
          <p:cNvPr id="22" name="object 22"/>
          <p:cNvSpPr txBox="1"/>
          <p:nvPr/>
        </p:nvSpPr>
        <p:spPr>
          <a:xfrm>
            <a:off x="1057807" y="4067018"/>
            <a:ext cx="4577715" cy="179260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94945">
              <a:lnSpc>
                <a:spcPct val="100000"/>
              </a:lnSpc>
              <a:spcBef>
                <a:spcPts val="115"/>
              </a:spcBef>
              <a:tabLst>
                <a:tab pos="725170" algn="l"/>
              </a:tabLst>
            </a:pPr>
            <a:r>
              <a:rPr sz="2300" spc="-50" dirty="0">
                <a:solidFill>
                  <a:srgbClr val="D61D46"/>
                </a:solidFill>
                <a:latin typeface="Arial MT"/>
                <a:cs typeface="Arial MT"/>
              </a:rPr>
              <a:t>4</a:t>
            </a:r>
            <a:r>
              <a:rPr sz="2300" dirty="0">
                <a:solidFill>
                  <a:srgbClr val="D61D46"/>
                </a:solidFill>
                <a:latin typeface="Arial MT"/>
                <a:cs typeface="Arial MT"/>
              </a:rPr>
              <a:t>	</a:t>
            </a:r>
            <a:r>
              <a:rPr sz="2300" dirty="0">
                <a:solidFill>
                  <a:srgbClr val="111111"/>
                </a:solidFill>
                <a:latin typeface="Arial MT"/>
                <a:cs typeface="Arial MT"/>
              </a:rPr>
              <a:t>Rapid</a:t>
            </a:r>
            <a:r>
              <a:rPr sz="2300" spc="-26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2300" spc="-30" dirty="0">
                <a:solidFill>
                  <a:srgbClr val="0C0C0C"/>
                </a:solidFill>
                <a:latin typeface="Arial MT"/>
                <a:cs typeface="Arial MT"/>
              </a:rPr>
              <a:t>Emergency</a:t>
            </a:r>
            <a:r>
              <a:rPr sz="2300" spc="-5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2300" spc="50" dirty="0">
                <a:solidFill>
                  <a:srgbClr val="111111"/>
                </a:solidFill>
                <a:latin typeface="Arial MT"/>
                <a:cs typeface="Arial MT"/>
              </a:rPr>
              <a:t>Alerting</a:t>
            </a:r>
            <a:endParaRPr sz="2300">
              <a:latin typeface="Arial MT"/>
              <a:cs typeface="Arial MT"/>
            </a:endParaRPr>
          </a:p>
          <a:p>
            <a:pPr marL="13970" marR="5080" indent="-1905">
              <a:lnSpc>
                <a:spcPct val="114000"/>
              </a:lnSpc>
              <a:spcBef>
                <a:spcPts val="1670"/>
              </a:spcBef>
            </a:pPr>
            <a:r>
              <a:rPr sz="2300" dirty="0">
                <a:solidFill>
                  <a:srgbClr val="232323"/>
                </a:solidFill>
                <a:latin typeface="Arial MT"/>
                <a:cs typeface="Arial MT"/>
              </a:rPr>
              <a:t>Significantly</a:t>
            </a:r>
            <a:r>
              <a:rPr sz="2300" spc="229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2B2B2B"/>
                </a:solidFill>
                <a:latin typeface="Arial MT"/>
                <a:cs typeface="Arial MT"/>
              </a:rPr>
              <a:t>reduces</a:t>
            </a:r>
            <a:r>
              <a:rPr sz="2300" spc="220" dirty="0">
                <a:solidFill>
                  <a:srgbClr val="2B2B2B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343434"/>
                </a:solidFill>
                <a:latin typeface="Arial MT"/>
                <a:cs typeface="Arial MT"/>
              </a:rPr>
              <a:t>emergency </a:t>
            </a:r>
            <a:r>
              <a:rPr sz="2300" spc="100" dirty="0">
                <a:solidFill>
                  <a:srgbClr val="313131"/>
                </a:solidFill>
                <a:latin typeface="Arial MT"/>
                <a:cs typeface="Arial MT"/>
              </a:rPr>
              <a:t>contact</a:t>
            </a:r>
            <a:r>
              <a:rPr sz="2300" spc="125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300" spc="65" dirty="0">
                <a:solidFill>
                  <a:srgbClr val="2D2D2D"/>
                </a:solidFill>
                <a:latin typeface="Arial MT"/>
                <a:cs typeface="Arial MT"/>
              </a:rPr>
              <a:t>notification</a:t>
            </a:r>
            <a:r>
              <a:rPr sz="2300" spc="-25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313131"/>
                </a:solidFill>
                <a:latin typeface="Arial MT"/>
                <a:cs typeface="Arial MT"/>
              </a:rPr>
              <a:t>latency</a:t>
            </a:r>
            <a:r>
              <a:rPr sz="2300" spc="75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313131"/>
                </a:solidFill>
                <a:latin typeface="Arial MT"/>
                <a:cs typeface="Arial MT"/>
              </a:rPr>
              <a:t>during </a:t>
            </a:r>
            <a:r>
              <a:rPr sz="2300" dirty="0">
                <a:solidFill>
                  <a:srgbClr val="333333"/>
                </a:solidFill>
                <a:latin typeface="Arial MT"/>
                <a:cs typeface="Arial MT"/>
              </a:rPr>
              <a:t>distress</a:t>
            </a:r>
            <a:r>
              <a:rPr sz="2300" spc="3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2D2D2D"/>
                </a:solidFill>
                <a:latin typeface="Arial MT"/>
                <a:cs typeface="Arial MT"/>
              </a:rPr>
              <a:t>situations.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54905" y="6957637"/>
            <a:ext cx="4871085" cy="13868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5260">
              <a:lnSpc>
                <a:spcPct val="100000"/>
              </a:lnSpc>
              <a:spcBef>
                <a:spcPts val="90"/>
              </a:spcBef>
              <a:tabLst>
                <a:tab pos="728980" algn="l"/>
              </a:tabLst>
            </a:pPr>
            <a:r>
              <a:rPr sz="2200" spc="-50" dirty="0">
                <a:solidFill>
                  <a:srgbClr val="E11F44"/>
                </a:solidFill>
                <a:latin typeface="Arial MT"/>
                <a:cs typeface="Arial MT"/>
              </a:rPr>
              <a:t>e</a:t>
            </a:r>
            <a:r>
              <a:rPr sz="2200" dirty="0">
                <a:solidFill>
                  <a:srgbClr val="E11F44"/>
                </a:solidFill>
                <a:latin typeface="Arial MT"/>
                <a:cs typeface="Arial MT"/>
              </a:rPr>
              <a:t>	</a:t>
            </a:r>
            <a:r>
              <a:rPr sz="2200" dirty="0">
                <a:solidFill>
                  <a:srgbClr val="0F0F0F"/>
                </a:solidFill>
                <a:latin typeface="Arial MT"/>
                <a:cs typeface="Arial MT"/>
              </a:rPr>
              <a:t>Emergency</a:t>
            </a:r>
            <a:r>
              <a:rPr sz="2200" spc="114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2200" spc="60" dirty="0">
                <a:solidFill>
                  <a:srgbClr val="0C0C0C"/>
                </a:solidFill>
                <a:latin typeface="Arial MT"/>
                <a:cs typeface="Arial MT"/>
              </a:rPr>
              <a:t>Block</a:t>
            </a:r>
            <a:r>
              <a:rPr sz="2200" spc="-65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51515"/>
                </a:solidFill>
                <a:latin typeface="Arial MT"/>
                <a:cs typeface="Arial MT"/>
              </a:rPr>
              <a:t>Box</a:t>
            </a:r>
            <a:r>
              <a:rPr sz="2200" spc="-100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161616"/>
                </a:solidFill>
                <a:latin typeface="Arial MT"/>
                <a:cs typeface="Arial MT"/>
              </a:rPr>
              <a:t>Access</a:t>
            </a:r>
            <a:endParaRPr sz="2200">
              <a:latin typeface="Arial MT"/>
              <a:cs typeface="Arial MT"/>
            </a:endParaRPr>
          </a:p>
          <a:p>
            <a:pPr marL="15875" marR="5080" indent="-3810">
              <a:lnSpc>
                <a:spcPct val="105000"/>
              </a:lnSpc>
              <a:spcBef>
                <a:spcPts val="1905"/>
              </a:spcBef>
            </a:pPr>
            <a:r>
              <a:rPr sz="2450" spc="-110" dirty="0">
                <a:solidFill>
                  <a:srgbClr val="383838"/>
                </a:solidFill>
                <a:latin typeface="Arial MT"/>
                <a:cs typeface="Arial MT"/>
              </a:rPr>
              <a:t>Preserves</a:t>
            </a:r>
            <a:r>
              <a:rPr sz="2450" spc="-10" dirty="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sz="2450" spc="-20" dirty="0">
                <a:solidFill>
                  <a:srgbClr val="363636"/>
                </a:solidFill>
                <a:latin typeface="Arial MT"/>
                <a:cs typeface="Arial MT"/>
              </a:rPr>
              <a:t>critical</a:t>
            </a:r>
            <a:r>
              <a:rPr sz="2450" spc="-185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2450" spc="-20" dirty="0">
                <a:solidFill>
                  <a:srgbClr val="242424"/>
                </a:solidFill>
                <a:latin typeface="Arial MT"/>
                <a:cs typeface="Arial MT"/>
              </a:rPr>
              <a:t>route</a:t>
            </a:r>
            <a:r>
              <a:rPr sz="2450" spc="-13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50" spc="-50" dirty="0">
                <a:solidFill>
                  <a:srgbClr val="242424"/>
                </a:solidFill>
                <a:latin typeface="Arial MT"/>
                <a:cs typeface="Arial MT"/>
              </a:rPr>
              <a:t>history</a:t>
            </a:r>
            <a:r>
              <a:rPr sz="2450" spc="-3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50" spc="-25" dirty="0">
                <a:solidFill>
                  <a:srgbClr val="363636"/>
                </a:solidFill>
                <a:latin typeface="Arial MT"/>
                <a:cs typeface="Arial MT"/>
              </a:rPr>
              <a:t>and </a:t>
            </a:r>
            <a:r>
              <a:rPr sz="2450" spc="-25" dirty="0">
                <a:solidFill>
                  <a:srgbClr val="343434"/>
                </a:solidFill>
                <a:latin typeface="Arial MT"/>
                <a:cs typeface="Arial MT"/>
              </a:rPr>
              <a:t>incident</a:t>
            </a:r>
            <a:r>
              <a:rPr sz="2450" spc="1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2450" spc="-30" dirty="0">
                <a:solidFill>
                  <a:srgbClr val="2B2B2B"/>
                </a:solidFill>
                <a:latin typeface="Arial MT"/>
                <a:cs typeface="Arial MT"/>
              </a:rPr>
              <a:t>logs</a:t>
            </a:r>
            <a:r>
              <a:rPr sz="2450" spc="-145" dirty="0">
                <a:solidFill>
                  <a:srgbClr val="2B2B2B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282828"/>
                </a:solidFill>
                <a:latin typeface="Arial MT"/>
                <a:cs typeface="Arial MT"/>
              </a:rPr>
              <a:t>for</a:t>
            </a:r>
            <a:r>
              <a:rPr sz="2450" spc="-160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262626"/>
                </a:solidFill>
                <a:latin typeface="Arial MT"/>
                <a:cs typeface="Arial MT"/>
              </a:rPr>
              <a:t>post-event</a:t>
            </a:r>
            <a:r>
              <a:rPr sz="2450" spc="9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2450" spc="-100" dirty="0">
                <a:solidFill>
                  <a:srgbClr val="262626"/>
                </a:solidFill>
                <a:latin typeface="Arial MT"/>
                <a:cs typeface="Arial MT"/>
              </a:rPr>
              <a:t>analysis.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362258" y="4067018"/>
            <a:ext cx="4715510" cy="179260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58115">
              <a:lnSpc>
                <a:spcPct val="100000"/>
              </a:lnSpc>
              <a:spcBef>
                <a:spcPts val="115"/>
              </a:spcBef>
              <a:tabLst>
                <a:tab pos="727075" algn="l"/>
              </a:tabLst>
            </a:pPr>
            <a:r>
              <a:rPr sz="2300" spc="-350" dirty="0">
                <a:solidFill>
                  <a:srgbClr val="E41D46"/>
                </a:solidFill>
                <a:latin typeface="Arial MT"/>
                <a:cs typeface="Arial MT"/>
              </a:rPr>
              <a:t>e'§</a:t>
            </a:r>
            <a:r>
              <a:rPr sz="2300" dirty="0">
                <a:solidFill>
                  <a:srgbClr val="E41D46"/>
                </a:solidFill>
                <a:latin typeface="Arial MT"/>
                <a:cs typeface="Arial MT"/>
              </a:rPr>
              <a:t>	</a:t>
            </a:r>
            <a:r>
              <a:rPr sz="2300" spc="-55" dirty="0">
                <a:solidFill>
                  <a:srgbClr val="0F0F0F"/>
                </a:solidFill>
                <a:latin typeface="Arial MT"/>
                <a:cs typeface="Arial MT"/>
              </a:rPr>
              <a:t>Continuous</a:t>
            </a:r>
            <a:r>
              <a:rPr sz="2300" spc="-19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0E0E0E"/>
                </a:solidFill>
                <a:latin typeface="Arial MT"/>
                <a:cs typeface="Arial MT"/>
              </a:rPr>
              <a:t>Journey</a:t>
            </a:r>
            <a:r>
              <a:rPr sz="2300" spc="-35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2300" spc="-40" dirty="0">
                <a:solidFill>
                  <a:srgbClr val="0C0C0C"/>
                </a:solidFill>
                <a:latin typeface="Arial MT"/>
                <a:cs typeface="Arial MT"/>
              </a:rPr>
              <a:t>Awareness</a:t>
            </a:r>
            <a:endParaRPr sz="2300">
              <a:latin typeface="Arial MT"/>
              <a:cs typeface="Arial MT"/>
            </a:endParaRPr>
          </a:p>
          <a:p>
            <a:pPr marL="16510" marR="154940" indent="-4445">
              <a:lnSpc>
                <a:spcPct val="114000"/>
              </a:lnSpc>
              <a:spcBef>
                <a:spcPts val="1670"/>
              </a:spcBef>
            </a:pPr>
            <a:r>
              <a:rPr sz="2300" dirty="0">
                <a:solidFill>
                  <a:srgbClr val="383838"/>
                </a:solidFill>
                <a:latin typeface="Arial MT"/>
                <a:cs typeface="Arial MT"/>
              </a:rPr>
              <a:t>Provides</a:t>
            </a:r>
            <a:r>
              <a:rPr sz="2300" spc="180" dirty="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343434"/>
                </a:solidFill>
                <a:latin typeface="Arial MT"/>
                <a:cs typeface="Arial MT"/>
              </a:rPr>
              <a:t>persistent</a:t>
            </a:r>
            <a:r>
              <a:rPr sz="2300" spc="229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2B2B2B"/>
                </a:solidFill>
                <a:latin typeface="Arial MT"/>
                <a:cs typeface="Arial MT"/>
              </a:rPr>
              <a:t>situational </a:t>
            </a:r>
            <a:r>
              <a:rPr sz="2300" spc="-30" dirty="0">
                <a:solidFill>
                  <a:srgbClr val="313131"/>
                </a:solidFill>
                <a:latin typeface="Arial MT"/>
                <a:cs typeface="Arial MT"/>
              </a:rPr>
              <a:t>awareness</a:t>
            </a:r>
            <a:r>
              <a:rPr sz="2300" spc="-5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363636"/>
                </a:solidFill>
                <a:latin typeface="Arial MT"/>
                <a:cs typeface="Arial MT"/>
              </a:rPr>
              <a:t>to</a:t>
            </a:r>
            <a:r>
              <a:rPr sz="2300" spc="204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2F2F2F"/>
                </a:solidFill>
                <a:latin typeface="Arial MT"/>
                <a:cs typeface="Arial MT"/>
              </a:rPr>
              <a:t>authorized</a:t>
            </a:r>
            <a:r>
              <a:rPr sz="2300" spc="35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2A2A2A"/>
                </a:solidFill>
                <a:latin typeface="Arial MT"/>
                <a:cs typeface="Arial MT"/>
              </a:rPr>
              <a:t>guardians </a:t>
            </a:r>
            <a:r>
              <a:rPr sz="2300" dirty="0">
                <a:solidFill>
                  <a:srgbClr val="2F2F2F"/>
                </a:solidFill>
                <a:latin typeface="Arial MT"/>
                <a:cs typeface="Arial MT"/>
              </a:rPr>
              <a:t>during</a:t>
            </a:r>
            <a:r>
              <a:rPr sz="2300" spc="-25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343434"/>
                </a:solidFill>
                <a:latin typeface="Arial MT"/>
                <a:cs typeface="Arial MT"/>
              </a:rPr>
              <a:t>transit.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363123" y="6941276"/>
            <a:ext cx="5093335" cy="14001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08585">
              <a:lnSpc>
                <a:spcPct val="100000"/>
              </a:lnSpc>
              <a:spcBef>
                <a:spcPts val="115"/>
              </a:spcBef>
              <a:tabLst>
                <a:tab pos="726440" algn="l"/>
              </a:tabLst>
            </a:pPr>
            <a:r>
              <a:rPr sz="2300" dirty="0">
                <a:solidFill>
                  <a:srgbClr val="EF1849"/>
                </a:solidFill>
                <a:latin typeface="Arial MT"/>
                <a:cs typeface="Arial MT"/>
              </a:rPr>
              <a:t>I</a:t>
            </a:r>
            <a:r>
              <a:rPr sz="2300" spc="204" dirty="0">
                <a:solidFill>
                  <a:srgbClr val="EF1849"/>
                </a:solidFill>
                <a:latin typeface="Arial MT"/>
                <a:cs typeface="Arial MT"/>
              </a:rPr>
              <a:t> </a:t>
            </a:r>
            <a:r>
              <a:rPr sz="2300" spc="-370" dirty="0">
                <a:solidFill>
                  <a:srgbClr val="EF1849"/>
                </a:solidFill>
                <a:latin typeface="Arial MT"/>
                <a:cs typeface="Arial MT"/>
              </a:rPr>
              <a:t>c/</a:t>
            </a:r>
            <a:r>
              <a:rPr sz="2300" dirty="0">
                <a:solidFill>
                  <a:srgbClr val="EF1849"/>
                </a:solidFill>
                <a:latin typeface="Arial MT"/>
                <a:cs typeface="Arial MT"/>
              </a:rPr>
              <a:t>	</a:t>
            </a:r>
            <a:r>
              <a:rPr sz="2300" dirty="0">
                <a:solidFill>
                  <a:srgbClr val="0F0F0F"/>
                </a:solidFill>
                <a:latin typeface="Arial MT"/>
                <a:cs typeface="Arial MT"/>
              </a:rPr>
              <a:t>Communify</a:t>
            </a:r>
            <a:r>
              <a:rPr sz="2300" spc="2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0F0F0F"/>
                </a:solidFill>
                <a:latin typeface="Arial MT"/>
                <a:cs typeface="Arial MT"/>
              </a:rPr>
              <a:t>Volunteer</a:t>
            </a:r>
            <a:r>
              <a:rPr sz="2300" spc="-13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0E0E0E"/>
                </a:solidFill>
                <a:latin typeface="Arial MT"/>
                <a:cs typeface="Arial MT"/>
              </a:rPr>
              <a:t>Nefwork</a:t>
            </a:r>
            <a:endParaRPr sz="2300">
              <a:latin typeface="Arial MT"/>
              <a:cs typeface="Arial MT"/>
            </a:endParaRPr>
          </a:p>
          <a:p>
            <a:pPr marL="13335" marR="5080" indent="-1270">
              <a:lnSpc>
                <a:spcPct val="112000"/>
              </a:lnSpc>
              <a:spcBef>
                <a:spcPts val="1860"/>
              </a:spcBef>
            </a:pPr>
            <a:r>
              <a:rPr sz="2300" dirty="0">
                <a:solidFill>
                  <a:srgbClr val="2A2A2A"/>
                </a:solidFill>
                <a:latin typeface="Arial MT"/>
                <a:cs typeface="Arial MT"/>
              </a:rPr>
              <a:t>Mobilizes</a:t>
            </a:r>
            <a:r>
              <a:rPr sz="2300" spc="9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2B2B2B"/>
                </a:solidFill>
                <a:latin typeface="Arial MT"/>
                <a:cs typeface="Arial MT"/>
              </a:rPr>
              <a:t>nearby</a:t>
            </a:r>
            <a:r>
              <a:rPr sz="2300" spc="80" dirty="0">
                <a:solidFill>
                  <a:srgbClr val="2B2B2B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2D2D2D"/>
                </a:solidFill>
                <a:latin typeface="Arial MT"/>
                <a:cs typeface="Arial MT"/>
              </a:rPr>
              <a:t>registered</a:t>
            </a:r>
            <a:r>
              <a:rPr sz="2300" spc="170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282828"/>
                </a:solidFill>
                <a:latin typeface="Arial MT"/>
                <a:cs typeface="Arial MT"/>
              </a:rPr>
              <a:t>volunteers </a:t>
            </a:r>
            <a:r>
              <a:rPr sz="2300" dirty="0">
                <a:solidFill>
                  <a:srgbClr val="363636"/>
                </a:solidFill>
                <a:latin typeface="Arial MT"/>
                <a:cs typeface="Arial MT"/>
              </a:rPr>
              <a:t>to</a:t>
            </a:r>
            <a:r>
              <a:rPr sz="2300" spc="340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2300" spc="80" dirty="0">
                <a:solidFill>
                  <a:srgbClr val="313131"/>
                </a:solidFill>
                <a:latin typeface="Arial MT"/>
                <a:cs typeface="Arial MT"/>
              </a:rPr>
              <a:t>offer</a:t>
            </a:r>
            <a:r>
              <a:rPr sz="2300" spc="25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343434"/>
                </a:solidFill>
                <a:latin typeface="Arial MT"/>
                <a:cs typeface="Arial MT"/>
              </a:rPr>
              <a:t>localized</a:t>
            </a:r>
            <a:r>
              <a:rPr sz="2300" spc="4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363636"/>
                </a:solidFill>
                <a:latin typeface="Arial MT"/>
                <a:cs typeface="Arial MT"/>
              </a:rPr>
              <a:t>immediate</a:t>
            </a:r>
            <a:r>
              <a:rPr sz="2300" spc="125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2300" spc="55" dirty="0">
                <a:solidFill>
                  <a:srgbClr val="343434"/>
                </a:solidFill>
                <a:latin typeface="Arial MT"/>
                <a:cs typeface="Arial MT"/>
              </a:rPr>
              <a:t>support.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7766155" y="1117500"/>
            <a:ext cx="1369695" cy="2806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50" spc="75" dirty="0">
                <a:solidFill>
                  <a:srgbClr val="464646"/>
                </a:solidFill>
                <a:latin typeface="Arial MT"/>
                <a:cs typeface="Arial MT"/>
              </a:rPr>
              <a:t>Project</a:t>
            </a:r>
            <a:r>
              <a:rPr sz="1650" spc="-2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650" spc="-10" dirty="0">
                <a:solidFill>
                  <a:srgbClr val="424242"/>
                </a:solidFill>
                <a:latin typeface="Arial MT"/>
                <a:cs typeface="Arial MT"/>
              </a:rPr>
              <a:t>Goals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3654223" y="4067018"/>
            <a:ext cx="5306060" cy="140335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115"/>
              </a:spcBef>
              <a:tabLst>
                <a:tab pos="732790" algn="l"/>
              </a:tabLst>
            </a:pPr>
            <a:r>
              <a:rPr sz="2300" spc="-50" dirty="0">
                <a:solidFill>
                  <a:srgbClr val="DD2149"/>
                </a:solidFill>
                <a:latin typeface="Arial MT"/>
                <a:cs typeface="Arial MT"/>
              </a:rPr>
              <a:t>0</a:t>
            </a:r>
            <a:r>
              <a:rPr sz="2300" dirty="0">
                <a:solidFill>
                  <a:srgbClr val="DD2149"/>
                </a:solidFill>
                <a:latin typeface="Arial MT"/>
                <a:cs typeface="Arial MT"/>
              </a:rPr>
              <a:t>	</a:t>
            </a:r>
            <a:r>
              <a:rPr sz="2300" dirty="0">
                <a:solidFill>
                  <a:srgbClr val="111111"/>
                </a:solidFill>
                <a:latin typeface="Arial MT"/>
                <a:cs typeface="Arial MT"/>
              </a:rPr>
              <a:t>Early</a:t>
            </a:r>
            <a:r>
              <a:rPr sz="2300" spc="14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0C0C0C"/>
                </a:solidFill>
                <a:latin typeface="Arial MT"/>
                <a:cs typeface="Arial MT"/>
              </a:rPr>
              <a:t>Threat</a:t>
            </a:r>
            <a:r>
              <a:rPr sz="2300" spc="-45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2300" spc="65" dirty="0">
                <a:solidFill>
                  <a:srgbClr val="0E0E0E"/>
                </a:solidFill>
                <a:latin typeface="Arial MT"/>
                <a:cs typeface="Arial MT"/>
              </a:rPr>
              <a:t>Identification</a:t>
            </a:r>
            <a:endParaRPr sz="2300">
              <a:latin typeface="Arial MT"/>
              <a:cs typeface="Arial MT"/>
            </a:endParaRPr>
          </a:p>
          <a:p>
            <a:pPr marL="20955" marR="5080" indent="-8890">
              <a:lnSpc>
                <a:spcPct val="109000"/>
              </a:lnSpc>
              <a:spcBef>
                <a:spcPts val="1640"/>
              </a:spcBef>
            </a:pPr>
            <a:r>
              <a:rPr sz="2450" spc="-30" dirty="0">
                <a:solidFill>
                  <a:srgbClr val="2B2B2B"/>
                </a:solidFill>
                <a:latin typeface="Arial MT"/>
                <a:cs typeface="Arial MT"/>
              </a:rPr>
              <a:t>Identifies</a:t>
            </a:r>
            <a:r>
              <a:rPr sz="2450" spc="-55" dirty="0">
                <a:solidFill>
                  <a:srgbClr val="2B2B2B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2B2B2B"/>
                </a:solidFill>
                <a:latin typeface="Arial MT"/>
                <a:cs typeface="Arial MT"/>
              </a:rPr>
              <a:t>potential</a:t>
            </a:r>
            <a:r>
              <a:rPr sz="2450" spc="-110" dirty="0">
                <a:solidFill>
                  <a:srgbClr val="2B2B2B"/>
                </a:solidFill>
                <a:latin typeface="Arial MT"/>
                <a:cs typeface="Arial MT"/>
              </a:rPr>
              <a:t> </a:t>
            </a:r>
            <a:r>
              <a:rPr sz="2450" spc="-105" dirty="0">
                <a:solidFill>
                  <a:srgbClr val="343434"/>
                </a:solidFill>
                <a:latin typeface="Arial MT"/>
                <a:cs typeface="Arial MT"/>
              </a:rPr>
              <a:t>risk</a:t>
            </a:r>
            <a:r>
              <a:rPr sz="2450" spc="-11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2450" spc="-85" dirty="0">
                <a:solidFill>
                  <a:srgbClr val="343434"/>
                </a:solidFill>
                <a:latin typeface="Arial MT"/>
                <a:cs typeface="Arial MT"/>
              </a:rPr>
              <a:t>scenarios</a:t>
            </a:r>
            <a:r>
              <a:rPr sz="2450" spc="-1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363636"/>
                </a:solidFill>
                <a:latin typeface="Arial MT"/>
                <a:cs typeface="Arial MT"/>
              </a:rPr>
              <a:t>before </a:t>
            </a:r>
            <a:r>
              <a:rPr sz="2450" spc="-65" dirty="0">
                <a:solidFill>
                  <a:srgbClr val="2F2F2F"/>
                </a:solidFill>
                <a:latin typeface="Arial MT"/>
                <a:cs typeface="Arial MT"/>
              </a:rPr>
              <a:t>physical</a:t>
            </a:r>
            <a:r>
              <a:rPr sz="2450" spc="-140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2450" spc="-35" dirty="0">
                <a:solidFill>
                  <a:srgbClr val="333333"/>
                </a:solidFill>
                <a:latin typeface="Arial MT"/>
                <a:cs typeface="Arial MT"/>
              </a:rPr>
              <a:t>threats</a:t>
            </a:r>
            <a:r>
              <a:rPr sz="2450" spc="-12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450" spc="-55" dirty="0">
                <a:solidFill>
                  <a:srgbClr val="3B3B3B"/>
                </a:solidFill>
                <a:latin typeface="Arial MT"/>
                <a:cs typeface="Arial MT"/>
              </a:rPr>
              <a:t>escalate</a:t>
            </a:r>
            <a:r>
              <a:rPr sz="2450" spc="-35" dirty="0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sz="2450" spc="-20" dirty="0">
                <a:solidFill>
                  <a:srgbClr val="313131"/>
                </a:solidFill>
                <a:latin typeface="Arial MT"/>
                <a:cs typeface="Arial MT"/>
              </a:rPr>
              <a:t>into</a:t>
            </a:r>
            <a:r>
              <a:rPr sz="2450" spc="-16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2A2A2A"/>
                </a:solidFill>
                <a:latin typeface="Arial MT"/>
                <a:cs typeface="Arial MT"/>
              </a:rPr>
              <a:t>crises.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3657969" y="6941276"/>
            <a:ext cx="4888230" cy="14001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R="600710" algn="ctr">
              <a:lnSpc>
                <a:spcPct val="100000"/>
              </a:lnSpc>
              <a:spcBef>
                <a:spcPts val="115"/>
              </a:spcBef>
            </a:pPr>
            <a:r>
              <a:rPr sz="2300" spc="-235" dirty="0">
                <a:solidFill>
                  <a:srgbClr val="131313"/>
                </a:solidFill>
                <a:latin typeface="Arial Black" panose="020B0A04020102020204"/>
                <a:cs typeface="Arial Black" panose="020B0A04020102020204"/>
              </a:rPr>
              <a:t>Unified</a:t>
            </a:r>
            <a:r>
              <a:rPr sz="2300" spc="-130" dirty="0">
                <a:solidFill>
                  <a:srgbClr val="131313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2300" spc="-290" dirty="0">
                <a:solidFill>
                  <a:srgbClr val="0E0E0E"/>
                </a:solidFill>
                <a:latin typeface="Arial Black" panose="020B0A04020102020204"/>
                <a:cs typeface="Arial Black" panose="020B0A04020102020204"/>
              </a:rPr>
              <a:t>Web</a:t>
            </a:r>
            <a:r>
              <a:rPr sz="2300" spc="-350" dirty="0">
                <a:solidFill>
                  <a:srgbClr val="0E0E0E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2300" spc="-55" dirty="0">
                <a:solidFill>
                  <a:srgbClr val="0F0F0F"/>
                </a:solidFill>
                <a:latin typeface="Arial Black" panose="020B0A04020102020204"/>
                <a:cs typeface="Arial Black" panose="020B0A04020102020204"/>
              </a:rPr>
              <a:t>Plofform</a:t>
            </a:r>
            <a:endParaRPr sz="2300">
              <a:latin typeface="Arial Black" panose="020B0A04020102020204"/>
              <a:cs typeface="Arial Black" panose="020B0A04020102020204"/>
            </a:endParaRPr>
          </a:p>
          <a:p>
            <a:pPr marL="12700">
              <a:lnSpc>
                <a:spcPct val="100000"/>
              </a:lnSpc>
              <a:spcBef>
                <a:spcPts val="1940"/>
              </a:spcBef>
            </a:pPr>
            <a:r>
              <a:rPr sz="2550" spc="-145" dirty="0">
                <a:solidFill>
                  <a:srgbClr val="383838"/>
                </a:solidFill>
                <a:latin typeface="Arial MT"/>
                <a:cs typeface="Arial MT"/>
              </a:rPr>
              <a:t>Delivers</a:t>
            </a:r>
            <a:r>
              <a:rPr sz="2550" spc="-75" dirty="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sz="2550" spc="-300" dirty="0">
                <a:solidFill>
                  <a:srgbClr val="44546D"/>
                </a:solidFill>
                <a:latin typeface="Arial MT"/>
                <a:cs typeface="Arial MT"/>
              </a:rPr>
              <a:t>a</a:t>
            </a:r>
            <a:r>
              <a:rPr sz="2550" spc="-215" dirty="0">
                <a:solidFill>
                  <a:srgbClr val="44546D"/>
                </a:solidFill>
                <a:latin typeface="Arial MT"/>
                <a:cs typeface="Arial MT"/>
              </a:rPr>
              <a:t> </a:t>
            </a:r>
            <a:r>
              <a:rPr sz="2550" spc="-50" dirty="0">
                <a:solidFill>
                  <a:srgbClr val="2D2D2D"/>
                </a:solidFill>
                <a:latin typeface="Arial MT"/>
                <a:cs typeface="Arial MT"/>
              </a:rPr>
              <a:t>platform</a:t>
            </a:r>
            <a:r>
              <a:rPr sz="2550" spc="-110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2550" spc="-90" dirty="0">
                <a:solidFill>
                  <a:srgbClr val="343434"/>
                </a:solidFill>
                <a:latin typeface="Arial MT"/>
                <a:cs typeface="Arial MT"/>
              </a:rPr>
              <a:t>accessible</a:t>
            </a:r>
            <a:r>
              <a:rPr sz="2550" spc="1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2550" spc="-95" dirty="0">
                <a:solidFill>
                  <a:srgbClr val="383838"/>
                </a:solidFill>
                <a:latin typeface="Arial MT"/>
                <a:cs typeface="Arial MT"/>
              </a:rPr>
              <a:t>across</a:t>
            </a:r>
            <a:endParaRPr sz="2550">
              <a:latin typeface="Arial MT"/>
              <a:cs typeface="Arial MT"/>
            </a:endParaRPr>
          </a:p>
          <a:p>
            <a:pPr marL="18415">
              <a:lnSpc>
                <a:spcPct val="100000"/>
              </a:lnSpc>
              <a:spcBef>
                <a:spcPts val="280"/>
              </a:spcBef>
            </a:pPr>
            <a:r>
              <a:rPr sz="2300" dirty="0">
                <a:solidFill>
                  <a:srgbClr val="333333"/>
                </a:solidFill>
                <a:latin typeface="Arial MT"/>
                <a:cs typeface="Arial MT"/>
              </a:rPr>
              <a:t>browsers</a:t>
            </a:r>
            <a:r>
              <a:rPr sz="2300" spc="11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300" spc="45" dirty="0">
                <a:solidFill>
                  <a:srgbClr val="313131"/>
                </a:solidFill>
                <a:latin typeface="Arial MT"/>
                <a:cs typeface="Arial MT"/>
              </a:rPr>
              <a:t>without</a:t>
            </a:r>
            <a:r>
              <a:rPr sz="2300" spc="75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383838"/>
                </a:solidFill>
                <a:latin typeface="Arial MT"/>
                <a:cs typeface="Arial MT"/>
              </a:rPr>
              <a:t>installation</a:t>
            </a:r>
            <a:r>
              <a:rPr sz="2300" spc="10" dirty="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sz="2300" spc="50" dirty="0">
                <a:solidFill>
                  <a:srgbClr val="383838"/>
                </a:solidFill>
                <a:latin typeface="Arial MT"/>
                <a:cs typeface="Arial MT"/>
              </a:rPr>
              <a:t>friction.</a:t>
            </a:r>
            <a:endParaRPr sz="2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/>
          <p:nvPr/>
        </p:nvSpPr>
        <p:spPr>
          <a:xfrm>
            <a:off x="745885" y="10390466"/>
            <a:ext cx="4482465" cy="299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30"/>
              </a:lnSpc>
            </a:pPr>
            <a:r>
              <a:rPr sz="1900" spc="-60" dirty="0">
                <a:solidFill>
                  <a:srgbClr val="666666"/>
                </a:solidFill>
                <a:latin typeface="Arial MT"/>
                <a:cs typeface="Arial MT"/>
              </a:rPr>
              <a:t>Safe</a:t>
            </a:r>
            <a:r>
              <a:rPr sz="1900" spc="-30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1900" spc="-85" dirty="0">
                <a:solidFill>
                  <a:srgbClr val="676767"/>
                </a:solidFill>
                <a:latin typeface="Arial MT"/>
                <a:cs typeface="Arial MT"/>
              </a:rPr>
              <a:t>Her: </a:t>
            </a:r>
            <a:r>
              <a:rPr sz="1900" spc="-40" dirty="0">
                <a:solidFill>
                  <a:srgbClr val="696969"/>
                </a:solidFill>
                <a:latin typeface="Arial MT"/>
                <a:cs typeface="Arial MT"/>
              </a:rPr>
              <a:t>Al-</a:t>
            </a:r>
            <a:r>
              <a:rPr sz="1900" spc="-320" dirty="0">
                <a:solidFill>
                  <a:srgbClr val="696969"/>
                </a:solidFill>
                <a:latin typeface="Arial MT"/>
                <a:cs typeface="Arial MT"/>
              </a:rPr>
              <a:t> </a:t>
            </a:r>
            <a:r>
              <a:rPr sz="1900" spc="-90" dirty="0">
                <a:solidFill>
                  <a:srgbClr val="707070"/>
                </a:solidFill>
                <a:latin typeface="Arial MT"/>
                <a:cs typeface="Arial MT"/>
              </a:rPr>
              <a:t>Driven </a:t>
            </a:r>
            <a:r>
              <a:rPr sz="1900" spc="-75" dirty="0">
                <a:solidFill>
                  <a:srgbClr val="6B6B6B"/>
                </a:solidFill>
                <a:latin typeface="Arial MT"/>
                <a:cs typeface="Arial MT"/>
              </a:rPr>
              <a:t>Women</a:t>
            </a:r>
            <a:r>
              <a:rPr sz="1900" spc="-90" dirty="0">
                <a:solidFill>
                  <a:srgbClr val="6B6B6B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696969"/>
                </a:solidFill>
                <a:latin typeface="Arial MT"/>
                <a:cs typeface="Arial MT"/>
              </a:rPr>
              <a:t>Safety</a:t>
            </a:r>
            <a:r>
              <a:rPr sz="1900" dirty="0">
                <a:solidFill>
                  <a:srgbClr val="696969"/>
                </a:solidFill>
                <a:latin typeface="Arial MT"/>
                <a:cs typeface="Arial MT"/>
              </a:rPr>
              <a:t> </a:t>
            </a:r>
            <a:r>
              <a:rPr sz="1900" spc="-80" dirty="0">
                <a:solidFill>
                  <a:srgbClr val="6B6B6B"/>
                </a:solidFill>
                <a:latin typeface="Arial MT"/>
                <a:cs typeface="Arial MT"/>
              </a:rPr>
              <a:t>Platf</a:t>
            </a:r>
            <a:r>
              <a:rPr sz="1900" spc="-135" dirty="0">
                <a:solidFill>
                  <a:srgbClr val="6B6B6B"/>
                </a:solidFill>
                <a:latin typeface="Arial MT"/>
                <a:cs typeface="Arial MT"/>
              </a:rPr>
              <a:t> </a:t>
            </a:r>
            <a:r>
              <a:rPr sz="1900" spc="-25" dirty="0">
                <a:solidFill>
                  <a:srgbClr val="707070"/>
                </a:solidFill>
                <a:latin typeface="Arial MT"/>
                <a:cs typeface="Arial MT"/>
              </a:rPr>
              <a:t>orm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5"/>
              </a:lnSpc>
            </a:pPr>
            <a:r>
              <a:rPr sz="1800" spc="-45" dirty="0">
                <a:solidFill>
                  <a:srgbClr val="666666"/>
                </a:solidFill>
              </a:rPr>
              <a:t>Slide</a:t>
            </a:r>
            <a:r>
              <a:rPr sz="1800" spc="-95" dirty="0">
                <a:solidFill>
                  <a:srgbClr val="666666"/>
                </a:solidFill>
              </a:rPr>
              <a:t> </a:t>
            </a:r>
            <a:fld id="{81D60167-4931-47E6-BA6A-407CBD079E47}" type="slidenum">
              <a:rPr sz="1800" spc="-25" dirty="0">
                <a:solidFill>
                  <a:srgbClr val="676767"/>
                </a:solidFill>
              </a:rPr>
            </a:fld>
            <a:endParaRPr sz="1800"/>
          </a:p>
        </p:txBody>
      </p:sp>
      <p:sp>
        <p:nvSpPr>
          <p:cNvPr id="2" name="object 2"/>
          <p:cNvSpPr txBox="1"/>
          <p:nvPr/>
        </p:nvSpPr>
        <p:spPr>
          <a:xfrm>
            <a:off x="739502" y="614898"/>
            <a:ext cx="2938145" cy="2806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50" spc="-30" dirty="0">
                <a:solidFill>
                  <a:srgbClr val="DD2F54"/>
                </a:solidFill>
                <a:latin typeface="Arial MT"/>
                <a:cs typeface="Arial MT"/>
              </a:rPr>
              <a:t>SC</a:t>
            </a:r>
            <a:r>
              <a:rPr sz="1650" spc="-95" dirty="0">
                <a:solidFill>
                  <a:srgbClr val="DD2F54"/>
                </a:solidFill>
                <a:latin typeface="Arial MT"/>
                <a:cs typeface="Arial MT"/>
              </a:rPr>
              <a:t> </a:t>
            </a:r>
            <a:r>
              <a:rPr sz="1650" spc="75" dirty="0">
                <a:solidFill>
                  <a:srgbClr val="D62654"/>
                </a:solidFill>
                <a:latin typeface="Arial MT"/>
                <a:cs typeface="Arial MT"/>
              </a:rPr>
              <a:t>A</a:t>
            </a:r>
            <a:r>
              <a:rPr sz="1650" spc="75" dirty="0">
                <a:solidFill>
                  <a:srgbClr val="FF1C4F"/>
                </a:solidFill>
                <a:latin typeface="Arial MT"/>
                <a:cs typeface="Arial MT"/>
              </a:rPr>
              <a:t>LAB</a:t>
            </a:r>
            <a:r>
              <a:rPr sz="1650" spc="35" dirty="0">
                <a:solidFill>
                  <a:srgbClr val="FF1C4F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E41352"/>
                </a:solidFill>
                <a:latin typeface="Arial MT"/>
                <a:cs typeface="Arial MT"/>
              </a:rPr>
              <a:t>I</a:t>
            </a:r>
            <a:r>
              <a:rPr sz="1650" spc="-220" dirty="0">
                <a:solidFill>
                  <a:srgbClr val="E41352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F22352"/>
                </a:solidFill>
                <a:latin typeface="Arial MT"/>
                <a:cs typeface="Arial MT"/>
              </a:rPr>
              <a:t>LI</a:t>
            </a:r>
            <a:r>
              <a:rPr sz="1650" spc="-75" dirty="0">
                <a:solidFill>
                  <a:srgbClr val="F22352"/>
                </a:solidFill>
                <a:latin typeface="Arial MT"/>
                <a:cs typeface="Arial MT"/>
              </a:rPr>
              <a:t> </a:t>
            </a:r>
            <a:r>
              <a:rPr sz="1650" spc="90" dirty="0">
                <a:solidFill>
                  <a:srgbClr val="D82A57"/>
                </a:solidFill>
                <a:latin typeface="Arial MT"/>
                <a:cs typeface="Arial MT"/>
              </a:rPr>
              <a:t>TY</a:t>
            </a:r>
            <a:r>
              <a:rPr sz="1650" spc="380" dirty="0">
                <a:solidFill>
                  <a:srgbClr val="D82A57"/>
                </a:solidFill>
                <a:latin typeface="Arial MT"/>
                <a:cs typeface="Arial MT"/>
              </a:rPr>
              <a:t> </a:t>
            </a:r>
            <a:r>
              <a:rPr sz="1650" spc="114" dirty="0">
                <a:solidFill>
                  <a:srgbClr val="CD1848"/>
                </a:solidFill>
                <a:latin typeface="Arial MT"/>
                <a:cs typeface="Arial MT"/>
              </a:rPr>
              <a:t>ROAD</a:t>
            </a:r>
            <a:r>
              <a:rPr sz="1650" spc="-215" dirty="0">
                <a:solidFill>
                  <a:srgbClr val="CD1848"/>
                </a:solidFill>
                <a:latin typeface="Arial MT"/>
                <a:cs typeface="Arial MT"/>
              </a:rPr>
              <a:t> </a:t>
            </a:r>
            <a:r>
              <a:rPr sz="1650" spc="95" dirty="0">
                <a:solidFill>
                  <a:srgbClr val="F61854"/>
                </a:solidFill>
                <a:latin typeface="Arial MT"/>
                <a:cs typeface="Arial MT"/>
              </a:rPr>
              <a:t>M</a:t>
            </a:r>
            <a:r>
              <a:rPr sz="1650" spc="-200" dirty="0">
                <a:solidFill>
                  <a:srgbClr val="F61854"/>
                </a:solidFill>
                <a:latin typeface="Arial MT"/>
                <a:cs typeface="Arial MT"/>
              </a:rPr>
              <a:t> </a:t>
            </a:r>
            <a:r>
              <a:rPr sz="1650" spc="55" dirty="0">
                <a:solidFill>
                  <a:srgbClr val="DD265E"/>
                </a:solidFill>
                <a:latin typeface="Arial MT"/>
                <a:cs typeface="Arial MT"/>
              </a:rPr>
              <a:t>AP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100"/>
              </a:spcBef>
            </a:pPr>
            <a:r>
              <a:rPr sz="3350" spc="105" dirty="0">
                <a:solidFill>
                  <a:srgbClr val="111111"/>
                </a:solidFill>
              </a:rPr>
              <a:t>Future</a:t>
            </a:r>
            <a:r>
              <a:rPr sz="3350" spc="-165" dirty="0">
                <a:solidFill>
                  <a:srgbClr val="111111"/>
                </a:solidFill>
              </a:rPr>
              <a:t> </a:t>
            </a:r>
            <a:r>
              <a:rPr sz="3350" dirty="0">
                <a:solidFill>
                  <a:srgbClr val="111111"/>
                </a:solidFill>
              </a:rPr>
              <a:t>System</a:t>
            </a:r>
            <a:r>
              <a:rPr sz="3350" spc="-65" dirty="0">
                <a:solidFill>
                  <a:srgbClr val="111111"/>
                </a:solidFill>
              </a:rPr>
              <a:t> </a:t>
            </a:r>
            <a:r>
              <a:rPr sz="3350" spc="45" dirty="0">
                <a:solidFill>
                  <a:srgbClr val="131313"/>
                </a:solidFill>
              </a:rPr>
              <a:t>Enhancements</a:t>
            </a:r>
            <a:endParaRPr sz="3350"/>
          </a:p>
        </p:txBody>
      </p:sp>
      <p:sp>
        <p:nvSpPr>
          <p:cNvPr id="4" name="object 4"/>
          <p:cNvSpPr txBox="1"/>
          <p:nvPr/>
        </p:nvSpPr>
        <p:spPr>
          <a:xfrm>
            <a:off x="1782280" y="3894903"/>
            <a:ext cx="3275329" cy="359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00" spc="50" dirty="0">
                <a:solidFill>
                  <a:srgbClr val="0A0A0A"/>
                </a:solidFill>
                <a:latin typeface="Arial MT"/>
                <a:cs typeface="Arial MT"/>
              </a:rPr>
              <a:t>Wearable</a:t>
            </a:r>
            <a:r>
              <a:rPr sz="2200" spc="-90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E0E0E"/>
                </a:solidFill>
                <a:latin typeface="Arial MT"/>
                <a:cs typeface="Arial MT"/>
              </a:rPr>
              <a:t>IoT</a:t>
            </a:r>
            <a:r>
              <a:rPr sz="2200" spc="-130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2200" spc="75" dirty="0">
                <a:solidFill>
                  <a:srgbClr val="0A0A0A"/>
                </a:solidFill>
                <a:latin typeface="Arial MT"/>
                <a:cs typeface="Arial MT"/>
              </a:rPr>
              <a:t>Integration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57319" y="4506795"/>
            <a:ext cx="4999355" cy="117094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indent="6350">
              <a:lnSpc>
                <a:spcPct val="102000"/>
              </a:lnSpc>
              <a:spcBef>
                <a:spcPts val="60"/>
              </a:spcBef>
            </a:pPr>
            <a:r>
              <a:rPr sz="2300" dirty="0">
                <a:solidFill>
                  <a:srgbClr val="3A3A3A"/>
                </a:solidFill>
                <a:latin typeface="Arial MT"/>
                <a:cs typeface="Arial MT"/>
              </a:rPr>
              <a:t>Connect</a:t>
            </a:r>
            <a:r>
              <a:rPr sz="2300" spc="370" dirty="0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343434"/>
                </a:solidFill>
                <a:latin typeface="Arial MT"/>
                <a:cs typeface="Arial MT"/>
              </a:rPr>
              <a:t>with</a:t>
            </a:r>
            <a:r>
              <a:rPr sz="2300" spc="-2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282828"/>
                </a:solidFill>
                <a:latin typeface="Arial MT"/>
                <a:cs typeface="Arial MT"/>
              </a:rPr>
              <a:t>smartwatches</a:t>
            </a:r>
            <a:r>
              <a:rPr sz="2300" spc="380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2300" spc="-25" dirty="0">
                <a:solidFill>
                  <a:srgbClr val="1F1F1F"/>
                </a:solidFill>
                <a:latin typeface="Arial MT"/>
                <a:cs typeface="Arial MT"/>
              </a:rPr>
              <a:t>and </a:t>
            </a:r>
            <a:r>
              <a:rPr sz="2550" spc="-35" dirty="0">
                <a:solidFill>
                  <a:srgbClr val="363636"/>
                </a:solidFill>
                <a:latin typeface="Arial MT"/>
                <a:cs typeface="Arial MT"/>
              </a:rPr>
              <a:t>biometric</a:t>
            </a:r>
            <a:r>
              <a:rPr sz="2550" spc="-40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2550" spc="-114" dirty="0">
                <a:solidFill>
                  <a:srgbClr val="313131"/>
                </a:solidFill>
                <a:latin typeface="Arial MT"/>
                <a:cs typeface="Arial MT"/>
              </a:rPr>
              <a:t>bands</a:t>
            </a:r>
            <a:r>
              <a:rPr sz="2550" spc="-15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550" spc="-55" dirty="0">
                <a:solidFill>
                  <a:srgbClr val="383838"/>
                </a:solidFill>
                <a:latin typeface="Arial MT"/>
                <a:cs typeface="Arial MT"/>
              </a:rPr>
              <a:t>for</a:t>
            </a:r>
            <a:r>
              <a:rPr sz="2550" spc="-204" dirty="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sz="2550" spc="-70" dirty="0">
                <a:solidFill>
                  <a:srgbClr val="313131"/>
                </a:solidFill>
                <a:latin typeface="Arial MT"/>
                <a:cs typeface="Arial MT"/>
              </a:rPr>
              <a:t>automated</a:t>
            </a:r>
            <a:r>
              <a:rPr sz="2550" spc="-65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550" spc="-114" dirty="0">
                <a:solidFill>
                  <a:srgbClr val="2F2F2F"/>
                </a:solidFill>
                <a:latin typeface="Arial MT"/>
                <a:cs typeface="Arial MT"/>
              </a:rPr>
              <a:t>stress </a:t>
            </a:r>
            <a:r>
              <a:rPr sz="2550" spc="-135" dirty="0">
                <a:solidFill>
                  <a:srgbClr val="2F2F2F"/>
                </a:solidFill>
                <a:latin typeface="Arial MT"/>
                <a:cs typeface="Arial MT"/>
              </a:rPr>
              <a:t>pulse</a:t>
            </a:r>
            <a:r>
              <a:rPr sz="2550" spc="-65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2D2D2D"/>
                </a:solidFill>
                <a:latin typeface="Arial MT"/>
                <a:cs typeface="Arial MT"/>
              </a:rPr>
              <a:t>detection.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86082" y="6690630"/>
            <a:ext cx="3151505" cy="359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00" spc="55" dirty="0">
                <a:solidFill>
                  <a:srgbClr val="131313"/>
                </a:solidFill>
                <a:latin typeface="Arial MT"/>
                <a:cs typeface="Arial MT"/>
              </a:rPr>
              <a:t>Advanced</a:t>
            </a:r>
            <a:r>
              <a:rPr sz="2200" spc="-15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2200" spc="65" dirty="0">
                <a:solidFill>
                  <a:srgbClr val="0F0F0F"/>
                </a:solidFill>
                <a:latin typeface="Arial MT"/>
                <a:cs typeface="Arial MT"/>
              </a:rPr>
              <a:t>Geospotiol</a:t>
            </a:r>
            <a:r>
              <a:rPr sz="2200" spc="-14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2200" spc="35" dirty="0">
                <a:solidFill>
                  <a:srgbClr val="181818"/>
                </a:solidFill>
                <a:latin typeface="Arial MT"/>
                <a:cs typeface="Arial MT"/>
              </a:rPr>
              <a:t>Al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54905" y="7250822"/>
            <a:ext cx="4878705" cy="1216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5080" indent="-4445">
              <a:lnSpc>
                <a:spcPct val="105000"/>
              </a:lnSpc>
              <a:spcBef>
                <a:spcPts val="100"/>
              </a:spcBef>
            </a:pPr>
            <a:r>
              <a:rPr sz="2450" spc="-30" dirty="0">
                <a:solidFill>
                  <a:srgbClr val="343434"/>
                </a:solidFill>
                <a:latin typeface="Arial MT"/>
                <a:cs typeface="Arial MT"/>
              </a:rPr>
              <a:t>Predictive</a:t>
            </a:r>
            <a:r>
              <a:rPr sz="2450" spc="-7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2450" spc="-70" dirty="0">
                <a:solidFill>
                  <a:srgbClr val="424242"/>
                </a:solidFill>
                <a:latin typeface="Arial MT"/>
                <a:cs typeface="Arial MT"/>
              </a:rPr>
              <a:t>crime</a:t>
            </a:r>
            <a:r>
              <a:rPr sz="2450" spc="-120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2450" spc="-110" dirty="0">
                <a:solidFill>
                  <a:srgbClr val="343434"/>
                </a:solidFill>
                <a:latin typeface="Arial MT"/>
                <a:cs typeface="Arial MT"/>
              </a:rPr>
              <a:t>risk</a:t>
            </a:r>
            <a:r>
              <a:rPr sz="2450" spc="-15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2D2D2D"/>
                </a:solidFill>
                <a:latin typeface="Arial MT"/>
                <a:cs typeface="Arial MT"/>
              </a:rPr>
              <a:t>modeling </a:t>
            </a:r>
            <a:r>
              <a:rPr sz="2450" spc="-65" dirty="0">
                <a:solidFill>
                  <a:srgbClr val="3A3A3A"/>
                </a:solidFill>
                <a:latin typeface="Arial MT"/>
                <a:cs typeface="Arial MT"/>
              </a:rPr>
              <a:t>leveraging</a:t>
            </a:r>
            <a:r>
              <a:rPr sz="2450" spc="-110" dirty="0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sz="2450" spc="-60" dirty="0">
                <a:solidFill>
                  <a:srgbClr val="333333"/>
                </a:solidFill>
                <a:latin typeface="Arial MT"/>
                <a:cs typeface="Arial MT"/>
              </a:rPr>
              <a:t>dynamic</a:t>
            </a:r>
            <a:r>
              <a:rPr sz="2450" spc="-2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450" spc="-100" dirty="0">
                <a:solidFill>
                  <a:srgbClr val="2F2F2F"/>
                </a:solidFill>
                <a:latin typeface="Arial MT"/>
                <a:cs typeface="Arial MT"/>
              </a:rPr>
              <a:t>spatio—</a:t>
            </a:r>
            <a:r>
              <a:rPr sz="2450" spc="-40" dirty="0">
                <a:solidFill>
                  <a:srgbClr val="2F2F2F"/>
                </a:solidFill>
                <a:latin typeface="Arial MT"/>
                <a:cs typeface="Arial MT"/>
              </a:rPr>
              <a:t>temporal</a:t>
            </a:r>
            <a:endParaRPr sz="2450">
              <a:latin typeface="Arial MT"/>
              <a:cs typeface="Arial MT"/>
            </a:endParaRPr>
          </a:p>
          <a:p>
            <a:pPr marL="18415">
              <a:lnSpc>
                <a:spcPct val="100000"/>
              </a:lnSpc>
              <a:spcBef>
                <a:spcPts val="425"/>
              </a:spcBef>
            </a:pPr>
            <a:r>
              <a:rPr sz="2300" spc="-10" dirty="0">
                <a:solidFill>
                  <a:srgbClr val="313131"/>
                </a:solidFill>
                <a:latin typeface="Arial MT"/>
                <a:cs typeface="Arial MT"/>
              </a:rPr>
              <a:t>datasets.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074912" y="3911264"/>
            <a:ext cx="3158490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spc="155" dirty="0">
                <a:solidFill>
                  <a:srgbClr val="0C0C0C"/>
                </a:solidFill>
                <a:latin typeface="Arial MT"/>
                <a:cs typeface="Arial MT"/>
              </a:rPr>
              <a:t>Voice-</a:t>
            </a:r>
            <a:r>
              <a:rPr sz="2050" spc="150" dirty="0">
                <a:solidFill>
                  <a:srgbClr val="0C0C0C"/>
                </a:solidFill>
                <a:latin typeface="Arial MT"/>
                <a:cs typeface="Arial MT"/>
              </a:rPr>
              <a:t>Activated</a:t>
            </a:r>
            <a:r>
              <a:rPr sz="2050" spc="-229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2050" spc="145" dirty="0">
                <a:solidFill>
                  <a:srgbClr val="0A0A0A"/>
                </a:solidFill>
                <a:latin typeface="Arial MT"/>
                <a:cs typeface="Arial MT"/>
              </a:rPr>
              <a:t>Trigger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41808" y="4467530"/>
            <a:ext cx="5163185" cy="1203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320" marR="5080" indent="-8255">
              <a:lnSpc>
                <a:spcPct val="112000"/>
              </a:lnSpc>
              <a:spcBef>
                <a:spcPts val="95"/>
              </a:spcBef>
            </a:pPr>
            <a:r>
              <a:rPr sz="2300" dirty="0">
                <a:solidFill>
                  <a:srgbClr val="333333"/>
                </a:solidFill>
                <a:latin typeface="Arial MT"/>
                <a:cs typeface="Arial MT"/>
              </a:rPr>
              <a:t>Implement</a:t>
            </a:r>
            <a:r>
              <a:rPr sz="2300" spc="21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300" spc="55" dirty="0">
                <a:solidFill>
                  <a:srgbClr val="313131"/>
                </a:solidFill>
                <a:latin typeface="Arial MT"/>
                <a:cs typeface="Arial MT"/>
              </a:rPr>
              <a:t>speech</a:t>
            </a:r>
            <a:r>
              <a:rPr sz="2300" spc="-25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300" spc="65" dirty="0">
                <a:solidFill>
                  <a:srgbClr val="2D2D2D"/>
                </a:solidFill>
                <a:latin typeface="Arial MT"/>
                <a:cs typeface="Arial MT"/>
              </a:rPr>
              <a:t>recognition</a:t>
            </a:r>
            <a:r>
              <a:rPr sz="2300" spc="100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2300" spc="25" dirty="0">
                <a:solidFill>
                  <a:srgbClr val="383838"/>
                </a:solidFill>
                <a:latin typeface="Arial MT"/>
                <a:cs typeface="Arial MT"/>
              </a:rPr>
              <a:t>for </a:t>
            </a:r>
            <a:r>
              <a:rPr sz="2300" spc="50" dirty="0">
                <a:solidFill>
                  <a:srgbClr val="313131"/>
                </a:solidFill>
                <a:latin typeface="Arial MT"/>
                <a:cs typeface="Arial MT"/>
              </a:rPr>
              <a:t>hands-</a:t>
            </a:r>
            <a:r>
              <a:rPr sz="2300" dirty="0">
                <a:solidFill>
                  <a:srgbClr val="313131"/>
                </a:solidFill>
                <a:latin typeface="Arial MT"/>
                <a:cs typeface="Arial MT"/>
              </a:rPr>
              <a:t>free,</a:t>
            </a:r>
            <a:r>
              <a:rPr sz="2300" spc="6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343434"/>
                </a:solidFill>
                <a:latin typeface="Arial MT"/>
                <a:cs typeface="Arial MT"/>
              </a:rPr>
              <a:t>voice</a:t>
            </a:r>
            <a:r>
              <a:rPr sz="2300" spc="6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2300" spc="65" dirty="0">
                <a:solidFill>
                  <a:srgbClr val="2B2B2B"/>
                </a:solidFill>
                <a:latin typeface="Arial MT"/>
                <a:cs typeface="Arial MT"/>
              </a:rPr>
              <a:t>keyword</a:t>
            </a:r>
            <a:r>
              <a:rPr sz="2300" spc="105" dirty="0">
                <a:solidFill>
                  <a:srgbClr val="2B2B2B"/>
                </a:solidFill>
                <a:latin typeface="Arial MT"/>
                <a:cs typeface="Arial MT"/>
              </a:rPr>
              <a:t> </a:t>
            </a:r>
            <a:r>
              <a:rPr sz="2300" spc="40" dirty="0">
                <a:solidFill>
                  <a:srgbClr val="383838"/>
                </a:solidFill>
                <a:latin typeface="Arial MT"/>
                <a:cs typeface="Arial MT"/>
              </a:rPr>
              <a:t>emergency </a:t>
            </a:r>
            <a:r>
              <a:rPr sz="2300" spc="-10" dirty="0">
                <a:solidFill>
                  <a:srgbClr val="343434"/>
                </a:solidFill>
                <a:latin typeface="Arial MT"/>
                <a:cs typeface="Arial MT"/>
              </a:rPr>
              <a:t>activation.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46123" y="6879105"/>
            <a:ext cx="5256530" cy="13836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4460">
              <a:lnSpc>
                <a:spcPct val="100000"/>
              </a:lnSpc>
              <a:spcBef>
                <a:spcPts val="90"/>
              </a:spcBef>
              <a:tabLst>
                <a:tab pos="729615" algn="l"/>
              </a:tabLst>
            </a:pPr>
            <a:r>
              <a:rPr sz="2200" spc="-290" dirty="0">
                <a:solidFill>
                  <a:srgbClr val="E41644"/>
                </a:solidFill>
                <a:latin typeface="Arial MT"/>
                <a:cs typeface="Arial MT"/>
              </a:rPr>
              <a:t>OZ</a:t>
            </a:r>
            <a:r>
              <a:rPr sz="2200" dirty="0">
                <a:solidFill>
                  <a:srgbClr val="E41644"/>
                </a:solidFill>
                <a:latin typeface="Arial MT"/>
                <a:cs typeface="Arial MT"/>
              </a:rPr>
              <a:t>	</a:t>
            </a:r>
            <a:r>
              <a:rPr sz="2200" spc="85" dirty="0">
                <a:solidFill>
                  <a:srgbClr val="0E0E0E"/>
                </a:solidFill>
                <a:latin typeface="Arial MT"/>
                <a:cs typeface="Arial MT"/>
              </a:rPr>
              <a:t>Multilingual</a:t>
            </a:r>
            <a:r>
              <a:rPr sz="2200" spc="-170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2200" spc="95" dirty="0">
                <a:solidFill>
                  <a:srgbClr val="131313"/>
                </a:solidFill>
                <a:latin typeface="Arial MT"/>
                <a:cs typeface="Arial MT"/>
              </a:rPr>
              <a:t>Interface</a:t>
            </a:r>
            <a:endParaRPr sz="2200">
              <a:latin typeface="Arial MT"/>
              <a:cs typeface="Arial MT"/>
            </a:endParaRPr>
          </a:p>
          <a:p>
            <a:pPr marL="16510" marR="5080" indent="-4445">
              <a:lnSpc>
                <a:spcPct val="112000"/>
              </a:lnSpc>
              <a:spcBef>
                <a:spcPts val="1875"/>
              </a:spcBef>
            </a:pPr>
            <a:r>
              <a:rPr sz="2300" spc="-20" dirty="0">
                <a:solidFill>
                  <a:srgbClr val="363636"/>
                </a:solidFill>
                <a:latin typeface="Arial MT"/>
                <a:cs typeface="Arial MT"/>
              </a:rPr>
              <a:t>Regional</a:t>
            </a:r>
            <a:r>
              <a:rPr sz="2300" spc="-50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3B3B3B"/>
                </a:solidFill>
                <a:latin typeface="Arial MT"/>
                <a:cs typeface="Arial MT"/>
              </a:rPr>
              <a:t>language</a:t>
            </a:r>
            <a:r>
              <a:rPr sz="2300" spc="-35" dirty="0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sz="2300" spc="70" dirty="0">
                <a:solidFill>
                  <a:srgbClr val="2F2F2F"/>
                </a:solidFill>
                <a:latin typeface="Arial MT"/>
                <a:cs typeface="Arial MT"/>
              </a:rPr>
              <a:t>adaptation</a:t>
            </a:r>
            <a:r>
              <a:rPr sz="2300" spc="-120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2300" spc="25" dirty="0">
                <a:solidFill>
                  <a:srgbClr val="363636"/>
                </a:solidFill>
                <a:latin typeface="Arial MT"/>
                <a:cs typeface="Arial MT"/>
              </a:rPr>
              <a:t>for </a:t>
            </a:r>
            <a:r>
              <a:rPr sz="2300" spc="55" dirty="0">
                <a:solidFill>
                  <a:srgbClr val="2B2B2B"/>
                </a:solidFill>
                <a:latin typeface="Arial MT"/>
                <a:cs typeface="Arial MT"/>
              </a:rPr>
              <a:t>broader</a:t>
            </a:r>
            <a:r>
              <a:rPr sz="2300" spc="-85" dirty="0">
                <a:solidFill>
                  <a:srgbClr val="2B2B2B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343434"/>
                </a:solidFill>
                <a:latin typeface="Arial MT"/>
                <a:cs typeface="Arial MT"/>
              </a:rPr>
              <a:t>usability</a:t>
            </a:r>
            <a:r>
              <a:rPr sz="2300" spc="2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282828"/>
                </a:solidFill>
                <a:latin typeface="Arial MT"/>
                <a:cs typeface="Arial MT"/>
              </a:rPr>
              <a:t>across</a:t>
            </a:r>
            <a:r>
              <a:rPr sz="2300" spc="-15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2300" spc="40" dirty="0">
                <a:solidFill>
                  <a:srgbClr val="282828"/>
                </a:solidFill>
                <a:latin typeface="Arial MT"/>
                <a:cs typeface="Arial MT"/>
              </a:rPr>
              <a:t>demographics.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644791" y="3911264"/>
            <a:ext cx="5339080" cy="17602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82575">
              <a:lnSpc>
                <a:spcPct val="100000"/>
              </a:lnSpc>
              <a:spcBef>
                <a:spcPts val="110"/>
              </a:spcBef>
              <a:tabLst>
                <a:tab pos="728980" algn="l"/>
              </a:tabLst>
            </a:pPr>
            <a:r>
              <a:rPr sz="2050" spc="-25" dirty="0">
                <a:solidFill>
                  <a:srgbClr val="D8183D"/>
                </a:solidFill>
                <a:latin typeface="Arial MT"/>
                <a:cs typeface="Arial MT"/>
              </a:rPr>
              <a:t>'o</a:t>
            </a:r>
            <a:r>
              <a:rPr sz="2050" dirty="0">
                <a:solidFill>
                  <a:srgbClr val="D8183D"/>
                </a:solidFill>
                <a:latin typeface="Arial MT"/>
                <a:cs typeface="Arial MT"/>
              </a:rPr>
              <a:t>	</a:t>
            </a:r>
            <a:r>
              <a:rPr sz="2050" spc="100" dirty="0">
                <a:solidFill>
                  <a:srgbClr val="111111"/>
                </a:solidFill>
                <a:latin typeface="Arial MT"/>
                <a:cs typeface="Arial MT"/>
              </a:rPr>
              <a:t>Emergency</a:t>
            </a:r>
            <a:r>
              <a:rPr sz="2050" spc="10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2050" spc="105" dirty="0">
                <a:solidFill>
                  <a:srgbClr val="0F0F0F"/>
                </a:solidFill>
                <a:latin typeface="Arial MT"/>
                <a:cs typeface="Arial MT"/>
              </a:rPr>
              <a:t>Services</a:t>
            </a:r>
            <a:r>
              <a:rPr sz="2050" spc="-20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2050" spc="35" dirty="0">
                <a:solidFill>
                  <a:srgbClr val="161616"/>
                </a:solidFill>
                <a:latin typeface="Arial MT"/>
                <a:cs typeface="Arial MT"/>
              </a:rPr>
              <a:t>API</a:t>
            </a:r>
            <a:endParaRPr sz="2050">
              <a:latin typeface="Arial MT"/>
              <a:cs typeface="Arial MT"/>
            </a:endParaRPr>
          </a:p>
          <a:p>
            <a:pPr marL="15875" marR="5080" indent="-3810">
              <a:lnSpc>
                <a:spcPct val="112000"/>
              </a:lnSpc>
              <a:spcBef>
                <a:spcPts val="1905"/>
              </a:spcBef>
            </a:pPr>
            <a:r>
              <a:rPr sz="2300" dirty="0">
                <a:solidFill>
                  <a:srgbClr val="313131"/>
                </a:solidFill>
                <a:latin typeface="Arial MT"/>
                <a:cs typeface="Arial MT"/>
              </a:rPr>
              <a:t>Direct</a:t>
            </a:r>
            <a:r>
              <a:rPr sz="2300" spc="105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300" spc="70" dirty="0">
                <a:solidFill>
                  <a:srgbClr val="383838"/>
                </a:solidFill>
                <a:latin typeface="Arial MT"/>
                <a:cs typeface="Arial MT"/>
              </a:rPr>
              <a:t>dispatch</a:t>
            </a:r>
            <a:r>
              <a:rPr sz="2300" spc="-100" dirty="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sz="2300" spc="50" dirty="0">
                <a:solidFill>
                  <a:srgbClr val="2D2D2D"/>
                </a:solidFill>
                <a:latin typeface="Arial MT"/>
                <a:cs typeface="Arial MT"/>
              </a:rPr>
              <a:t>integration</a:t>
            </a:r>
            <a:r>
              <a:rPr sz="2300" spc="-50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3B3B3B"/>
                </a:solidFill>
                <a:latin typeface="Arial MT"/>
                <a:cs typeface="Arial MT"/>
              </a:rPr>
              <a:t>with</a:t>
            </a:r>
            <a:r>
              <a:rPr sz="2300" spc="-155" dirty="0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333333"/>
                </a:solidFill>
                <a:latin typeface="Arial MT"/>
                <a:cs typeface="Arial MT"/>
              </a:rPr>
              <a:t>local </a:t>
            </a:r>
            <a:r>
              <a:rPr sz="2300" spc="85" dirty="0">
                <a:solidFill>
                  <a:srgbClr val="313131"/>
                </a:solidFill>
                <a:latin typeface="Arial MT"/>
                <a:cs typeface="Arial MT"/>
              </a:rPr>
              <a:t>police</a:t>
            </a:r>
            <a:r>
              <a:rPr sz="2300" spc="-114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313131"/>
                </a:solidFill>
                <a:latin typeface="Arial MT"/>
                <a:cs typeface="Arial MT"/>
              </a:rPr>
              <a:t>and</a:t>
            </a:r>
            <a:r>
              <a:rPr sz="2300" spc="-14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300" spc="50" dirty="0">
                <a:solidFill>
                  <a:srgbClr val="3A3A3A"/>
                </a:solidFill>
                <a:latin typeface="Arial MT"/>
                <a:cs typeface="Arial MT"/>
              </a:rPr>
              <a:t>medical</a:t>
            </a:r>
            <a:r>
              <a:rPr sz="2300" spc="-150" dirty="0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sz="2300" spc="50" dirty="0">
                <a:solidFill>
                  <a:srgbClr val="313131"/>
                </a:solidFill>
                <a:latin typeface="Arial MT"/>
                <a:cs typeface="Arial MT"/>
              </a:rPr>
              <a:t>emergency </a:t>
            </a:r>
            <a:r>
              <a:rPr sz="2300" spc="55" dirty="0">
                <a:solidFill>
                  <a:srgbClr val="2F2F2F"/>
                </a:solidFill>
                <a:latin typeface="Arial MT"/>
                <a:cs typeface="Arial MT"/>
              </a:rPr>
              <a:t>dispatch </a:t>
            </a:r>
            <a:r>
              <a:rPr sz="2300" spc="-10" dirty="0">
                <a:solidFill>
                  <a:srgbClr val="343434"/>
                </a:solidFill>
                <a:latin typeface="Arial MT"/>
                <a:cs typeface="Arial MT"/>
              </a:rPr>
              <a:t>centers.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813582" y="1133861"/>
            <a:ext cx="1322705" cy="2616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50" spc="75" dirty="0">
                <a:solidFill>
                  <a:srgbClr val="4D4D4D"/>
                </a:solidFill>
                <a:latin typeface="Arial MT"/>
                <a:cs typeface="Arial MT"/>
              </a:rPr>
              <a:t>Future</a:t>
            </a:r>
            <a:r>
              <a:rPr sz="1550" spc="15" dirty="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sz="1550" spc="55" dirty="0">
                <a:solidFill>
                  <a:srgbClr val="4F4F4F"/>
                </a:solidFill>
                <a:latin typeface="Arial MT"/>
                <a:cs typeface="Arial MT"/>
              </a:rPr>
              <a:t>Scope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644791" y="6879105"/>
            <a:ext cx="5306060" cy="13836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32715">
              <a:lnSpc>
                <a:spcPct val="100000"/>
              </a:lnSpc>
              <a:spcBef>
                <a:spcPts val="90"/>
              </a:spcBef>
              <a:tabLst>
                <a:tab pos="737235" algn="l"/>
              </a:tabLst>
            </a:pPr>
            <a:r>
              <a:rPr sz="2200" spc="-25" dirty="0">
                <a:solidFill>
                  <a:srgbClr val="DF2444"/>
                </a:solidFill>
                <a:latin typeface="Arial Black" panose="020B0A04020102020204"/>
                <a:cs typeface="Arial Black" panose="020B0A04020102020204"/>
              </a:rPr>
              <a:t>Jg</a:t>
            </a:r>
            <a:r>
              <a:rPr sz="2200" dirty="0">
                <a:solidFill>
                  <a:srgbClr val="DF2444"/>
                </a:solidFill>
                <a:latin typeface="Arial Black" panose="020B0A04020102020204"/>
                <a:cs typeface="Arial Black" panose="020B0A04020102020204"/>
              </a:rPr>
              <a:t>	</a:t>
            </a:r>
            <a:r>
              <a:rPr sz="2200" spc="-175" dirty="0">
                <a:solidFill>
                  <a:srgbClr val="0C0C0C"/>
                </a:solidFill>
                <a:latin typeface="Arial Black" panose="020B0A04020102020204"/>
                <a:cs typeface="Arial Black" panose="020B0A04020102020204"/>
              </a:rPr>
              <a:t>Zero-</a:t>
            </a:r>
            <a:r>
              <a:rPr sz="2200" spc="-204" dirty="0">
                <a:solidFill>
                  <a:srgbClr val="0C0C0C"/>
                </a:solidFill>
                <a:latin typeface="Arial Black" panose="020B0A04020102020204"/>
                <a:cs typeface="Arial Black" panose="020B0A04020102020204"/>
              </a:rPr>
              <a:t>Knowledge</a:t>
            </a:r>
            <a:r>
              <a:rPr sz="2200" spc="-180" dirty="0">
                <a:solidFill>
                  <a:srgbClr val="0C0C0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2200" spc="-114" dirty="0">
                <a:solidFill>
                  <a:srgbClr val="151515"/>
                </a:solidFill>
                <a:latin typeface="Arial Black" panose="020B0A04020102020204"/>
                <a:cs typeface="Arial Black" panose="020B0A04020102020204"/>
              </a:rPr>
              <a:t>Telemetry</a:t>
            </a:r>
            <a:endParaRPr sz="2200">
              <a:latin typeface="Arial Black" panose="020B0A04020102020204"/>
              <a:cs typeface="Arial Black" panose="020B0A04020102020204"/>
            </a:endParaRPr>
          </a:p>
          <a:p>
            <a:pPr marL="16510" marR="5080" indent="-4445">
              <a:lnSpc>
                <a:spcPct val="112000"/>
              </a:lnSpc>
              <a:spcBef>
                <a:spcPts val="1875"/>
              </a:spcBef>
            </a:pPr>
            <a:r>
              <a:rPr sz="2300" spc="-60" dirty="0">
                <a:solidFill>
                  <a:srgbClr val="343434"/>
                </a:solidFill>
                <a:latin typeface="Arial MT"/>
                <a:cs typeface="Arial MT"/>
              </a:rPr>
              <a:t>Privacy—</a:t>
            </a:r>
            <a:r>
              <a:rPr sz="2300" spc="-55" dirty="0">
                <a:solidFill>
                  <a:srgbClr val="343434"/>
                </a:solidFill>
                <a:latin typeface="Arial MT"/>
                <a:cs typeface="Arial MT"/>
              </a:rPr>
              <a:t>preserving</a:t>
            </a:r>
            <a:r>
              <a:rPr sz="2300" spc="-17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2300" spc="70" dirty="0">
                <a:solidFill>
                  <a:srgbClr val="3B3B3B"/>
                </a:solidFill>
                <a:latin typeface="Arial MT"/>
                <a:cs typeface="Arial MT"/>
              </a:rPr>
              <a:t>location</a:t>
            </a:r>
            <a:r>
              <a:rPr sz="2300" spc="-70" dirty="0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sz="2300" spc="55" dirty="0">
                <a:solidFill>
                  <a:srgbClr val="343434"/>
                </a:solidFill>
                <a:latin typeface="Arial MT"/>
                <a:cs typeface="Arial MT"/>
              </a:rPr>
              <a:t>encryption </a:t>
            </a:r>
            <a:r>
              <a:rPr sz="2300" dirty="0">
                <a:solidFill>
                  <a:srgbClr val="363636"/>
                </a:solidFill>
                <a:latin typeface="Arial MT"/>
                <a:cs typeface="Arial MT"/>
              </a:rPr>
              <a:t>algorithms</a:t>
            </a:r>
            <a:r>
              <a:rPr sz="2300" spc="160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313131"/>
                </a:solidFill>
                <a:latin typeface="Arial MT"/>
                <a:cs typeface="Arial MT"/>
              </a:rPr>
              <a:t>to</a:t>
            </a:r>
            <a:r>
              <a:rPr sz="2300" spc="30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3A3A3A"/>
                </a:solidFill>
                <a:latin typeface="Arial MT"/>
                <a:cs typeface="Arial MT"/>
              </a:rPr>
              <a:t>safeguard</a:t>
            </a:r>
            <a:r>
              <a:rPr sz="2300" spc="-35" dirty="0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sz="2300" spc="-30" dirty="0">
                <a:solidFill>
                  <a:srgbClr val="3A3A3A"/>
                </a:solidFill>
                <a:latin typeface="Arial MT"/>
                <a:cs typeface="Arial MT"/>
              </a:rPr>
              <a:t>user</a:t>
            </a:r>
            <a:r>
              <a:rPr sz="2300" spc="-60" dirty="0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2B2B2B"/>
                </a:solidFill>
                <a:latin typeface="Arial MT"/>
                <a:cs typeface="Arial MT"/>
              </a:rPr>
              <a:t>travel</a:t>
            </a:r>
            <a:r>
              <a:rPr sz="2300" spc="-75" dirty="0">
                <a:solidFill>
                  <a:srgbClr val="2B2B2B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2B2B2B"/>
                </a:solidFill>
                <a:latin typeface="Arial MT"/>
                <a:cs typeface="Arial MT"/>
              </a:rPr>
              <a:t>data.</a:t>
            </a:r>
            <a:endParaRPr sz="2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8195780" y="1193680"/>
            <a:ext cx="934526" cy="20418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41682" y="614898"/>
            <a:ext cx="1207135" cy="2806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50" spc="-160" dirty="0">
                <a:solidFill>
                  <a:srgbClr val="C6214B"/>
                </a:solidFill>
                <a:latin typeface="Arial Black" panose="020B0A04020102020204"/>
                <a:cs typeface="Arial Black" panose="020B0A04020102020204"/>
              </a:rPr>
              <a:t>SU</a:t>
            </a:r>
            <a:r>
              <a:rPr sz="1650" spc="-290" dirty="0">
                <a:solidFill>
                  <a:srgbClr val="C6214B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650" spc="-185" dirty="0">
                <a:solidFill>
                  <a:srgbClr val="DF1F56"/>
                </a:solidFill>
                <a:latin typeface="Arial Black" panose="020B0A04020102020204"/>
                <a:cs typeface="Arial Black" panose="020B0A04020102020204"/>
              </a:rPr>
              <a:t>Id</a:t>
            </a:r>
            <a:r>
              <a:rPr sz="1650" spc="-195" dirty="0">
                <a:solidFill>
                  <a:srgbClr val="DF1F56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650" spc="-254" dirty="0">
                <a:solidFill>
                  <a:srgbClr val="EF1550"/>
                </a:solidFill>
                <a:latin typeface="Arial Black" panose="020B0A04020102020204"/>
                <a:cs typeface="Arial Black" panose="020B0A04020102020204"/>
              </a:rPr>
              <a:t>f•l</a:t>
            </a:r>
            <a:r>
              <a:rPr sz="1650" spc="-185" dirty="0">
                <a:solidFill>
                  <a:srgbClr val="EF1550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650" spc="-125" dirty="0">
                <a:solidFill>
                  <a:srgbClr val="C3163F"/>
                </a:solidFill>
                <a:latin typeface="Arial Black" panose="020B0A04020102020204"/>
                <a:cs typeface="Arial Black" panose="020B0A04020102020204"/>
              </a:rPr>
              <a:t>ARY</a:t>
            </a:r>
            <a:endParaRPr sz="165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7355" y="10420088"/>
            <a:ext cx="4472305" cy="263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45"/>
              </a:lnSpc>
            </a:pPr>
            <a:r>
              <a:rPr sz="1650" dirty="0">
                <a:solidFill>
                  <a:srgbClr val="696969"/>
                </a:solidFill>
                <a:latin typeface="Arial MT"/>
                <a:cs typeface="Arial MT"/>
              </a:rPr>
              <a:t>Saf</a:t>
            </a:r>
            <a:r>
              <a:rPr sz="1650" spc="-114" dirty="0">
                <a:solidFill>
                  <a:srgbClr val="696969"/>
                </a:solidFill>
                <a:latin typeface="Arial MT"/>
                <a:cs typeface="Arial MT"/>
              </a:rPr>
              <a:t> </a:t>
            </a:r>
            <a:r>
              <a:rPr sz="1650" spc="65" dirty="0">
                <a:solidFill>
                  <a:srgbClr val="606060"/>
                </a:solidFill>
                <a:latin typeface="Arial MT"/>
                <a:cs typeface="Arial MT"/>
              </a:rPr>
              <a:t>eHer:</a:t>
            </a:r>
            <a:r>
              <a:rPr sz="1650" spc="15" dirty="0">
                <a:solidFill>
                  <a:srgbClr val="606060"/>
                </a:solidFill>
                <a:latin typeface="Arial MT"/>
                <a:cs typeface="Arial MT"/>
              </a:rPr>
              <a:t> </a:t>
            </a:r>
            <a:r>
              <a:rPr sz="1650" spc="-55" dirty="0">
                <a:solidFill>
                  <a:srgbClr val="95A5C3"/>
                </a:solidFill>
                <a:latin typeface="Arial MT"/>
                <a:cs typeface="Arial MT"/>
              </a:rPr>
              <a:t>AI</a:t>
            </a:r>
            <a:r>
              <a:rPr sz="1650" spc="-220" dirty="0">
                <a:solidFill>
                  <a:srgbClr val="95A5C3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646464"/>
                </a:solidFill>
                <a:latin typeface="Arial MT"/>
                <a:cs typeface="Arial MT"/>
              </a:rPr>
              <a:t>-</a:t>
            </a:r>
            <a:r>
              <a:rPr sz="1650" spc="65" dirty="0">
                <a:solidFill>
                  <a:srgbClr val="646464"/>
                </a:solidFill>
                <a:latin typeface="Arial MT"/>
                <a:cs typeface="Arial MT"/>
              </a:rPr>
              <a:t>Driven</a:t>
            </a:r>
            <a:r>
              <a:rPr sz="1650" spc="-5" dirty="0">
                <a:solidFill>
                  <a:srgbClr val="646464"/>
                </a:solidFill>
                <a:latin typeface="Arial MT"/>
                <a:cs typeface="Arial MT"/>
              </a:rPr>
              <a:t> </a:t>
            </a:r>
            <a:r>
              <a:rPr sz="1650" spc="105" dirty="0">
                <a:solidFill>
                  <a:srgbClr val="676767"/>
                </a:solidFill>
                <a:latin typeface="Arial MT"/>
                <a:cs typeface="Arial MT"/>
              </a:rPr>
              <a:t>Women</a:t>
            </a:r>
            <a:r>
              <a:rPr sz="1650" spc="5" dirty="0">
                <a:solidFill>
                  <a:srgbClr val="676767"/>
                </a:solidFill>
                <a:latin typeface="Arial MT"/>
                <a:cs typeface="Arial MT"/>
              </a:rPr>
              <a:t> </a:t>
            </a:r>
            <a:r>
              <a:rPr sz="1650" spc="100" dirty="0">
                <a:solidFill>
                  <a:srgbClr val="6B6B6B"/>
                </a:solidFill>
                <a:latin typeface="Arial MT"/>
                <a:cs typeface="Arial MT"/>
              </a:rPr>
              <a:t>Safety</a:t>
            </a:r>
            <a:r>
              <a:rPr sz="1650" spc="55" dirty="0">
                <a:solidFill>
                  <a:srgbClr val="6B6B6B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6B6B6B"/>
                </a:solidFill>
                <a:latin typeface="Arial MT"/>
                <a:cs typeface="Arial MT"/>
              </a:rPr>
              <a:t>Platf</a:t>
            </a:r>
            <a:r>
              <a:rPr sz="1650" spc="-80" dirty="0">
                <a:solidFill>
                  <a:srgbClr val="6B6B6B"/>
                </a:solidFill>
                <a:latin typeface="Arial MT"/>
                <a:cs typeface="Arial MT"/>
              </a:rPr>
              <a:t> </a:t>
            </a:r>
            <a:r>
              <a:rPr sz="1650" spc="50" dirty="0">
                <a:solidFill>
                  <a:srgbClr val="5E5E5E"/>
                </a:solidFill>
                <a:latin typeface="Arial MT"/>
                <a:cs typeface="Arial MT"/>
              </a:rPr>
              <a:t>orm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45"/>
              </a:lnSpc>
            </a:pPr>
            <a:r>
              <a:rPr dirty="0"/>
              <a:t>Slide</a:t>
            </a:r>
            <a:r>
              <a:rPr spc="25" dirty="0"/>
              <a:t> </a:t>
            </a:r>
            <a:fld id="{81D60167-4931-47E6-BA6A-407CBD079E47}" type="slidenum">
              <a:rPr spc="-25" dirty="0">
                <a:solidFill>
                  <a:srgbClr val="898989"/>
                </a:solidFill>
              </a:rPr>
            </a:fld>
            <a:endParaRPr spc="-25" dirty="0">
              <a:solidFill>
                <a:srgbClr val="898989"/>
              </a:solidFill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100"/>
              </a:spcBef>
            </a:pPr>
            <a:r>
              <a:rPr sz="3350" spc="125" dirty="0">
                <a:solidFill>
                  <a:srgbClr val="111111"/>
                </a:solidFill>
              </a:rPr>
              <a:t>Project</a:t>
            </a:r>
            <a:r>
              <a:rPr sz="3350" spc="-160" dirty="0">
                <a:solidFill>
                  <a:srgbClr val="111111"/>
                </a:solidFill>
              </a:rPr>
              <a:t> </a:t>
            </a:r>
            <a:r>
              <a:rPr sz="3350" spc="-10" dirty="0">
                <a:solidFill>
                  <a:srgbClr val="131313"/>
                </a:solidFill>
              </a:rPr>
              <a:t>Conclusion</a:t>
            </a:r>
            <a:endParaRPr sz="3350"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0640" marR="222250" indent="-28575">
              <a:lnSpc>
                <a:spcPct val="101000"/>
              </a:lnSpc>
              <a:spcBef>
                <a:spcPts val="95"/>
              </a:spcBef>
              <a:buClr>
                <a:srgbClr val="111111"/>
              </a:buClr>
              <a:buAutoNum type="arabicPeriod"/>
              <a:tabLst>
                <a:tab pos="40640" algn="l"/>
                <a:tab pos="295275" algn="l"/>
              </a:tabLst>
            </a:pPr>
            <a:r>
              <a:rPr spc="60" dirty="0">
                <a:solidFill>
                  <a:srgbClr val="050505"/>
                </a:solidFill>
              </a:rPr>
              <a:t>Paradigm</a:t>
            </a:r>
            <a:r>
              <a:rPr spc="-70" dirty="0">
                <a:solidFill>
                  <a:srgbClr val="050505"/>
                </a:solidFill>
              </a:rPr>
              <a:t> </a:t>
            </a:r>
            <a:r>
              <a:rPr spc="85" dirty="0">
                <a:solidFill>
                  <a:srgbClr val="0A0A0A"/>
                </a:solidFill>
              </a:rPr>
              <a:t>Shift</a:t>
            </a:r>
            <a:r>
              <a:rPr spc="-114" dirty="0">
                <a:solidFill>
                  <a:srgbClr val="0A0A0A"/>
                </a:solidFill>
              </a:rPr>
              <a:t> </a:t>
            </a:r>
            <a:r>
              <a:rPr spc="100" dirty="0">
                <a:solidFill>
                  <a:srgbClr val="181818"/>
                </a:solidFill>
              </a:rPr>
              <a:t>to</a:t>
            </a:r>
            <a:r>
              <a:rPr spc="-65" dirty="0">
                <a:solidFill>
                  <a:srgbClr val="181818"/>
                </a:solidFill>
              </a:rPr>
              <a:t> </a:t>
            </a:r>
            <a:r>
              <a:rPr spc="90" dirty="0">
                <a:solidFill>
                  <a:srgbClr val="0F0F0F"/>
                </a:solidFill>
              </a:rPr>
              <a:t>Proactive</a:t>
            </a:r>
            <a:r>
              <a:rPr spc="-140" dirty="0">
                <a:solidFill>
                  <a:srgbClr val="0F0F0F"/>
                </a:solidFill>
              </a:rPr>
              <a:t> </a:t>
            </a:r>
            <a:r>
              <a:rPr spc="125" dirty="0">
                <a:solidFill>
                  <a:srgbClr val="0E0E0E"/>
                </a:solidFill>
              </a:rPr>
              <a:t>Protection:</a:t>
            </a:r>
            <a:r>
              <a:rPr spc="105" dirty="0">
                <a:solidFill>
                  <a:srgbClr val="0E0E0E"/>
                </a:solidFill>
              </a:rPr>
              <a:t> </a:t>
            </a:r>
            <a:r>
              <a:rPr dirty="0">
                <a:solidFill>
                  <a:srgbClr val="363636"/>
                </a:solidFill>
              </a:rPr>
              <a:t>S</a:t>
            </a:r>
            <a:r>
              <a:rPr dirty="0">
                <a:solidFill>
                  <a:srgbClr val="2D2D2D"/>
                </a:solidFill>
              </a:rPr>
              <a:t>afeHer</a:t>
            </a:r>
            <a:r>
              <a:rPr spc="40" dirty="0">
                <a:solidFill>
                  <a:srgbClr val="2D2D2D"/>
                </a:solidFill>
              </a:rPr>
              <a:t> </a:t>
            </a:r>
            <a:r>
              <a:rPr dirty="0">
                <a:solidFill>
                  <a:srgbClr val="2F2F2F"/>
                </a:solidFill>
              </a:rPr>
              <a:t>successfully</a:t>
            </a:r>
            <a:r>
              <a:rPr spc="165" dirty="0">
                <a:solidFill>
                  <a:srgbClr val="2F2F2F"/>
                </a:solidFill>
              </a:rPr>
              <a:t> </a:t>
            </a:r>
            <a:r>
              <a:rPr dirty="0"/>
              <a:t>redefines</a:t>
            </a:r>
            <a:r>
              <a:rPr spc="-25" dirty="0"/>
              <a:t> </a:t>
            </a:r>
            <a:r>
              <a:rPr dirty="0">
                <a:solidFill>
                  <a:srgbClr val="242424"/>
                </a:solidFill>
              </a:rPr>
              <a:t>safety</a:t>
            </a:r>
            <a:r>
              <a:rPr spc="-114" dirty="0">
                <a:solidFill>
                  <a:srgbClr val="242424"/>
                </a:solidFill>
              </a:rPr>
              <a:t> </a:t>
            </a:r>
            <a:r>
              <a:rPr spc="60" dirty="0">
                <a:solidFill>
                  <a:srgbClr val="313131"/>
                </a:solidFill>
              </a:rPr>
              <a:t>platforms</a:t>
            </a:r>
            <a:r>
              <a:rPr spc="-80" dirty="0">
                <a:solidFill>
                  <a:srgbClr val="313131"/>
                </a:solidFill>
              </a:rPr>
              <a:t> </a:t>
            </a:r>
            <a:r>
              <a:rPr spc="120" dirty="0">
                <a:solidFill>
                  <a:srgbClr val="343434"/>
                </a:solidFill>
              </a:rPr>
              <a:t>by</a:t>
            </a:r>
            <a:r>
              <a:rPr spc="-105" dirty="0">
                <a:solidFill>
                  <a:srgbClr val="343434"/>
                </a:solidFill>
              </a:rPr>
              <a:t> </a:t>
            </a:r>
            <a:r>
              <a:rPr dirty="0">
                <a:solidFill>
                  <a:srgbClr val="343434"/>
                </a:solidFill>
              </a:rPr>
              <a:t>moving</a:t>
            </a:r>
            <a:r>
              <a:rPr spc="-30" dirty="0">
                <a:solidFill>
                  <a:srgbClr val="343434"/>
                </a:solidFill>
              </a:rPr>
              <a:t> </a:t>
            </a:r>
            <a:r>
              <a:rPr spc="110" dirty="0">
                <a:solidFill>
                  <a:srgbClr val="343434"/>
                </a:solidFill>
              </a:rPr>
              <a:t>from</a:t>
            </a:r>
            <a:r>
              <a:rPr spc="-220" dirty="0">
                <a:solidFill>
                  <a:srgbClr val="343434"/>
                </a:solidFill>
              </a:rPr>
              <a:t> </a:t>
            </a:r>
            <a:r>
              <a:rPr spc="-50" dirty="0">
                <a:solidFill>
                  <a:srgbClr val="2A2A2A"/>
                </a:solidFill>
              </a:rPr>
              <a:t>manual</a:t>
            </a:r>
            <a:r>
              <a:rPr spc="-90" dirty="0">
                <a:solidFill>
                  <a:srgbClr val="2A2A2A"/>
                </a:solidFill>
              </a:rPr>
              <a:t> </a:t>
            </a:r>
            <a:r>
              <a:rPr dirty="0">
                <a:solidFill>
                  <a:srgbClr val="2F2F2F"/>
                </a:solidFill>
              </a:rPr>
              <a:t>panic</a:t>
            </a:r>
            <a:r>
              <a:rPr spc="-55" dirty="0">
                <a:solidFill>
                  <a:srgbClr val="2F2F2F"/>
                </a:solidFill>
              </a:rPr>
              <a:t> </a:t>
            </a:r>
            <a:r>
              <a:rPr spc="95" dirty="0">
                <a:solidFill>
                  <a:srgbClr val="2D2D2D"/>
                </a:solidFill>
              </a:rPr>
              <a:t>buttons</a:t>
            </a:r>
            <a:r>
              <a:rPr spc="-95" dirty="0">
                <a:solidFill>
                  <a:srgbClr val="2D2D2D"/>
                </a:solidFill>
              </a:rPr>
              <a:t> </a:t>
            </a:r>
            <a:r>
              <a:rPr spc="55" dirty="0">
                <a:solidFill>
                  <a:srgbClr val="383838"/>
                </a:solidFill>
              </a:rPr>
              <a:t>to </a:t>
            </a:r>
            <a:r>
              <a:rPr dirty="0">
                <a:solidFill>
                  <a:srgbClr val="363636"/>
                </a:solidFill>
              </a:rPr>
              <a:t>continuous</a:t>
            </a:r>
            <a:r>
              <a:rPr spc="195" dirty="0">
                <a:solidFill>
                  <a:srgbClr val="363636"/>
                </a:solidFill>
              </a:rPr>
              <a:t> </a:t>
            </a:r>
            <a:r>
              <a:rPr dirty="0">
                <a:solidFill>
                  <a:srgbClr val="333333"/>
                </a:solidFill>
              </a:rPr>
              <a:t>journey</a:t>
            </a:r>
            <a:r>
              <a:rPr spc="165" dirty="0">
                <a:solidFill>
                  <a:srgbClr val="333333"/>
                </a:solidFill>
              </a:rPr>
              <a:t> </a:t>
            </a:r>
            <a:r>
              <a:rPr spc="-10" dirty="0"/>
              <a:t>monitoring.</a:t>
            </a:r>
            <a:endParaRPr spc="-10" dirty="0"/>
          </a:p>
          <a:p>
            <a:pPr>
              <a:lnSpc>
                <a:spcPct val="100000"/>
              </a:lnSpc>
              <a:buAutoNum type="arabicPeriod"/>
            </a:pPr>
          </a:p>
          <a:p>
            <a:pPr>
              <a:lnSpc>
                <a:spcPct val="100000"/>
              </a:lnSpc>
              <a:spcBef>
                <a:spcPts val="1115"/>
              </a:spcBef>
              <a:buAutoNum type="arabicPeriod"/>
            </a:pPr>
          </a:p>
          <a:p>
            <a:pPr marL="39370" marR="5080" indent="-4445">
              <a:lnSpc>
                <a:spcPts val="2780"/>
              </a:lnSpc>
              <a:buClr>
                <a:srgbClr val="0A0A0A"/>
              </a:buClr>
              <a:buAutoNum type="arabicPeriod"/>
              <a:tabLst>
                <a:tab pos="39370" algn="l"/>
                <a:tab pos="351155" algn="l"/>
              </a:tabLst>
            </a:pPr>
            <a:r>
              <a:rPr sz="2450" dirty="0">
                <a:solidFill>
                  <a:srgbClr val="070707"/>
                </a:solidFill>
              </a:rPr>
              <a:t>Integrated</a:t>
            </a:r>
            <a:r>
              <a:rPr sz="2450" spc="-155" dirty="0">
                <a:solidFill>
                  <a:srgbClr val="070707"/>
                </a:solidFill>
              </a:rPr>
              <a:t> </a:t>
            </a:r>
            <a:r>
              <a:rPr sz="2450" spc="-60" dirty="0">
                <a:solidFill>
                  <a:srgbClr val="111111"/>
                </a:solidFill>
              </a:rPr>
              <a:t>Web</a:t>
            </a:r>
            <a:r>
              <a:rPr sz="2450" spc="-204" dirty="0">
                <a:solidFill>
                  <a:srgbClr val="111111"/>
                </a:solidFill>
              </a:rPr>
              <a:t> </a:t>
            </a:r>
            <a:r>
              <a:rPr sz="2450" dirty="0">
                <a:solidFill>
                  <a:srgbClr val="0A0A0A"/>
                </a:solidFill>
              </a:rPr>
              <a:t>Solution:</a:t>
            </a:r>
            <a:r>
              <a:rPr sz="2450" spc="-5" dirty="0">
                <a:solidFill>
                  <a:srgbClr val="0A0A0A"/>
                </a:solidFill>
              </a:rPr>
              <a:t> </a:t>
            </a:r>
            <a:r>
              <a:rPr sz="2450" spc="-95" dirty="0">
                <a:solidFill>
                  <a:srgbClr val="2A2A2A"/>
                </a:solidFill>
              </a:rPr>
              <a:t>Built</a:t>
            </a:r>
            <a:r>
              <a:rPr sz="2450" spc="-5" dirty="0">
                <a:solidFill>
                  <a:srgbClr val="2A2A2A"/>
                </a:solidFill>
              </a:rPr>
              <a:t> </a:t>
            </a:r>
            <a:r>
              <a:rPr sz="2450" spc="-10" dirty="0">
                <a:solidFill>
                  <a:srgbClr val="383838"/>
                </a:solidFill>
              </a:rPr>
              <a:t>on</a:t>
            </a:r>
            <a:r>
              <a:rPr sz="2450" spc="-360" dirty="0">
                <a:solidFill>
                  <a:srgbClr val="383838"/>
                </a:solidFill>
              </a:rPr>
              <a:t> </a:t>
            </a:r>
            <a:r>
              <a:rPr sz="2450" spc="-80" dirty="0">
                <a:solidFill>
                  <a:srgbClr val="2D2D2D"/>
                </a:solidFill>
              </a:rPr>
              <a:t>React,</a:t>
            </a:r>
            <a:r>
              <a:rPr sz="2450" spc="-145" dirty="0">
                <a:solidFill>
                  <a:srgbClr val="2D2D2D"/>
                </a:solidFill>
              </a:rPr>
              <a:t> </a:t>
            </a:r>
            <a:r>
              <a:rPr sz="2450" spc="-85" dirty="0">
                <a:solidFill>
                  <a:srgbClr val="343434"/>
                </a:solidFill>
              </a:rPr>
              <a:t>Spring</a:t>
            </a:r>
            <a:r>
              <a:rPr sz="2450" spc="-55" dirty="0">
                <a:solidFill>
                  <a:srgbClr val="343434"/>
                </a:solidFill>
              </a:rPr>
              <a:t> </a:t>
            </a:r>
            <a:r>
              <a:rPr sz="2450" dirty="0">
                <a:solidFill>
                  <a:srgbClr val="2A2A2A"/>
                </a:solidFill>
              </a:rPr>
              <a:t>Boot,</a:t>
            </a:r>
            <a:r>
              <a:rPr sz="2450" spc="-170" dirty="0">
                <a:solidFill>
                  <a:srgbClr val="2A2A2A"/>
                </a:solidFill>
              </a:rPr>
              <a:t> </a:t>
            </a:r>
            <a:r>
              <a:rPr sz="2450" spc="-95" dirty="0">
                <a:solidFill>
                  <a:srgbClr val="343434"/>
                </a:solidFill>
              </a:rPr>
              <a:t>and</a:t>
            </a:r>
            <a:r>
              <a:rPr sz="2450" spc="-225" dirty="0">
                <a:solidFill>
                  <a:srgbClr val="343434"/>
                </a:solidFill>
              </a:rPr>
              <a:t> </a:t>
            </a:r>
            <a:r>
              <a:rPr sz="2450" spc="-35" dirty="0">
                <a:solidFill>
                  <a:srgbClr val="2D2D2D"/>
                </a:solidFill>
              </a:rPr>
              <a:t>PostgreSQL,</a:t>
            </a:r>
            <a:r>
              <a:rPr sz="2450" spc="70" dirty="0">
                <a:solidFill>
                  <a:srgbClr val="2D2D2D"/>
                </a:solidFill>
              </a:rPr>
              <a:t> </a:t>
            </a:r>
            <a:r>
              <a:rPr sz="2450" spc="-30" dirty="0">
                <a:solidFill>
                  <a:srgbClr val="363636"/>
                </a:solidFill>
              </a:rPr>
              <a:t>providing</a:t>
            </a:r>
            <a:r>
              <a:rPr sz="2450" spc="60" dirty="0">
                <a:solidFill>
                  <a:srgbClr val="363636"/>
                </a:solidFill>
              </a:rPr>
              <a:t> </a:t>
            </a:r>
            <a:r>
              <a:rPr sz="2450" spc="-254" dirty="0">
                <a:solidFill>
                  <a:srgbClr val="2D2D2D"/>
                </a:solidFill>
              </a:rPr>
              <a:t>a</a:t>
            </a:r>
            <a:r>
              <a:rPr sz="2450" spc="-204" dirty="0">
                <a:solidFill>
                  <a:srgbClr val="2D2D2D"/>
                </a:solidFill>
              </a:rPr>
              <a:t> </a:t>
            </a:r>
            <a:r>
              <a:rPr sz="2450" dirty="0">
                <a:solidFill>
                  <a:srgbClr val="313131"/>
                </a:solidFill>
              </a:rPr>
              <a:t>web-based</a:t>
            </a:r>
            <a:r>
              <a:rPr sz="2450" spc="-35" dirty="0">
                <a:solidFill>
                  <a:srgbClr val="313131"/>
                </a:solidFill>
              </a:rPr>
              <a:t> </a:t>
            </a:r>
            <a:r>
              <a:rPr sz="2450" spc="-30" dirty="0">
                <a:solidFill>
                  <a:srgbClr val="343434"/>
                </a:solidFill>
              </a:rPr>
              <a:t>safety</a:t>
            </a:r>
            <a:r>
              <a:rPr sz="2450" spc="-50" dirty="0">
                <a:solidFill>
                  <a:srgbClr val="343434"/>
                </a:solidFill>
              </a:rPr>
              <a:t> </a:t>
            </a:r>
            <a:r>
              <a:rPr sz="2450" dirty="0">
                <a:solidFill>
                  <a:srgbClr val="2D2D2D"/>
                </a:solidFill>
              </a:rPr>
              <a:t>platform</a:t>
            </a:r>
            <a:r>
              <a:rPr sz="2450" spc="-155" dirty="0">
                <a:solidFill>
                  <a:srgbClr val="2D2D2D"/>
                </a:solidFill>
              </a:rPr>
              <a:t> </a:t>
            </a:r>
            <a:r>
              <a:rPr sz="2450" spc="-45" dirty="0">
                <a:solidFill>
                  <a:srgbClr val="242424"/>
                </a:solidFill>
              </a:rPr>
              <a:t>accessible</a:t>
            </a:r>
            <a:r>
              <a:rPr sz="2450" spc="15" dirty="0">
                <a:solidFill>
                  <a:srgbClr val="242424"/>
                </a:solidFill>
              </a:rPr>
              <a:t> </a:t>
            </a:r>
            <a:r>
              <a:rPr sz="2450" spc="-10" dirty="0">
                <a:solidFill>
                  <a:srgbClr val="313131"/>
                </a:solidFill>
              </a:rPr>
              <a:t>without </a:t>
            </a:r>
            <a:r>
              <a:rPr sz="2450" spc="-60" dirty="0">
                <a:solidFill>
                  <a:srgbClr val="232323"/>
                </a:solidFill>
              </a:rPr>
              <a:t>installation</a:t>
            </a:r>
            <a:r>
              <a:rPr sz="2450" spc="-70" dirty="0">
                <a:solidFill>
                  <a:srgbClr val="232323"/>
                </a:solidFill>
              </a:rPr>
              <a:t> </a:t>
            </a:r>
            <a:r>
              <a:rPr sz="2450" spc="-10" dirty="0">
                <a:solidFill>
                  <a:srgbClr val="2D2D2D"/>
                </a:solidFill>
              </a:rPr>
              <a:t>hurdles.</a:t>
            </a:r>
            <a:endParaRPr sz="2450"/>
          </a:p>
          <a:p>
            <a:pPr>
              <a:lnSpc>
                <a:spcPct val="100000"/>
              </a:lnSpc>
              <a:buAutoNum type="arabicPeriod"/>
            </a:pPr>
            <a:endParaRPr sz="2450"/>
          </a:p>
          <a:p>
            <a:pPr>
              <a:lnSpc>
                <a:spcPct val="100000"/>
              </a:lnSpc>
              <a:spcBef>
                <a:spcPts val="515"/>
              </a:spcBef>
              <a:buAutoNum type="arabicPeriod"/>
            </a:pPr>
            <a:endParaRPr sz="2450"/>
          </a:p>
          <a:p>
            <a:pPr marL="41275" marR="443230" indent="-9525">
              <a:lnSpc>
                <a:spcPct val="103000"/>
              </a:lnSpc>
              <a:spcBef>
                <a:spcPts val="5"/>
              </a:spcBef>
              <a:buClr>
                <a:srgbClr val="383838"/>
              </a:buClr>
              <a:buAutoNum type="arabicPeriod"/>
              <a:tabLst>
                <a:tab pos="41275" algn="l"/>
                <a:tab pos="365760" algn="l"/>
              </a:tabLst>
            </a:pPr>
            <a:r>
              <a:rPr spc="70" dirty="0">
                <a:solidFill>
                  <a:srgbClr val="333333"/>
                </a:solidFill>
              </a:rPr>
              <a:t>AI-</a:t>
            </a:r>
            <a:r>
              <a:rPr spc="80" dirty="0">
                <a:solidFill>
                  <a:srgbClr val="333333"/>
                </a:solidFill>
              </a:rPr>
              <a:t>Assisted</a:t>
            </a:r>
            <a:r>
              <a:rPr spc="-30" dirty="0">
                <a:solidFill>
                  <a:srgbClr val="333333"/>
                </a:solidFill>
              </a:rPr>
              <a:t> </a:t>
            </a:r>
            <a:r>
              <a:rPr spc="-30" dirty="0">
                <a:solidFill>
                  <a:srgbClr val="3A3A3A"/>
                </a:solidFill>
              </a:rPr>
              <a:t>Risk</a:t>
            </a:r>
            <a:r>
              <a:rPr spc="-80" dirty="0">
                <a:solidFill>
                  <a:srgbClr val="3A3A3A"/>
                </a:solidFill>
              </a:rPr>
              <a:t> </a:t>
            </a:r>
            <a:r>
              <a:rPr dirty="0">
                <a:solidFill>
                  <a:srgbClr val="313131"/>
                </a:solidFill>
              </a:rPr>
              <a:t>Analysis:</a:t>
            </a:r>
            <a:r>
              <a:rPr spc="125" dirty="0">
                <a:solidFill>
                  <a:srgbClr val="313131"/>
                </a:solidFill>
              </a:rPr>
              <a:t> </a:t>
            </a:r>
            <a:r>
              <a:rPr spc="50" dirty="0">
                <a:solidFill>
                  <a:srgbClr val="343434"/>
                </a:solidFill>
              </a:rPr>
              <a:t>Combines</a:t>
            </a:r>
            <a:r>
              <a:rPr spc="-5" dirty="0">
                <a:solidFill>
                  <a:srgbClr val="343434"/>
                </a:solidFill>
              </a:rPr>
              <a:t> </a:t>
            </a:r>
            <a:r>
              <a:rPr spc="55" dirty="0">
                <a:solidFill>
                  <a:srgbClr val="363636"/>
                </a:solidFill>
              </a:rPr>
              <a:t>route</a:t>
            </a:r>
            <a:r>
              <a:rPr spc="-45" dirty="0">
                <a:solidFill>
                  <a:srgbClr val="363636"/>
                </a:solidFill>
              </a:rPr>
              <a:t> </a:t>
            </a:r>
            <a:r>
              <a:rPr dirty="0">
                <a:solidFill>
                  <a:srgbClr val="343434"/>
                </a:solidFill>
              </a:rPr>
              <a:t>telemetry,</a:t>
            </a:r>
            <a:r>
              <a:rPr spc="70" dirty="0">
                <a:solidFill>
                  <a:srgbClr val="343434"/>
                </a:solidFill>
              </a:rPr>
              <a:t> </a:t>
            </a:r>
            <a:r>
              <a:rPr spc="60" dirty="0">
                <a:solidFill>
                  <a:srgbClr val="313131"/>
                </a:solidFill>
              </a:rPr>
              <a:t>geofences,</a:t>
            </a:r>
            <a:r>
              <a:rPr spc="65" dirty="0">
                <a:solidFill>
                  <a:srgbClr val="313131"/>
                </a:solidFill>
              </a:rPr>
              <a:t> </a:t>
            </a:r>
            <a:r>
              <a:rPr dirty="0">
                <a:solidFill>
                  <a:srgbClr val="2D2D2D"/>
                </a:solidFill>
              </a:rPr>
              <a:t>and</a:t>
            </a:r>
            <a:r>
              <a:rPr spc="-130" dirty="0">
                <a:solidFill>
                  <a:srgbClr val="2D2D2D"/>
                </a:solidFill>
              </a:rPr>
              <a:t> </a:t>
            </a:r>
            <a:r>
              <a:rPr dirty="0">
                <a:solidFill>
                  <a:srgbClr val="2D2D2D"/>
                </a:solidFill>
              </a:rPr>
              <a:t>dynamic</a:t>
            </a:r>
            <a:r>
              <a:rPr spc="165" dirty="0">
                <a:solidFill>
                  <a:srgbClr val="2D2D2D"/>
                </a:solidFill>
              </a:rPr>
              <a:t> </a:t>
            </a:r>
            <a:r>
              <a:rPr spc="95" dirty="0">
                <a:solidFill>
                  <a:srgbClr val="3A3A3A"/>
                </a:solidFill>
              </a:rPr>
              <a:t>check-</a:t>
            </a:r>
            <a:r>
              <a:rPr spc="75" dirty="0">
                <a:solidFill>
                  <a:srgbClr val="3A3A3A"/>
                </a:solidFill>
              </a:rPr>
              <a:t>in</a:t>
            </a:r>
            <a:r>
              <a:rPr spc="-100" dirty="0">
                <a:solidFill>
                  <a:srgbClr val="3A3A3A"/>
                </a:solidFill>
              </a:rPr>
              <a:t> </a:t>
            </a:r>
            <a:r>
              <a:rPr dirty="0">
                <a:solidFill>
                  <a:srgbClr val="242424"/>
                </a:solidFill>
              </a:rPr>
              <a:t>responses</a:t>
            </a:r>
            <a:r>
              <a:rPr spc="30" dirty="0">
                <a:solidFill>
                  <a:srgbClr val="242424"/>
                </a:solidFill>
              </a:rPr>
              <a:t> </a:t>
            </a:r>
            <a:r>
              <a:rPr dirty="0">
                <a:solidFill>
                  <a:srgbClr val="2A2A2A"/>
                </a:solidFill>
              </a:rPr>
              <a:t>to</a:t>
            </a:r>
            <a:r>
              <a:rPr spc="290" dirty="0">
                <a:solidFill>
                  <a:srgbClr val="2A2A2A"/>
                </a:solidFill>
              </a:rPr>
              <a:t> </a:t>
            </a:r>
            <a:r>
              <a:rPr dirty="0">
                <a:solidFill>
                  <a:srgbClr val="2A2A2A"/>
                </a:solidFill>
              </a:rPr>
              <a:t>intelligently</a:t>
            </a:r>
            <a:r>
              <a:rPr spc="180" dirty="0">
                <a:solidFill>
                  <a:srgbClr val="2A2A2A"/>
                </a:solidFill>
              </a:rPr>
              <a:t> </a:t>
            </a:r>
            <a:r>
              <a:rPr dirty="0">
                <a:solidFill>
                  <a:srgbClr val="333333"/>
                </a:solidFill>
              </a:rPr>
              <a:t>evaluate</a:t>
            </a:r>
            <a:r>
              <a:rPr spc="80" dirty="0">
                <a:solidFill>
                  <a:srgbClr val="333333"/>
                </a:solidFill>
              </a:rPr>
              <a:t> </a:t>
            </a:r>
            <a:r>
              <a:rPr spc="-20" dirty="0"/>
              <a:t>risk </a:t>
            </a:r>
            <a:r>
              <a:rPr spc="-10" dirty="0">
                <a:solidFill>
                  <a:srgbClr val="2D2D2D"/>
                </a:solidFill>
              </a:rPr>
              <a:t>levels.</a:t>
            </a:r>
            <a:endParaRPr spc="-10" dirty="0">
              <a:solidFill>
                <a:srgbClr val="2D2D2D"/>
              </a:solidFill>
            </a:endParaRPr>
          </a:p>
          <a:p>
            <a:pPr>
              <a:lnSpc>
                <a:spcPct val="100000"/>
              </a:lnSpc>
              <a:buAutoNum type="arabicPeriod"/>
            </a:pPr>
          </a:p>
          <a:p>
            <a:pPr>
              <a:lnSpc>
                <a:spcPct val="100000"/>
              </a:lnSpc>
              <a:spcBef>
                <a:spcPts val="825"/>
              </a:spcBef>
              <a:buAutoNum type="arabicPeriod"/>
            </a:pPr>
          </a:p>
          <a:p>
            <a:pPr marL="381000" indent="-340360">
              <a:lnSpc>
                <a:spcPts val="2935"/>
              </a:lnSpc>
              <a:buClr>
                <a:srgbClr val="0F1F36"/>
              </a:buClr>
              <a:buAutoNum type="arabicPeriod"/>
              <a:tabLst>
                <a:tab pos="381000" algn="l"/>
              </a:tabLst>
            </a:pPr>
            <a:r>
              <a:rPr sz="2450" dirty="0">
                <a:solidFill>
                  <a:srgbClr val="0F0F0F"/>
                </a:solidFill>
              </a:rPr>
              <a:t>Automated</a:t>
            </a:r>
            <a:r>
              <a:rPr sz="2450" spc="-130" dirty="0">
                <a:solidFill>
                  <a:srgbClr val="0F0F0F"/>
                </a:solidFill>
              </a:rPr>
              <a:t> </a:t>
            </a:r>
            <a:r>
              <a:rPr sz="2450" dirty="0">
                <a:solidFill>
                  <a:srgbClr val="000000"/>
                </a:solidFill>
              </a:rPr>
              <a:t>Multi-Tier</a:t>
            </a:r>
            <a:r>
              <a:rPr sz="2450" spc="-80" dirty="0">
                <a:solidFill>
                  <a:srgbClr val="000000"/>
                </a:solidFill>
              </a:rPr>
              <a:t> </a:t>
            </a:r>
            <a:r>
              <a:rPr sz="2450" spc="-55" dirty="0">
                <a:solidFill>
                  <a:srgbClr val="131313"/>
                </a:solidFill>
              </a:rPr>
              <a:t>Response:</a:t>
            </a:r>
            <a:r>
              <a:rPr sz="2450" dirty="0">
                <a:solidFill>
                  <a:srgbClr val="131313"/>
                </a:solidFill>
              </a:rPr>
              <a:t> </a:t>
            </a:r>
            <a:r>
              <a:rPr sz="2450" spc="-155" dirty="0">
                <a:solidFill>
                  <a:srgbClr val="2A2A2A"/>
                </a:solidFill>
              </a:rPr>
              <a:t>Ensures</a:t>
            </a:r>
            <a:r>
              <a:rPr sz="2450" spc="-40" dirty="0">
                <a:solidFill>
                  <a:srgbClr val="2A2A2A"/>
                </a:solidFill>
              </a:rPr>
              <a:t> </a:t>
            </a:r>
            <a:r>
              <a:rPr sz="2450" spc="-35" dirty="0">
                <a:solidFill>
                  <a:srgbClr val="343434"/>
                </a:solidFill>
              </a:rPr>
              <a:t>timely</a:t>
            </a:r>
            <a:r>
              <a:rPr sz="2450" spc="-65" dirty="0">
                <a:solidFill>
                  <a:srgbClr val="343434"/>
                </a:solidFill>
              </a:rPr>
              <a:t> </a:t>
            </a:r>
            <a:r>
              <a:rPr sz="2450" spc="-10" dirty="0">
                <a:solidFill>
                  <a:srgbClr val="313131"/>
                </a:solidFill>
              </a:rPr>
              <a:t>notification</a:t>
            </a:r>
            <a:r>
              <a:rPr sz="2450" spc="-35" dirty="0">
                <a:solidFill>
                  <a:srgbClr val="313131"/>
                </a:solidFill>
              </a:rPr>
              <a:t> </a:t>
            </a:r>
            <a:r>
              <a:rPr sz="2450" spc="-10" dirty="0">
                <a:solidFill>
                  <a:srgbClr val="2A2A2A"/>
                </a:solidFill>
              </a:rPr>
              <a:t>dispatch</a:t>
            </a:r>
            <a:r>
              <a:rPr sz="2450" spc="-210" dirty="0">
                <a:solidFill>
                  <a:srgbClr val="2A2A2A"/>
                </a:solidFill>
              </a:rPr>
              <a:t> </a:t>
            </a:r>
            <a:r>
              <a:rPr sz="2450" dirty="0">
                <a:solidFill>
                  <a:srgbClr val="383838"/>
                </a:solidFill>
              </a:rPr>
              <a:t>to</a:t>
            </a:r>
            <a:r>
              <a:rPr sz="2450" spc="85" dirty="0">
                <a:solidFill>
                  <a:srgbClr val="383838"/>
                </a:solidFill>
              </a:rPr>
              <a:t> </a:t>
            </a:r>
            <a:r>
              <a:rPr sz="2450" spc="-35" dirty="0">
                <a:solidFill>
                  <a:srgbClr val="333333"/>
                </a:solidFill>
              </a:rPr>
              <a:t>emergency</a:t>
            </a:r>
            <a:r>
              <a:rPr sz="2450" spc="160" dirty="0">
                <a:solidFill>
                  <a:srgbClr val="333333"/>
                </a:solidFill>
              </a:rPr>
              <a:t> </a:t>
            </a:r>
            <a:r>
              <a:rPr sz="2450" dirty="0">
                <a:solidFill>
                  <a:srgbClr val="2B2B2B"/>
                </a:solidFill>
              </a:rPr>
              <a:t>contacts</a:t>
            </a:r>
            <a:r>
              <a:rPr sz="2450" spc="-105" dirty="0">
                <a:solidFill>
                  <a:srgbClr val="2B2B2B"/>
                </a:solidFill>
              </a:rPr>
              <a:t> </a:t>
            </a:r>
            <a:r>
              <a:rPr sz="2450" spc="-95" dirty="0">
                <a:solidFill>
                  <a:srgbClr val="2B2B2B"/>
                </a:solidFill>
              </a:rPr>
              <a:t>and</a:t>
            </a:r>
            <a:r>
              <a:rPr sz="2450" spc="-185" dirty="0">
                <a:solidFill>
                  <a:srgbClr val="2B2B2B"/>
                </a:solidFill>
              </a:rPr>
              <a:t> </a:t>
            </a:r>
            <a:r>
              <a:rPr sz="2450" spc="-75" dirty="0">
                <a:solidFill>
                  <a:srgbClr val="2B2B2B"/>
                </a:solidFill>
              </a:rPr>
              <a:t>nearby</a:t>
            </a:r>
            <a:r>
              <a:rPr sz="2450" spc="-40" dirty="0">
                <a:solidFill>
                  <a:srgbClr val="2B2B2B"/>
                </a:solidFill>
              </a:rPr>
              <a:t> </a:t>
            </a:r>
            <a:r>
              <a:rPr sz="2450" spc="-70" dirty="0">
                <a:solidFill>
                  <a:srgbClr val="2D2D2D"/>
                </a:solidFill>
              </a:rPr>
              <a:t>volunteers</a:t>
            </a:r>
            <a:r>
              <a:rPr sz="2450" spc="-15" dirty="0">
                <a:solidFill>
                  <a:srgbClr val="2D2D2D"/>
                </a:solidFill>
              </a:rPr>
              <a:t> </a:t>
            </a:r>
            <a:r>
              <a:rPr sz="2450" spc="-10" dirty="0">
                <a:solidFill>
                  <a:srgbClr val="3B3B3B"/>
                </a:solidFill>
              </a:rPr>
              <a:t>upon</a:t>
            </a:r>
            <a:r>
              <a:rPr sz="2450" spc="-260" dirty="0">
                <a:solidFill>
                  <a:srgbClr val="3B3B3B"/>
                </a:solidFill>
              </a:rPr>
              <a:t> </a:t>
            </a:r>
            <a:r>
              <a:rPr sz="2450" spc="-10" dirty="0">
                <a:solidFill>
                  <a:srgbClr val="2D2D2D"/>
                </a:solidFill>
              </a:rPr>
              <a:t>missed</a:t>
            </a:r>
            <a:endParaRPr sz="2450"/>
          </a:p>
          <a:p>
            <a:pPr marL="40640">
              <a:lnSpc>
                <a:spcPts val="2755"/>
              </a:lnSpc>
            </a:pPr>
            <a:r>
              <a:rPr spc="95" dirty="0">
                <a:solidFill>
                  <a:srgbClr val="2D2D2D"/>
                </a:solidFill>
              </a:rPr>
              <a:t>check-</a:t>
            </a:r>
            <a:r>
              <a:rPr spc="75" dirty="0">
                <a:solidFill>
                  <a:srgbClr val="2D2D2D"/>
                </a:solidFill>
              </a:rPr>
              <a:t>in</a:t>
            </a:r>
            <a:r>
              <a:rPr spc="-195" dirty="0">
                <a:solidFill>
                  <a:srgbClr val="2D2D2D"/>
                </a:solidFill>
              </a:rPr>
              <a:t> </a:t>
            </a:r>
            <a:r>
              <a:rPr spc="-10" dirty="0">
                <a:solidFill>
                  <a:srgbClr val="363636"/>
                </a:solidFill>
              </a:rPr>
              <a:t>triggers.</a:t>
            </a:r>
            <a:endParaRPr spc="-10" dirty="0">
              <a:solidFill>
                <a:srgbClr val="363636"/>
              </a:solidFill>
            </a:endParaR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  <a:spcBef>
                <a:spcPts val="1070"/>
              </a:spcBef>
            </a:pPr>
          </a:p>
          <a:p>
            <a:pPr marL="35560" marR="165735" indent="320040">
              <a:lnSpc>
                <a:spcPts val="2840"/>
              </a:lnSpc>
              <a:buClr>
                <a:srgbClr val="151515"/>
              </a:buClr>
              <a:buAutoNum type="arabicPeriod" startAt="5"/>
              <a:tabLst>
                <a:tab pos="355600" algn="l"/>
              </a:tabLst>
            </a:pPr>
            <a:r>
              <a:rPr sz="2450" dirty="0">
                <a:solidFill>
                  <a:srgbClr val="080808"/>
                </a:solidFill>
              </a:rPr>
              <a:t>Practical</a:t>
            </a:r>
            <a:r>
              <a:rPr sz="2450" spc="-160" dirty="0">
                <a:solidFill>
                  <a:srgbClr val="080808"/>
                </a:solidFill>
              </a:rPr>
              <a:t> </a:t>
            </a:r>
            <a:r>
              <a:rPr sz="2450" spc="-105" dirty="0">
                <a:solidFill>
                  <a:srgbClr val="1C2144"/>
                </a:solidFill>
              </a:rPr>
              <a:t>&amp;</a:t>
            </a:r>
            <a:r>
              <a:rPr sz="2450" spc="-200" dirty="0">
                <a:solidFill>
                  <a:srgbClr val="1C2144"/>
                </a:solidFill>
              </a:rPr>
              <a:t> </a:t>
            </a:r>
            <a:r>
              <a:rPr sz="2450" spc="-45" dirty="0">
                <a:solidFill>
                  <a:srgbClr val="0C0C0C"/>
                </a:solidFill>
              </a:rPr>
              <a:t>Scalable</a:t>
            </a:r>
            <a:r>
              <a:rPr sz="2450" spc="-195" dirty="0">
                <a:solidFill>
                  <a:srgbClr val="0C0C0C"/>
                </a:solidFill>
              </a:rPr>
              <a:t> </a:t>
            </a:r>
            <a:r>
              <a:rPr sz="2450" dirty="0">
                <a:solidFill>
                  <a:srgbClr val="111111"/>
                </a:solidFill>
              </a:rPr>
              <a:t>Engineering:</a:t>
            </a:r>
            <a:r>
              <a:rPr sz="2450" spc="-10" dirty="0">
                <a:solidFill>
                  <a:srgbClr val="111111"/>
                </a:solidFill>
              </a:rPr>
              <a:t> </a:t>
            </a:r>
            <a:r>
              <a:rPr sz="2450" spc="-135" dirty="0"/>
              <a:t>Lays</a:t>
            </a:r>
            <a:r>
              <a:rPr sz="2450" spc="-165" dirty="0"/>
              <a:t> </a:t>
            </a:r>
            <a:r>
              <a:rPr sz="2450" spc="-254" dirty="0">
                <a:solidFill>
                  <a:srgbClr val="2D2D2D"/>
                </a:solidFill>
              </a:rPr>
              <a:t>a</a:t>
            </a:r>
            <a:r>
              <a:rPr sz="2450" spc="-200" dirty="0">
                <a:solidFill>
                  <a:srgbClr val="2D2D2D"/>
                </a:solidFill>
              </a:rPr>
              <a:t> </a:t>
            </a:r>
            <a:r>
              <a:rPr sz="2450" spc="-45" dirty="0">
                <a:solidFill>
                  <a:srgbClr val="2D2D2D"/>
                </a:solidFill>
              </a:rPr>
              <a:t>foundational</a:t>
            </a:r>
            <a:r>
              <a:rPr sz="2450" spc="-25" dirty="0">
                <a:solidFill>
                  <a:srgbClr val="2D2D2D"/>
                </a:solidFill>
              </a:rPr>
              <a:t> </a:t>
            </a:r>
            <a:r>
              <a:rPr sz="2450" spc="-10" dirty="0">
                <a:solidFill>
                  <a:srgbClr val="2D2D2D"/>
                </a:solidFill>
              </a:rPr>
              <a:t>architecture</a:t>
            </a:r>
            <a:r>
              <a:rPr sz="2450" spc="25" dirty="0">
                <a:solidFill>
                  <a:srgbClr val="2D2D2D"/>
                </a:solidFill>
              </a:rPr>
              <a:t> </a:t>
            </a:r>
            <a:r>
              <a:rPr sz="2450" spc="-70" dirty="0">
                <a:solidFill>
                  <a:srgbClr val="242424"/>
                </a:solidFill>
              </a:rPr>
              <a:t>suitable</a:t>
            </a:r>
            <a:r>
              <a:rPr sz="2450" spc="-60" dirty="0">
                <a:solidFill>
                  <a:srgbClr val="242424"/>
                </a:solidFill>
              </a:rPr>
              <a:t> </a:t>
            </a:r>
            <a:r>
              <a:rPr sz="2450" spc="-10" dirty="0">
                <a:solidFill>
                  <a:srgbClr val="3D3D3D"/>
                </a:solidFill>
              </a:rPr>
              <a:t>for</a:t>
            </a:r>
            <a:r>
              <a:rPr sz="2450" spc="-185" dirty="0">
                <a:solidFill>
                  <a:srgbClr val="3D3D3D"/>
                </a:solidFill>
              </a:rPr>
              <a:t> </a:t>
            </a:r>
            <a:r>
              <a:rPr sz="2450" spc="-20" dirty="0">
                <a:solidFill>
                  <a:srgbClr val="2A2A2A"/>
                </a:solidFill>
              </a:rPr>
              <a:t>real-world</a:t>
            </a:r>
            <a:r>
              <a:rPr sz="2450" spc="-160" dirty="0">
                <a:solidFill>
                  <a:srgbClr val="2A2A2A"/>
                </a:solidFill>
              </a:rPr>
              <a:t> </a:t>
            </a:r>
            <a:r>
              <a:rPr sz="2450" spc="-10" dirty="0">
                <a:solidFill>
                  <a:srgbClr val="343434"/>
                </a:solidFill>
              </a:rPr>
              <a:t>deployment,</a:t>
            </a:r>
            <a:r>
              <a:rPr sz="2450" spc="-30" dirty="0">
                <a:solidFill>
                  <a:srgbClr val="343434"/>
                </a:solidFill>
              </a:rPr>
              <a:t> </a:t>
            </a:r>
            <a:r>
              <a:rPr sz="2450" spc="-95" dirty="0">
                <a:solidFill>
                  <a:srgbClr val="2B2B2B"/>
                </a:solidFill>
              </a:rPr>
              <a:t>smart</a:t>
            </a:r>
            <a:r>
              <a:rPr sz="2450" spc="-30" dirty="0">
                <a:solidFill>
                  <a:srgbClr val="2B2B2B"/>
                </a:solidFill>
              </a:rPr>
              <a:t> </a:t>
            </a:r>
            <a:r>
              <a:rPr sz="2450" dirty="0">
                <a:solidFill>
                  <a:srgbClr val="343434"/>
                </a:solidFill>
              </a:rPr>
              <a:t>city</a:t>
            </a:r>
            <a:r>
              <a:rPr sz="2450" spc="-180" dirty="0">
                <a:solidFill>
                  <a:srgbClr val="343434"/>
                </a:solidFill>
              </a:rPr>
              <a:t> </a:t>
            </a:r>
            <a:r>
              <a:rPr sz="2450" spc="-30" dirty="0">
                <a:solidFill>
                  <a:srgbClr val="2D2D2D"/>
                </a:solidFill>
              </a:rPr>
              <a:t>integration,</a:t>
            </a:r>
            <a:r>
              <a:rPr sz="2450" spc="-35" dirty="0">
                <a:solidFill>
                  <a:srgbClr val="2D2D2D"/>
                </a:solidFill>
              </a:rPr>
              <a:t> </a:t>
            </a:r>
            <a:r>
              <a:rPr sz="2450" spc="-25" dirty="0">
                <a:solidFill>
                  <a:srgbClr val="313131"/>
                </a:solidFill>
              </a:rPr>
              <a:t>and </a:t>
            </a:r>
            <a:r>
              <a:rPr sz="2450" spc="-75" dirty="0">
                <a:solidFill>
                  <a:srgbClr val="2B2B2B"/>
                </a:solidFill>
              </a:rPr>
              <a:t>wearable</a:t>
            </a:r>
            <a:r>
              <a:rPr sz="2450" spc="-95" dirty="0">
                <a:solidFill>
                  <a:srgbClr val="2B2B2B"/>
                </a:solidFill>
              </a:rPr>
              <a:t> </a:t>
            </a:r>
            <a:r>
              <a:rPr sz="2450" spc="-10" dirty="0">
                <a:solidFill>
                  <a:srgbClr val="2D2D2D"/>
                </a:solidFill>
              </a:rPr>
              <a:t>expansion.</a:t>
            </a:r>
            <a:endParaRPr sz="24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706" y="1052323"/>
            <a:ext cx="20080605" cy="447675"/>
          </a:xfrm>
          <a:custGeom>
            <a:avLst/>
            <a:gdLst/>
            <a:ahLst/>
            <a:cxnLst/>
            <a:rect l="l" t="t" r="r" b="b"/>
            <a:pathLst>
              <a:path w="20080605" h="447675">
                <a:moveTo>
                  <a:pt x="20080541" y="447630"/>
                </a:moveTo>
                <a:lnTo>
                  <a:pt x="0" y="447630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447630"/>
                </a:lnTo>
                <a:close/>
              </a:path>
            </a:pathLst>
          </a:custGeom>
          <a:solidFill>
            <a:srgbClr val="0F16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105"/>
              </a:spcBef>
            </a:pPr>
            <a:r>
              <a:rPr spc="-120" dirty="0"/>
              <a:t>References</a:t>
            </a:r>
            <a:r>
              <a:rPr spc="-35" dirty="0"/>
              <a:t> </a:t>
            </a:r>
            <a:r>
              <a:rPr dirty="0"/>
              <a:t>&amp;</a:t>
            </a:r>
            <a:r>
              <a:rPr spc="-575" dirty="0"/>
              <a:t> </a:t>
            </a:r>
            <a:r>
              <a:rPr spc="-105" dirty="0"/>
              <a:t>Key</a:t>
            </a:r>
            <a:r>
              <a:rPr spc="-229" dirty="0"/>
              <a:t> </a:t>
            </a:r>
            <a:r>
              <a:rPr spc="-10" dirty="0"/>
              <a:t>Bibliography</a:t>
            </a: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17303841" y="1117500"/>
            <a:ext cx="1824989" cy="2806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50" dirty="0">
                <a:solidFill>
                  <a:srgbClr val="A5A5A5"/>
                </a:solidFill>
                <a:latin typeface="Arial MT"/>
                <a:cs typeface="Arial MT"/>
              </a:rPr>
              <a:t>Academic</a:t>
            </a:r>
            <a:r>
              <a:rPr sz="1650" spc="400" dirty="0">
                <a:solidFill>
                  <a:srgbClr val="A5A5A5"/>
                </a:solidFill>
                <a:latin typeface="Arial MT"/>
                <a:cs typeface="Arial MT"/>
              </a:rPr>
              <a:t> </a:t>
            </a:r>
            <a:r>
              <a:rPr sz="1650" spc="-10" dirty="0">
                <a:solidFill>
                  <a:srgbClr val="1F2D44"/>
                </a:solidFill>
                <a:latin typeface="Arial MT"/>
                <a:cs typeface="Arial MT"/>
              </a:rPr>
              <a:t>Sources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706" y="2622956"/>
            <a:ext cx="20080605" cy="306705"/>
          </a:xfrm>
          <a:custGeom>
            <a:avLst/>
            <a:gdLst/>
            <a:ahLst/>
            <a:cxnLst/>
            <a:rect l="l" t="t" r="r" b="b"/>
            <a:pathLst>
              <a:path w="20080605" h="306705">
                <a:moveTo>
                  <a:pt x="20080541" y="306273"/>
                </a:moveTo>
                <a:lnTo>
                  <a:pt x="0" y="306273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06273"/>
                </a:lnTo>
                <a:close/>
              </a:path>
            </a:pathLst>
          </a:custGeom>
          <a:solidFill>
            <a:srgbClr val="0F16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409730" y="2510783"/>
            <a:ext cx="17522190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-270" dirty="0">
                <a:solidFill>
                  <a:srgbClr val="F4F4F4"/>
                </a:solidFill>
                <a:latin typeface="Arial MT"/>
                <a:cs typeface="Arial MT"/>
              </a:rPr>
              <a:t>S.</a:t>
            </a:r>
            <a:r>
              <a:rPr sz="2550" spc="-110" dirty="0">
                <a:solidFill>
                  <a:srgbClr val="F4F4F4"/>
                </a:solidFill>
                <a:latin typeface="Arial MT"/>
                <a:cs typeface="Arial MT"/>
              </a:rPr>
              <a:t> </a:t>
            </a:r>
            <a:r>
              <a:rPr sz="2550" spc="-229" dirty="0">
                <a:solidFill>
                  <a:srgbClr val="FFFFFF"/>
                </a:solidFill>
                <a:latin typeface="Arial MT"/>
                <a:cs typeface="Arial MT"/>
              </a:rPr>
              <a:t>Sharma,</a:t>
            </a:r>
            <a:r>
              <a:rPr sz="2550" spc="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50" spc="-260" dirty="0">
                <a:solidFill>
                  <a:srgbClr val="EDEDED"/>
                </a:solidFill>
                <a:latin typeface="Arial MT"/>
                <a:cs typeface="Arial MT"/>
              </a:rPr>
              <a:t>A.</a:t>
            </a:r>
            <a:r>
              <a:rPr sz="2550" spc="-215" dirty="0">
                <a:solidFill>
                  <a:srgbClr val="EDEDED"/>
                </a:solidFill>
                <a:latin typeface="Arial MT"/>
                <a:cs typeface="Arial MT"/>
              </a:rPr>
              <a:t> </a:t>
            </a:r>
            <a:r>
              <a:rPr sz="2550" spc="-245" dirty="0">
                <a:solidFill>
                  <a:srgbClr val="FFFFFF"/>
                </a:solidFill>
                <a:latin typeface="Arial MT"/>
                <a:cs typeface="Arial MT"/>
              </a:rPr>
              <a:t>Kumar,</a:t>
            </a:r>
            <a:r>
              <a:rPr sz="255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50" spc="-150" dirty="0">
                <a:solidFill>
                  <a:srgbClr val="F2F2F2"/>
                </a:solidFill>
                <a:latin typeface="Arial MT"/>
                <a:cs typeface="Arial MT"/>
              </a:rPr>
              <a:t>and</a:t>
            </a:r>
            <a:r>
              <a:rPr sz="2550" spc="-23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2550" spc="-305" dirty="0">
                <a:solidFill>
                  <a:srgbClr val="E4E4E4"/>
                </a:solidFill>
                <a:latin typeface="Arial MT"/>
                <a:cs typeface="Arial MT"/>
              </a:rPr>
              <a:t>P.</a:t>
            </a:r>
            <a:r>
              <a:rPr sz="2550" spc="-165" dirty="0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sz="2550" spc="-310" dirty="0">
                <a:solidFill>
                  <a:srgbClr val="EDEDED"/>
                </a:solidFill>
                <a:latin typeface="Arial MT"/>
                <a:cs typeface="Arial MT"/>
              </a:rPr>
              <a:t>R.</a:t>
            </a:r>
            <a:r>
              <a:rPr sz="2550" spc="-175" dirty="0">
                <a:solidFill>
                  <a:srgbClr val="EDEDED"/>
                </a:solidFill>
                <a:latin typeface="Arial MT"/>
                <a:cs typeface="Arial MT"/>
              </a:rPr>
              <a:t> </a:t>
            </a:r>
            <a:r>
              <a:rPr sz="2550" spc="-185" dirty="0">
                <a:solidFill>
                  <a:srgbClr val="EDEDED"/>
                </a:solidFill>
                <a:latin typeface="Arial MT"/>
                <a:cs typeface="Arial MT"/>
              </a:rPr>
              <a:t>Rao,</a:t>
            </a:r>
            <a:r>
              <a:rPr sz="2550" spc="-80" dirty="0">
                <a:solidFill>
                  <a:srgbClr val="EDEDED"/>
                </a:solidFill>
                <a:latin typeface="Arial MT"/>
                <a:cs typeface="Arial MT"/>
              </a:rPr>
              <a:t> </a:t>
            </a:r>
            <a:r>
              <a:rPr sz="2550" spc="-165" dirty="0">
                <a:solidFill>
                  <a:srgbClr val="F2F2F2"/>
                </a:solidFill>
                <a:latin typeface="Arial MT"/>
                <a:cs typeface="Arial MT"/>
              </a:rPr>
              <a:t>"Smart</a:t>
            </a:r>
            <a:r>
              <a:rPr sz="2550" spc="-2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2550" spc="-170" dirty="0">
                <a:solidFill>
                  <a:srgbClr val="FFFFFF"/>
                </a:solidFill>
                <a:latin typeface="Arial MT"/>
                <a:cs typeface="Arial MT"/>
              </a:rPr>
              <a:t>Women</a:t>
            </a:r>
            <a:r>
              <a:rPr sz="255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50" spc="-110" dirty="0">
                <a:solidFill>
                  <a:srgbClr val="F7F7F7"/>
                </a:solidFill>
                <a:latin typeface="Arial MT"/>
                <a:cs typeface="Arial MT"/>
              </a:rPr>
              <a:t>Safety</a:t>
            </a:r>
            <a:r>
              <a:rPr sz="2550" spc="40" dirty="0">
                <a:solidFill>
                  <a:srgbClr val="F7F7F7"/>
                </a:solidFill>
                <a:latin typeface="Arial MT"/>
                <a:cs typeface="Arial MT"/>
              </a:rPr>
              <a:t> </a:t>
            </a:r>
            <a:r>
              <a:rPr sz="2550" spc="-135" dirty="0">
                <a:solidFill>
                  <a:srgbClr val="FFFFFF"/>
                </a:solidFill>
                <a:latin typeface="Arial MT"/>
                <a:cs typeface="Arial MT"/>
              </a:rPr>
              <a:t>System</a:t>
            </a:r>
            <a:r>
              <a:rPr sz="2550" spc="-1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50" spc="-170" dirty="0">
                <a:solidFill>
                  <a:srgbClr val="F2F2F2"/>
                </a:solidFill>
                <a:latin typeface="Arial MT"/>
                <a:cs typeface="Arial MT"/>
              </a:rPr>
              <a:t>usinp</a:t>
            </a:r>
            <a:r>
              <a:rPr sz="2550" spc="-4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2550" spc="-140" dirty="0">
                <a:solidFill>
                  <a:srgbClr val="EDEDED"/>
                </a:solidFill>
                <a:latin typeface="Arial MT"/>
                <a:cs typeface="Arial MT"/>
              </a:rPr>
              <a:t>loT</a:t>
            </a:r>
            <a:r>
              <a:rPr sz="2550" spc="-240" dirty="0">
                <a:solidFill>
                  <a:srgbClr val="EDEDED"/>
                </a:solidFill>
                <a:latin typeface="Arial MT"/>
                <a:cs typeface="Arial MT"/>
              </a:rPr>
              <a:t> </a:t>
            </a:r>
            <a:r>
              <a:rPr sz="2550" spc="-150" dirty="0">
                <a:solidFill>
                  <a:srgbClr val="EDEDED"/>
                </a:solidFill>
                <a:latin typeface="Arial MT"/>
                <a:cs typeface="Arial MT"/>
              </a:rPr>
              <a:t>and</a:t>
            </a:r>
            <a:r>
              <a:rPr sz="2550" spc="-229" dirty="0">
                <a:solidFill>
                  <a:srgbClr val="EDEDED"/>
                </a:solidFill>
                <a:latin typeface="Arial MT"/>
                <a:cs typeface="Arial MT"/>
              </a:rPr>
              <a:t> </a:t>
            </a:r>
            <a:r>
              <a:rPr sz="2550" spc="-165" dirty="0">
                <a:solidFill>
                  <a:srgbClr val="FFFFFF"/>
                </a:solidFill>
                <a:latin typeface="Arial MT"/>
                <a:cs typeface="Arial MT"/>
              </a:rPr>
              <a:t>Machine</a:t>
            </a:r>
            <a:r>
              <a:rPr sz="2550"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50" spc="-145" dirty="0">
                <a:solidFill>
                  <a:srgbClr val="F9F9F9"/>
                </a:solidFill>
                <a:latin typeface="Arial MT"/>
                <a:cs typeface="Arial MT"/>
              </a:rPr>
              <a:t>Learning,</a:t>
            </a:r>
            <a:r>
              <a:rPr sz="2550" spc="55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2550" spc="-300" dirty="0">
                <a:solidFill>
                  <a:srgbClr val="E2E2E2"/>
                </a:solidFill>
                <a:latin typeface="Arial MT"/>
                <a:cs typeface="Arial MT"/>
              </a:rPr>
              <a:t>’</a:t>
            </a:r>
            <a:r>
              <a:rPr sz="2550" spc="-130" dirty="0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sz="2550" spc="-160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2550" spc="-1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50" i="1" spc="-310" dirty="0">
                <a:solidFill>
                  <a:srgbClr val="EFEFEF"/>
                </a:solidFill>
                <a:latin typeface="Arial" panose="020B0604020202020204"/>
                <a:cs typeface="Arial" panose="020B0604020202020204"/>
              </a:rPr>
              <a:t>IEEE</a:t>
            </a:r>
            <a:r>
              <a:rPr sz="2550" i="1" spc="-260" dirty="0">
                <a:solidFill>
                  <a:srgbClr val="EFEFE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i="1" spc="-1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International</a:t>
            </a:r>
            <a:r>
              <a:rPr sz="2550" i="1" spc="-6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i="1" spc="-85" dirty="0">
                <a:solidFill>
                  <a:srgbClr val="F2F2F2"/>
                </a:solidFill>
                <a:latin typeface="Arial" panose="020B0604020202020204"/>
                <a:cs typeface="Arial" panose="020B0604020202020204"/>
              </a:rPr>
              <a:t>Conference</a:t>
            </a:r>
            <a:r>
              <a:rPr sz="2550" i="1" spc="-105" dirty="0">
                <a:solidFill>
                  <a:srgbClr val="F2F2F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i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on</a:t>
            </a:r>
            <a:endParaRPr sz="25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5706" y="2984202"/>
            <a:ext cx="20088860" cy="314325"/>
            <a:chOff x="15706" y="2984202"/>
            <a:chExt cx="20088860" cy="314325"/>
          </a:xfrm>
        </p:grpSpPr>
        <p:pic>
          <p:nvPicPr>
            <p:cNvPr id="8" name="object 8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083736" y="2992055"/>
              <a:ext cx="7476212" cy="29056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06" y="2984202"/>
              <a:ext cx="20088393" cy="314126"/>
            </a:xfrm>
            <a:prstGeom prst="rect">
              <a:avLst/>
            </a:prstGeom>
          </p:spPr>
        </p:pic>
      </p:grpSp>
      <p:sp>
        <p:nvSpPr>
          <p:cNvPr id="10" name="object 10"/>
          <p:cNvSpPr/>
          <p:nvPr/>
        </p:nvSpPr>
        <p:spPr>
          <a:xfrm>
            <a:off x="15706" y="3910875"/>
            <a:ext cx="20080605" cy="306705"/>
          </a:xfrm>
          <a:custGeom>
            <a:avLst/>
            <a:gdLst/>
            <a:ahLst/>
            <a:cxnLst/>
            <a:rect l="l" t="t" r="r" b="b"/>
            <a:pathLst>
              <a:path w="20080605" h="306704">
                <a:moveTo>
                  <a:pt x="20080541" y="306273"/>
                </a:moveTo>
                <a:lnTo>
                  <a:pt x="0" y="306273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06273"/>
                </a:lnTo>
                <a:close/>
              </a:path>
            </a:pathLst>
          </a:custGeom>
          <a:solidFill>
            <a:srgbClr val="0F16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464104" y="3831423"/>
            <a:ext cx="17477105" cy="3790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300" spc="-195" dirty="0">
                <a:solidFill>
                  <a:srgbClr val="EFEFEF"/>
                </a:solidFill>
                <a:latin typeface="Arial MT"/>
                <a:cs typeface="Arial MT"/>
              </a:rPr>
              <a:t>R.</a:t>
            </a:r>
            <a:r>
              <a:rPr sz="2300" spc="-35" dirty="0">
                <a:solidFill>
                  <a:srgbClr val="EFEFEF"/>
                </a:solidFill>
                <a:latin typeface="Arial MT"/>
                <a:cs typeface="Arial MT"/>
              </a:rPr>
              <a:t> </a:t>
            </a:r>
            <a:r>
              <a:rPr sz="2300" spc="-75" dirty="0">
                <a:solidFill>
                  <a:srgbClr val="FFFFFF"/>
                </a:solidFill>
                <a:latin typeface="Arial MT"/>
                <a:cs typeface="Arial MT"/>
              </a:rPr>
              <a:t>Verma,</a:t>
            </a:r>
            <a:r>
              <a:rPr sz="23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-125" dirty="0">
                <a:solidFill>
                  <a:srgbClr val="EDEDED"/>
                </a:solidFill>
                <a:latin typeface="Arial MT"/>
                <a:cs typeface="Arial MT"/>
              </a:rPr>
              <a:t>M.</a:t>
            </a:r>
            <a:r>
              <a:rPr sz="2300" spc="-110" dirty="0">
                <a:solidFill>
                  <a:srgbClr val="EDEDED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F2F2F2"/>
                </a:solidFill>
                <a:latin typeface="Arial MT"/>
                <a:cs typeface="Arial MT"/>
              </a:rPr>
              <a:t>Mehta,</a:t>
            </a:r>
            <a:r>
              <a:rPr sz="2300" spc="2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F6F6F6"/>
                </a:solidFill>
                <a:latin typeface="Arial MT"/>
                <a:cs typeface="Arial MT"/>
              </a:rPr>
              <a:t>and</a:t>
            </a:r>
            <a:r>
              <a:rPr sz="2300" spc="-150" dirty="0">
                <a:solidFill>
                  <a:srgbClr val="F6F6F6"/>
                </a:solidFill>
                <a:latin typeface="Arial MT"/>
                <a:cs typeface="Arial MT"/>
              </a:rPr>
              <a:t> </a:t>
            </a:r>
            <a:r>
              <a:rPr sz="2300" spc="-120" dirty="0">
                <a:solidFill>
                  <a:srgbClr val="EDEDED"/>
                </a:solidFill>
                <a:latin typeface="Arial MT"/>
                <a:cs typeface="Arial MT"/>
              </a:rPr>
              <a:t>N.</a:t>
            </a:r>
            <a:r>
              <a:rPr sz="2300" spc="-25" dirty="0">
                <a:solidFill>
                  <a:srgbClr val="EDEDED"/>
                </a:solidFill>
                <a:latin typeface="Arial MT"/>
                <a:cs typeface="Arial MT"/>
              </a:rPr>
              <a:t> </a:t>
            </a:r>
            <a:r>
              <a:rPr sz="2300" spc="-30" dirty="0">
                <a:solidFill>
                  <a:srgbClr val="FFFFFF"/>
                </a:solidFill>
                <a:latin typeface="Arial MT"/>
                <a:cs typeface="Arial MT"/>
              </a:rPr>
              <a:t>Singh,</a:t>
            </a:r>
            <a:r>
              <a:rPr sz="23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-140" dirty="0">
                <a:solidFill>
                  <a:srgbClr val="F6F6F6"/>
                </a:solidFill>
                <a:latin typeface="Arial MT"/>
                <a:cs typeface="Arial MT"/>
              </a:rPr>
              <a:t>"AI</a:t>
            </a:r>
            <a:r>
              <a:rPr sz="2300" spc="-375" dirty="0">
                <a:solidFill>
                  <a:srgbClr val="F6F6F6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D4E2F6"/>
                </a:solidFill>
                <a:latin typeface="Arial MT"/>
                <a:cs typeface="Arial MT"/>
              </a:rPr>
              <a:t>-</a:t>
            </a:r>
            <a:r>
              <a:rPr sz="2300" dirty="0">
                <a:solidFill>
                  <a:srgbClr val="FFFFFF"/>
                </a:solidFill>
                <a:latin typeface="Arial MT"/>
                <a:cs typeface="Arial MT"/>
              </a:rPr>
              <a:t>Enabled</a:t>
            </a:r>
            <a:r>
              <a:rPr sz="23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EDEDED"/>
                </a:solidFill>
                <a:latin typeface="Arial MT"/>
                <a:cs typeface="Arial MT"/>
              </a:rPr>
              <a:t>Predictive</a:t>
            </a:r>
            <a:r>
              <a:rPr sz="2300" spc="-55" dirty="0">
                <a:solidFill>
                  <a:srgbClr val="EDEDED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F6F6F6"/>
                </a:solidFill>
                <a:latin typeface="Arial MT"/>
                <a:cs typeface="Arial MT"/>
              </a:rPr>
              <a:t>Systems</a:t>
            </a:r>
            <a:r>
              <a:rPr sz="2300" spc="45" dirty="0">
                <a:solidFill>
                  <a:srgbClr val="F6F6F6"/>
                </a:solidFill>
                <a:latin typeface="Arial MT"/>
                <a:cs typeface="Arial MT"/>
              </a:rPr>
              <a:t> </a:t>
            </a:r>
            <a:r>
              <a:rPr sz="2300" spc="50" dirty="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sz="2300" spc="-1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EBEBEB"/>
                </a:solidFill>
                <a:latin typeface="Arial MT"/>
                <a:cs typeface="Arial MT"/>
              </a:rPr>
              <a:t>Women</a:t>
            </a:r>
            <a:r>
              <a:rPr sz="2300" spc="-2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F2F2F2"/>
                </a:solidFill>
                <a:latin typeface="Arial MT"/>
                <a:cs typeface="Arial MT"/>
              </a:rPr>
              <a:t>Safety </a:t>
            </a:r>
            <a:r>
              <a:rPr sz="2300" spc="-75" dirty="0">
                <a:solidFill>
                  <a:srgbClr val="E9E9E9"/>
                </a:solidFill>
                <a:latin typeface="Arial MT"/>
                <a:cs typeface="Arial MT"/>
              </a:rPr>
              <a:t>in</a:t>
            </a:r>
            <a:r>
              <a:rPr sz="2300" spc="-140" dirty="0">
                <a:solidFill>
                  <a:srgbClr val="E9E9E9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Arial MT"/>
                <a:cs typeface="Arial MT"/>
              </a:rPr>
              <a:t>Smart</a:t>
            </a:r>
            <a:r>
              <a:rPr sz="2300" spc="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F4F4F4"/>
                </a:solidFill>
                <a:latin typeface="Arial MT"/>
                <a:cs typeface="Arial MT"/>
              </a:rPr>
              <a:t>Cities,"</a:t>
            </a:r>
            <a:r>
              <a:rPr sz="2300" spc="110" dirty="0">
                <a:solidFill>
                  <a:srgbClr val="F4F4F4"/>
                </a:solidFill>
                <a:latin typeface="Arial MT"/>
                <a:cs typeface="Arial MT"/>
              </a:rPr>
              <a:t> </a:t>
            </a:r>
            <a:r>
              <a:rPr sz="2300" i="1" dirty="0">
                <a:solidFill>
                  <a:srgbClr val="F0F0F0"/>
                </a:solidFill>
                <a:latin typeface="Arial" panose="020B0604020202020204"/>
                <a:cs typeface="Arial" panose="020B0604020202020204"/>
              </a:rPr>
              <a:t>International</a:t>
            </a:r>
            <a:r>
              <a:rPr sz="2300" i="1" spc="-25" dirty="0">
                <a:solidFill>
                  <a:srgbClr val="F0F0F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300" i="1" spc="-5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Journal</a:t>
            </a:r>
            <a:r>
              <a:rPr sz="2300" i="1" spc="-13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300" i="1" spc="13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af</a:t>
            </a:r>
            <a:r>
              <a:rPr sz="2300" i="1" spc="-9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300" i="1" spc="-10" dirty="0">
                <a:solidFill>
                  <a:srgbClr val="F6F6F6"/>
                </a:solidFill>
                <a:latin typeface="Arial" panose="020B0604020202020204"/>
                <a:cs typeface="Arial" panose="020B0604020202020204"/>
              </a:rPr>
              <a:t>Research</a:t>
            </a:r>
            <a:endParaRPr sz="23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5706" y="4272121"/>
            <a:ext cx="20088860" cy="298450"/>
            <a:chOff x="15706" y="4272121"/>
            <a:chExt cx="20088860" cy="29845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8030" y="4279974"/>
              <a:ext cx="7947402" cy="28271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706" y="4272121"/>
              <a:ext cx="20088393" cy="298420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5706" y="5198794"/>
            <a:ext cx="20080605" cy="306705"/>
          </a:xfrm>
          <a:prstGeom prst="rect">
            <a:avLst/>
          </a:prstGeom>
          <a:solidFill>
            <a:srgbClr val="0F162A"/>
          </a:solidFill>
        </p:spPr>
        <p:txBody>
          <a:bodyPr vert="horz" wrap="square" lIns="0" tIns="0" rIns="0" bIns="0" rtlCol="0">
            <a:spAutoFit/>
          </a:bodyPr>
          <a:lstStyle/>
          <a:p>
            <a:pPr marL="1468755">
              <a:lnSpc>
                <a:spcPts val="2305"/>
              </a:lnSpc>
            </a:pPr>
            <a:r>
              <a:rPr sz="2550" spc="-260" dirty="0">
                <a:solidFill>
                  <a:srgbClr val="F0F0F0"/>
                </a:solidFill>
                <a:latin typeface="Arial MT"/>
                <a:cs typeface="Arial MT"/>
              </a:rPr>
              <a:t>A.</a:t>
            </a:r>
            <a:r>
              <a:rPr sz="2550" spc="-185" dirty="0">
                <a:solidFill>
                  <a:srgbClr val="F0F0F0"/>
                </a:solidFill>
                <a:latin typeface="Arial MT"/>
                <a:cs typeface="Arial MT"/>
              </a:rPr>
              <a:t> </a:t>
            </a:r>
            <a:r>
              <a:rPr sz="2550" spc="-105" dirty="0">
                <a:solidFill>
                  <a:srgbClr val="FFFFFF"/>
                </a:solidFill>
                <a:latin typeface="Arial MT"/>
                <a:cs typeface="Arial MT"/>
              </a:rPr>
              <a:t>Gupta,</a:t>
            </a:r>
            <a:r>
              <a:rPr sz="255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50" spc="-270" dirty="0">
                <a:solidFill>
                  <a:srgbClr val="F4F4F4"/>
                </a:solidFill>
                <a:latin typeface="Arial MT"/>
                <a:cs typeface="Arial MT"/>
              </a:rPr>
              <a:t>S.</a:t>
            </a:r>
            <a:r>
              <a:rPr sz="2550" spc="-220" dirty="0">
                <a:solidFill>
                  <a:srgbClr val="F4F4F4"/>
                </a:solidFill>
                <a:latin typeface="Arial MT"/>
                <a:cs typeface="Arial MT"/>
              </a:rPr>
              <a:t> </a:t>
            </a:r>
            <a:r>
              <a:rPr sz="2550" spc="-180" dirty="0">
                <a:solidFill>
                  <a:srgbClr val="F6F6F6"/>
                </a:solidFill>
                <a:latin typeface="Arial MT"/>
                <a:cs typeface="Arial MT"/>
              </a:rPr>
              <a:t>Deshmukh,</a:t>
            </a:r>
            <a:r>
              <a:rPr sz="2550" spc="5" dirty="0">
                <a:solidFill>
                  <a:srgbClr val="F6F6F6"/>
                </a:solidFill>
                <a:latin typeface="Arial MT"/>
                <a:cs typeface="Arial MT"/>
              </a:rPr>
              <a:t> </a:t>
            </a:r>
            <a:r>
              <a:rPr sz="2550" spc="-150" dirty="0">
                <a:solidFill>
                  <a:srgbClr val="F0F0F0"/>
                </a:solidFill>
                <a:latin typeface="Arial MT"/>
                <a:cs typeface="Arial MT"/>
              </a:rPr>
              <a:t>and</a:t>
            </a:r>
            <a:r>
              <a:rPr sz="2550" spc="-245" dirty="0">
                <a:solidFill>
                  <a:srgbClr val="F0F0F0"/>
                </a:solidFill>
                <a:latin typeface="Arial MT"/>
                <a:cs typeface="Arial MT"/>
              </a:rPr>
              <a:t> </a:t>
            </a:r>
            <a:r>
              <a:rPr sz="2550" spc="-240" dirty="0">
                <a:solidFill>
                  <a:srgbClr val="EBEBEB"/>
                </a:solidFill>
                <a:latin typeface="Arial MT"/>
                <a:cs typeface="Arial MT"/>
              </a:rPr>
              <a:t>K.</a:t>
            </a:r>
            <a:r>
              <a:rPr sz="2550" spc="-22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550" spc="-70" dirty="0">
                <a:solidFill>
                  <a:srgbClr val="FFFFFF"/>
                </a:solidFill>
                <a:latin typeface="Arial MT"/>
                <a:cs typeface="Arial MT"/>
              </a:rPr>
              <a:t>Patty,</a:t>
            </a:r>
            <a:r>
              <a:rPr sz="2550" spc="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50" spc="-85" dirty="0">
                <a:solidFill>
                  <a:srgbClr val="EDEDED"/>
                </a:solidFill>
                <a:latin typeface="Arial MT"/>
                <a:cs typeface="Arial MT"/>
              </a:rPr>
              <a:t>’Holistic</a:t>
            </a:r>
            <a:r>
              <a:rPr sz="2550" spc="-10" dirty="0">
                <a:solidFill>
                  <a:srgbClr val="EDEDED"/>
                </a:solidFill>
                <a:latin typeface="Arial MT"/>
                <a:cs typeface="Arial MT"/>
              </a:rPr>
              <a:t> </a:t>
            </a:r>
            <a:r>
              <a:rPr sz="2550" spc="-155" dirty="0">
                <a:solidFill>
                  <a:srgbClr val="FFFFFF"/>
                </a:solidFill>
                <a:latin typeface="Arial MT"/>
                <a:cs typeface="Arial MT"/>
              </a:rPr>
              <a:t>Framework</a:t>
            </a:r>
            <a:r>
              <a:rPr sz="255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50" spc="-55" dirty="0">
                <a:solidFill>
                  <a:srgbClr val="F6F6F6"/>
                </a:solidFill>
                <a:latin typeface="Arial MT"/>
                <a:cs typeface="Arial MT"/>
              </a:rPr>
              <a:t>for</a:t>
            </a:r>
            <a:r>
              <a:rPr sz="2550" spc="-210" dirty="0">
                <a:solidFill>
                  <a:srgbClr val="F6F6F6"/>
                </a:solidFill>
                <a:latin typeface="Arial MT"/>
                <a:cs typeface="Arial MT"/>
              </a:rPr>
              <a:t> </a:t>
            </a:r>
            <a:r>
              <a:rPr sz="2550" spc="-165" dirty="0">
                <a:solidFill>
                  <a:srgbClr val="FFFFFF"/>
                </a:solidFill>
                <a:latin typeface="Arial MT"/>
                <a:cs typeface="Arial MT"/>
              </a:rPr>
              <a:t>Women</a:t>
            </a:r>
            <a:r>
              <a:rPr sz="25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50" spc="-310" dirty="0">
                <a:solidFill>
                  <a:srgbClr val="464D62"/>
                </a:solidFill>
                <a:latin typeface="Arial MT"/>
                <a:cs typeface="Arial MT"/>
              </a:rPr>
              <a:t>s</a:t>
            </a:r>
            <a:r>
              <a:rPr sz="2550" spc="-185" dirty="0">
                <a:solidFill>
                  <a:srgbClr val="464D62"/>
                </a:solidFill>
                <a:latin typeface="Arial MT"/>
                <a:cs typeface="Arial MT"/>
              </a:rPr>
              <a:t> </a:t>
            </a:r>
            <a:r>
              <a:rPr sz="2550" spc="-114" dirty="0">
                <a:solidFill>
                  <a:srgbClr val="F2F2F2"/>
                </a:solidFill>
                <a:latin typeface="Arial MT"/>
                <a:cs typeface="Arial MT"/>
              </a:rPr>
              <a:t>Safety:</a:t>
            </a:r>
            <a:r>
              <a:rPr sz="2550" spc="-9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2550" spc="-155" dirty="0">
                <a:solidFill>
                  <a:srgbClr val="F6F6F6"/>
                </a:solidFill>
                <a:latin typeface="Arial MT"/>
                <a:cs typeface="Arial MT"/>
              </a:rPr>
              <a:t>Crime</a:t>
            </a:r>
            <a:r>
              <a:rPr sz="2550" spc="-145" dirty="0">
                <a:solidFill>
                  <a:srgbClr val="F6F6F6"/>
                </a:solidFill>
                <a:latin typeface="Arial MT"/>
                <a:cs typeface="Arial MT"/>
              </a:rPr>
              <a:t> </a:t>
            </a:r>
            <a:r>
              <a:rPr sz="2550" spc="-110" dirty="0">
                <a:solidFill>
                  <a:srgbClr val="FFFFFF"/>
                </a:solidFill>
                <a:latin typeface="Arial MT"/>
                <a:cs typeface="Arial MT"/>
              </a:rPr>
              <a:t>Mapping</a:t>
            </a:r>
            <a:r>
              <a:rPr sz="2550" spc="-1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50" spc="-15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2550" spc="-25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50" spc="-120" dirty="0">
                <a:solidFill>
                  <a:srgbClr val="F7F7F7"/>
                </a:solidFill>
                <a:latin typeface="Arial MT"/>
                <a:cs typeface="Arial MT"/>
              </a:rPr>
              <a:t>Emergency</a:t>
            </a:r>
            <a:r>
              <a:rPr sz="2550" spc="35" dirty="0">
                <a:solidFill>
                  <a:srgbClr val="F7F7F7"/>
                </a:solidFill>
                <a:latin typeface="Arial MT"/>
                <a:cs typeface="Arial MT"/>
              </a:rPr>
              <a:t> </a:t>
            </a:r>
            <a:r>
              <a:rPr sz="2550" spc="-135" dirty="0">
                <a:solidFill>
                  <a:srgbClr val="FFFFFF"/>
                </a:solidFill>
                <a:latin typeface="Arial MT"/>
                <a:cs typeface="Arial MT"/>
              </a:rPr>
              <a:t>Response."</a:t>
            </a:r>
            <a:r>
              <a:rPr sz="2550" spc="1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50" i="1" spc="-33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IEEE</a:t>
            </a:r>
            <a:endParaRPr sz="25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5706" y="5560040"/>
            <a:ext cx="20080605" cy="290830"/>
          </a:xfrm>
          <a:custGeom>
            <a:avLst/>
            <a:gdLst/>
            <a:ahLst/>
            <a:cxnLst/>
            <a:rect l="l" t="t" r="r" b="b"/>
            <a:pathLst>
              <a:path w="20080605" h="290829">
                <a:moveTo>
                  <a:pt x="20080541" y="290567"/>
                </a:moveTo>
                <a:lnTo>
                  <a:pt x="0" y="290567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905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021510" y="5464227"/>
            <a:ext cx="5192395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450" i="1" spc="-27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/ccess,voIl</a:t>
            </a:r>
            <a:r>
              <a:rPr sz="2450" i="1" spc="-235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  </a:t>
            </a:r>
            <a:r>
              <a:rPr sz="2450" spc="-13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pp</a:t>
            </a:r>
            <a:r>
              <a:rPr sz="2450" spc="-459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50" spc="-25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l420o-</a:t>
            </a:r>
            <a:r>
              <a:rPr sz="2450" spc="-204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14218,2023.</a:t>
            </a:r>
            <a:endParaRPr sz="245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706" y="6486713"/>
            <a:ext cx="20080605" cy="306705"/>
          </a:xfrm>
          <a:prstGeom prst="rect">
            <a:avLst/>
          </a:prstGeom>
          <a:solidFill>
            <a:srgbClr val="0F162A"/>
          </a:solidFill>
        </p:spPr>
        <p:txBody>
          <a:bodyPr vert="horz" wrap="square" lIns="0" tIns="0" rIns="0" bIns="0" rtlCol="0">
            <a:spAutoFit/>
          </a:bodyPr>
          <a:lstStyle/>
          <a:p>
            <a:pPr marL="1931035">
              <a:lnSpc>
                <a:spcPts val="2285"/>
              </a:lnSpc>
            </a:pPr>
            <a:r>
              <a:rPr sz="2450" spc="-254" dirty="0">
                <a:solidFill>
                  <a:srgbClr val="EBEBEB"/>
                </a:solidFill>
                <a:latin typeface="Arial MT"/>
                <a:cs typeface="Arial MT"/>
              </a:rPr>
              <a:t>P.</a:t>
            </a:r>
            <a:r>
              <a:rPr sz="2450" spc="-16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450" spc="-185" dirty="0">
                <a:solidFill>
                  <a:srgbClr val="EDEDED"/>
                </a:solidFill>
                <a:latin typeface="Arial MT"/>
                <a:cs typeface="Arial MT"/>
              </a:rPr>
              <a:t>K. </a:t>
            </a:r>
            <a:r>
              <a:rPr sz="2450" spc="-180" dirty="0">
                <a:solidFill>
                  <a:srgbClr val="F0F0F0"/>
                </a:solidFill>
                <a:latin typeface="Arial MT"/>
                <a:cs typeface="Arial MT"/>
              </a:rPr>
              <a:t>Dash,</a:t>
            </a:r>
            <a:r>
              <a:rPr sz="2450" spc="-120" dirty="0">
                <a:solidFill>
                  <a:srgbClr val="F0F0F0"/>
                </a:solidFill>
                <a:latin typeface="Arial MT"/>
                <a:cs typeface="Arial MT"/>
              </a:rPr>
              <a:t> </a:t>
            </a:r>
            <a:r>
              <a:rPr sz="2450" spc="-260" dirty="0">
                <a:solidFill>
                  <a:srgbClr val="EDEDED"/>
                </a:solidFill>
                <a:latin typeface="Arial MT"/>
                <a:cs typeface="Arial MT"/>
              </a:rPr>
              <a:t>R.</a:t>
            </a:r>
            <a:r>
              <a:rPr sz="2450" spc="-160" dirty="0">
                <a:solidFill>
                  <a:srgbClr val="EDEDED"/>
                </a:solidFill>
                <a:latin typeface="Arial MT"/>
                <a:cs typeface="Arial MT"/>
              </a:rPr>
              <a:t> </a:t>
            </a:r>
            <a:r>
              <a:rPr sz="2450" spc="-195" dirty="0">
                <a:solidFill>
                  <a:srgbClr val="EBEBEB"/>
                </a:solidFill>
                <a:latin typeface="Arial MT"/>
                <a:cs typeface="Arial MT"/>
              </a:rPr>
              <a:t>N.</a:t>
            </a:r>
            <a:r>
              <a:rPr sz="2450" spc="-18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450" spc="-130" dirty="0">
                <a:solidFill>
                  <a:srgbClr val="FFFFFF"/>
                </a:solidFill>
                <a:latin typeface="Arial MT"/>
                <a:cs typeface="Arial MT"/>
              </a:rPr>
              <a:t>Behera,</a:t>
            </a:r>
            <a:r>
              <a:rPr sz="245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105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2450" spc="-2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185" dirty="0">
                <a:solidFill>
                  <a:srgbClr val="E6E6E6"/>
                </a:solidFill>
                <a:latin typeface="Arial MT"/>
                <a:cs typeface="Arial MT"/>
              </a:rPr>
              <a:t>S.</a:t>
            </a:r>
            <a:r>
              <a:rPr sz="2450" spc="-175" dirty="0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sz="2450" spc="-85" dirty="0">
                <a:solidFill>
                  <a:srgbClr val="F2F2F2"/>
                </a:solidFill>
                <a:latin typeface="Arial MT"/>
                <a:cs typeface="Arial MT"/>
              </a:rPr>
              <a:t>Sahoo,</a:t>
            </a:r>
            <a:r>
              <a:rPr sz="2450" spc="-6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2450" spc="-195" dirty="0">
                <a:solidFill>
                  <a:srgbClr val="FFFFFF"/>
                </a:solidFill>
                <a:latin typeface="Arial MT"/>
                <a:cs typeface="Arial MT"/>
              </a:rPr>
              <a:t>"Location—</a:t>
            </a:r>
            <a:r>
              <a:rPr sz="2450" spc="-1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110" dirty="0">
                <a:solidFill>
                  <a:srgbClr val="F0F0F0"/>
                </a:solidFill>
                <a:latin typeface="Arial MT"/>
                <a:cs typeface="Arial MT"/>
              </a:rPr>
              <a:t>Based</a:t>
            </a:r>
            <a:r>
              <a:rPr sz="2450" spc="-204" dirty="0">
                <a:solidFill>
                  <a:srgbClr val="F0F0F0"/>
                </a:solidFill>
                <a:latin typeface="Arial MT"/>
                <a:cs typeface="Arial MT"/>
              </a:rPr>
              <a:t> </a:t>
            </a:r>
            <a:r>
              <a:rPr sz="2450" spc="-25" dirty="0">
                <a:solidFill>
                  <a:srgbClr val="FFFFFF"/>
                </a:solidFill>
                <a:latin typeface="Arial MT"/>
                <a:cs typeface="Arial MT"/>
              </a:rPr>
              <a:t>Intelligent</a:t>
            </a:r>
            <a:r>
              <a:rPr sz="245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60" dirty="0">
                <a:solidFill>
                  <a:srgbClr val="FFFFFF"/>
                </a:solidFill>
                <a:latin typeface="Arial MT"/>
                <a:cs typeface="Arial MT"/>
              </a:rPr>
              <a:t>Emergency</a:t>
            </a:r>
            <a:r>
              <a:rPr sz="2450" spc="1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95" dirty="0">
                <a:solidFill>
                  <a:srgbClr val="F4F4F4"/>
                </a:solidFill>
                <a:latin typeface="Arial MT"/>
                <a:cs typeface="Arial MT"/>
              </a:rPr>
              <a:t>Assistance</a:t>
            </a:r>
            <a:r>
              <a:rPr sz="2450" spc="35" dirty="0">
                <a:solidFill>
                  <a:srgbClr val="F4F4F4"/>
                </a:solidFill>
                <a:latin typeface="Arial MT"/>
                <a:cs typeface="Arial MT"/>
              </a:rPr>
              <a:t> </a:t>
            </a:r>
            <a:r>
              <a:rPr sz="2450" spc="-105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2450" spc="-2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110" dirty="0">
                <a:solidFill>
                  <a:srgbClr val="EDEDED"/>
                </a:solidFill>
                <a:latin typeface="Arial MT"/>
                <a:cs typeface="Arial MT"/>
              </a:rPr>
              <a:t>Safe</a:t>
            </a:r>
            <a:r>
              <a:rPr sz="2450" spc="-190" dirty="0">
                <a:solidFill>
                  <a:srgbClr val="EDEDED"/>
                </a:solidFill>
                <a:latin typeface="Arial MT"/>
                <a:cs typeface="Arial MT"/>
              </a:rPr>
              <a:t> </a:t>
            </a:r>
            <a:r>
              <a:rPr sz="2450" spc="-100" dirty="0">
                <a:solidFill>
                  <a:srgbClr val="F2F2F2"/>
                </a:solidFill>
                <a:latin typeface="Arial MT"/>
                <a:cs typeface="Arial MT"/>
              </a:rPr>
              <a:t>Route</a:t>
            </a:r>
            <a:r>
              <a:rPr sz="2450" spc="-14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FFFFFF"/>
                </a:solidFill>
                <a:latin typeface="Arial MT"/>
                <a:cs typeface="Arial MT"/>
              </a:rPr>
              <a:t>Recommendation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706" y="6847958"/>
            <a:ext cx="20080605" cy="306705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0" rIns="0" bIns="0" rtlCol="0">
            <a:spAutoFit/>
          </a:bodyPr>
          <a:lstStyle/>
          <a:p>
            <a:pPr marL="1016000">
              <a:lnSpc>
                <a:spcPts val="2285"/>
              </a:lnSpc>
            </a:pPr>
            <a:r>
              <a:rPr sz="2450" spc="-265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System.</a:t>
            </a:r>
            <a:r>
              <a:rPr sz="2450" spc="-285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50" i="1" spc="-105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8prnge</a:t>
            </a:r>
            <a:r>
              <a:rPr sz="2450" i="1" spc="-25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50" spc="-17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iNSJ.voL842</a:t>
            </a:r>
            <a:r>
              <a:rPr sz="2450" spc="-45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50" spc="-13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ppll5-</a:t>
            </a:r>
            <a:r>
              <a:rPr sz="2450" spc="-1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l2ì2022.</a:t>
            </a:r>
            <a:endParaRPr sz="245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5706" y="7774632"/>
            <a:ext cx="20080605" cy="306705"/>
          </a:xfrm>
          <a:custGeom>
            <a:avLst/>
            <a:gdLst/>
            <a:ahLst/>
            <a:cxnLst/>
            <a:rect l="l" t="t" r="r" b="b"/>
            <a:pathLst>
              <a:path w="20080605" h="306704">
                <a:moveTo>
                  <a:pt x="20080541" y="306273"/>
                </a:moveTo>
                <a:lnTo>
                  <a:pt x="0" y="306273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06273"/>
                </a:lnTo>
                <a:close/>
              </a:path>
            </a:pathLst>
          </a:custGeom>
          <a:solidFill>
            <a:srgbClr val="0F16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1464183" y="7678819"/>
            <a:ext cx="17217390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spc="-200" dirty="0">
                <a:solidFill>
                  <a:srgbClr val="F2F2F2"/>
                </a:solidFill>
                <a:latin typeface="Arial MT"/>
                <a:cs typeface="Arial MT"/>
              </a:rPr>
              <a:t>M.</a:t>
            </a:r>
            <a:r>
              <a:rPr sz="2450" spc="-18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2450" spc="-100" dirty="0">
                <a:solidFill>
                  <a:srgbClr val="FFFFFF"/>
                </a:solidFill>
                <a:latin typeface="Arial MT"/>
                <a:cs typeface="Arial MT"/>
              </a:rPr>
              <a:t>Patel,</a:t>
            </a:r>
            <a:r>
              <a:rPr sz="2450" spc="-1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195" dirty="0">
                <a:solidFill>
                  <a:srgbClr val="F0F0F0"/>
                </a:solidFill>
                <a:latin typeface="Arial MT"/>
                <a:cs typeface="Arial MT"/>
              </a:rPr>
              <a:t>H.</a:t>
            </a:r>
            <a:r>
              <a:rPr sz="2450" spc="-105" dirty="0">
                <a:solidFill>
                  <a:srgbClr val="F0F0F0"/>
                </a:solidFill>
                <a:latin typeface="Arial MT"/>
                <a:cs typeface="Arial MT"/>
              </a:rPr>
              <a:t> </a:t>
            </a:r>
            <a:r>
              <a:rPr sz="2450" spc="-190" dirty="0">
                <a:solidFill>
                  <a:srgbClr val="FFFFFF"/>
                </a:solidFill>
                <a:latin typeface="Arial MT"/>
                <a:cs typeface="Arial MT"/>
              </a:rPr>
              <a:t>Shah,</a:t>
            </a:r>
            <a:r>
              <a:rPr sz="245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105" dirty="0">
                <a:solidFill>
                  <a:srgbClr val="F2F2F2"/>
                </a:solidFill>
                <a:latin typeface="Arial MT"/>
                <a:cs typeface="Arial MT"/>
              </a:rPr>
              <a:t>and</a:t>
            </a:r>
            <a:r>
              <a:rPr sz="2450" spc="-22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2450" spc="-185" dirty="0">
                <a:solidFill>
                  <a:srgbClr val="F2F2F2"/>
                </a:solidFill>
                <a:latin typeface="Arial MT"/>
                <a:cs typeface="Arial MT"/>
              </a:rPr>
              <a:t>K.</a:t>
            </a:r>
            <a:r>
              <a:rPr sz="2450" spc="-12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2450" spc="-105" dirty="0">
                <a:solidFill>
                  <a:srgbClr val="FFFFFF"/>
                </a:solidFill>
                <a:latin typeface="Arial MT"/>
                <a:cs typeface="Arial MT"/>
              </a:rPr>
              <a:t>Joshi,</a:t>
            </a:r>
            <a:r>
              <a:rPr sz="2450" spc="1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210" dirty="0">
                <a:solidFill>
                  <a:srgbClr val="FFFFFF"/>
                </a:solidFill>
                <a:latin typeface="Arial MT"/>
                <a:cs typeface="Arial MT"/>
              </a:rPr>
              <a:t>’An</a:t>
            </a:r>
            <a:r>
              <a:rPr sz="2450" spc="-1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20" dirty="0">
                <a:solidFill>
                  <a:srgbClr val="FFFFFF"/>
                </a:solidFill>
                <a:latin typeface="Arial MT"/>
                <a:cs typeface="Arial MT"/>
              </a:rPr>
              <a:t>Automated</a:t>
            </a:r>
            <a:r>
              <a:rPr sz="2450" spc="-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45" dirty="0">
                <a:solidFill>
                  <a:srgbClr val="EDEDED"/>
                </a:solidFill>
                <a:latin typeface="Arial MT"/>
                <a:cs typeface="Arial MT"/>
              </a:rPr>
              <a:t>Proactive</a:t>
            </a:r>
            <a:r>
              <a:rPr sz="2450" spc="-85" dirty="0">
                <a:solidFill>
                  <a:srgbClr val="EDEDED"/>
                </a:solidFill>
                <a:latin typeface="Arial MT"/>
                <a:cs typeface="Arial MT"/>
              </a:rPr>
              <a:t> </a:t>
            </a:r>
            <a:r>
              <a:rPr sz="2450" spc="-65" dirty="0">
                <a:solidFill>
                  <a:srgbClr val="FFFFFF"/>
                </a:solidFill>
                <a:latin typeface="Arial MT"/>
                <a:cs typeface="Arial MT"/>
              </a:rPr>
              <a:t>Emergency</a:t>
            </a:r>
            <a:r>
              <a:rPr sz="245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F2F2F2"/>
                </a:solidFill>
                <a:latin typeface="Arial MT"/>
                <a:cs typeface="Arial MT"/>
              </a:rPr>
              <a:t>Notification</a:t>
            </a:r>
            <a:r>
              <a:rPr sz="2450" spc="-17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2450" spc="-30" dirty="0">
                <a:solidFill>
                  <a:srgbClr val="EFEFEF"/>
                </a:solidFill>
                <a:latin typeface="Arial MT"/>
                <a:cs typeface="Arial MT"/>
              </a:rPr>
              <a:t>Platform</a:t>
            </a:r>
            <a:r>
              <a:rPr sz="2450" spc="-170" dirty="0">
                <a:solidFill>
                  <a:srgbClr val="EFEFEF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sz="2450" spc="-2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105" dirty="0">
                <a:solidFill>
                  <a:srgbClr val="FFFFFF"/>
                </a:solidFill>
                <a:latin typeface="Arial MT"/>
                <a:cs typeface="Arial MT"/>
              </a:rPr>
              <a:t>Personal</a:t>
            </a:r>
            <a:r>
              <a:rPr sz="24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70" dirty="0">
                <a:solidFill>
                  <a:srgbClr val="FFFFFF"/>
                </a:solidFill>
                <a:latin typeface="Arial MT"/>
                <a:cs typeface="Arial MT"/>
              </a:rPr>
              <a:t>Safety,</a:t>
            </a:r>
            <a:r>
              <a:rPr sz="245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285" dirty="0">
                <a:solidFill>
                  <a:srgbClr val="E4E4E4"/>
                </a:solidFill>
                <a:latin typeface="Arial MT"/>
                <a:cs typeface="Arial MT"/>
              </a:rPr>
              <a:t>’</a:t>
            </a:r>
            <a:r>
              <a:rPr sz="2450" spc="-30" dirty="0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sz="2450" i="1" spc="-225" dirty="0">
                <a:solidFill>
                  <a:srgbClr val="EFEFEF"/>
                </a:solidFill>
                <a:latin typeface="Arial" panose="020B0604020202020204"/>
                <a:cs typeface="Arial" panose="020B0604020202020204"/>
              </a:rPr>
              <a:t>ACM</a:t>
            </a:r>
            <a:r>
              <a:rPr sz="2450" i="1" spc="-195" dirty="0">
                <a:solidFill>
                  <a:srgbClr val="EFEFE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50" i="1" spc="-11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Transactions</a:t>
            </a:r>
            <a:r>
              <a:rPr sz="2450" i="1" spc="3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50" i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on</a:t>
            </a:r>
            <a:endParaRPr sz="24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5706" y="8135877"/>
            <a:ext cx="20088860" cy="314325"/>
            <a:chOff x="15706" y="8135877"/>
            <a:chExt cx="20088860" cy="314325"/>
          </a:xfrm>
        </p:grpSpPr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83736" y="8143730"/>
              <a:ext cx="5827047" cy="29056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706" y="8135877"/>
              <a:ext cx="20088393" cy="314126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15706" y="9062551"/>
            <a:ext cx="20080605" cy="306705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0" rIns="0" bIns="0" rtlCol="0">
            <a:spAutoFit/>
          </a:bodyPr>
          <a:lstStyle/>
          <a:p>
            <a:pPr marL="1470660">
              <a:lnSpc>
                <a:spcPts val="2255"/>
              </a:lnSpc>
            </a:pPr>
            <a:r>
              <a:rPr sz="2300" dirty="0">
                <a:solidFill>
                  <a:srgbClr val="FFFFFF"/>
                </a:solidFill>
                <a:latin typeface="Arial MT"/>
                <a:cs typeface="Arial MT"/>
              </a:rPr>
              <a:t>Sprino</a:t>
            </a:r>
            <a:r>
              <a:rPr sz="2300" spc="1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75" dirty="0">
                <a:solidFill>
                  <a:srgbClr val="FFFFFF"/>
                </a:solidFill>
                <a:latin typeface="Arial MT"/>
                <a:cs typeface="Arial MT"/>
              </a:rPr>
              <a:t>Boot</a:t>
            </a:r>
            <a:r>
              <a:rPr sz="2300" spc="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FFFFFF"/>
                </a:solidFill>
                <a:latin typeface="Arial MT"/>
                <a:cs typeface="Arial MT"/>
              </a:rPr>
              <a:t>Documentation</a:t>
            </a:r>
            <a:r>
              <a:rPr sz="2300" spc="2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-140" dirty="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23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-25" dirty="0">
                <a:solidFill>
                  <a:srgbClr val="FFFFFF"/>
                </a:solidFill>
                <a:latin typeface="Arial MT"/>
                <a:cs typeface="Arial MT"/>
              </a:rPr>
              <a:t>React.js</a:t>
            </a:r>
            <a:r>
              <a:rPr sz="2300" spc="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-65" dirty="0">
                <a:solidFill>
                  <a:srgbClr val="FFFFFF"/>
                </a:solidFill>
                <a:latin typeface="Arial MT"/>
                <a:cs typeface="Arial MT"/>
              </a:rPr>
              <a:t>Technic</a:t>
            </a:r>
            <a:r>
              <a:rPr sz="2300" spc="-1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-145" dirty="0">
                <a:solidFill>
                  <a:srgbClr val="FFFFFF"/>
                </a:solidFill>
                <a:latin typeface="Arial MT"/>
                <a:cs typeface="Arial MT"/>
              </a:rPr>
              <a:t>al</a:t>
            </a:r>
            <a:r>
              <a:rPr sz="23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FFFFFF"/>
                </a:solidFill>
                <a:latin typeface="Arial MT"/>
                <a:cs typeface="Arial MT"/>
              </a:rPr>
              <a:t>Architecture</a:t>
            </a:r>
            <a:r>
              <a:rPr sz="2300" spc="2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FFFFFF"/>
                </a:solidFill>
                <a:latin typeface="Arial MT"/>
                <a:cs typeface="Arial MT"/>
              </a:rPr>
              <a:t>Speciflc</a:t>
            </a:r>
            <a:r>
              <a:rPr sz="2300" spc="-1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FFFFFF"/>
                </a:solidFill>
                <a:latin typeface="Arial MT"/>
                <a:cs typeface="Arial MT"/>
              </a:rPr>
              <a:t>ations,</a:t>
            </a:r>
            <a:r>
              <a:rPr sz="2300" spc="1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50" dirty="0">
                <a:solidFill>
                  <a:srgbClr val="FFFFFF"/>
                </a:solidFill>
                <a:latin typeface="Arial MT"/>
                <a:cs typeface="Arial MT"/>
              </a:rPr>
              <a:t>2024.</a:t>
            </a:r>
            <a:r>
              <a:rPr sz="2300" spc="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FFFFFF"/>
                </a:solidFill>
                <a:latin typeface="Arial MT"/>
                <a:cs typeface="Arial MT"/>
              </a:rPr>
              <a:t>[Online].</a:t>
            </a:r>
            <a:r>
              <a:rPr sz="2300" spc="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Arial MT"/>
                <a:cs typeface="Arial MT"/>
              </a:rPr>
              <a:t>Available: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5706" y="9423796"/>
            <a:ext cx="20080605" cy="306705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0" rIns="0" bIns="0" rtlCol="0">
            <a:spAutoFit/>
          </a:bodyPr>
          <a:lstStyle/>
          <a:p>
            <a:pPr marL="1023620">
              <a:lnSpc>
                <a:spcPts val="2285"/>
              </a:lnSpc>
            </a:pPr>
            <a:r>
              <a:rPr sz="2450" dirty="0">
                <a:solidFill>
                  <a:srgbClr val="FFFFFF"/>
                </a:solidFill>
                <a:latin typeface="Arial MT"/>
                <a:cs typeface="Arial MT"/>
                <a:hlinkClick r:id="rId7"/>
              </a:rPr>
              <a:t>https://spring.io/projects/string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—</a:t>
            </a:r>
            <a:r>
              <a:rPr sz="2450" spc="-20" dirty="0">
                <a:solidFill>
                  <a:srgbClr val="FFFFFF"/>
                </a:solidFill>
                <a:latin typeface="Arial MT"/>
                <a:cs typeface="Arial MT"/>
              </a:rPr>
              <a:t>boot</a:t>
            </a:r>
            <a:endParaRPr sz="2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11643</Words>
  <Application>WPS Presentation</Application>
  <PresentationFormat>On-screen Show (4:3)</PresentationFormat>
  <Paragraphs>491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8" baseType="lpstr">
      <vt:lpstr>Arial</vt:lpstr>
      <vt:lpstr>SimSun</vt:lpstr>
      <vt:lpstr>Wingdings</vt:lpstr>
      <vt:lpstr>Arial MT</vt:lpstr>
      <vt:lpstr>Arial Black</vt:lpstr>
      <vt:lpstr>Arial</vt:lpstr>
      <vt:lpstr>Times New Roman</vt:lpstr>
      <vt:lpstr>Cambria</vt:lpstr>
      <vt:lpstr>Courier New</vt:lpstr>
      <vt:lpstr>Microsoft YaHei</vt:lpstr>
      <vt:lpstr>Arial Unicode MS</vt:lpstr>
      <vt:lpstr>Calibri</vt:lpstr>
      <vt:lpstr>Office Theme</vt:lpstr>
      <vt:lpstr>SofeHer: An Intelligent AI-Driven Women Safely</vt:lpstr>
      <vt:lpstr>Project Abstract</vt:lpstr>
      <vt:lpstr>Introduction &amp; Domain Need</vt:lpstr>
      <vt:lpstr>Proposed System &amp;Core Features</vt:lpstr>
      <vt:lpstr>Technologies &amp; Implementation Roadmap</vt:lpstr>
      <vt:lpstr>High-Level System Architecture</vt:lpstr>
      <vt:lpstr>ImplementationI•IethodoIogy &amp; Flow</vt:lpstr>
      <vt:lpstr>AI &amp; Smod Safety Mechanisms</vt:lpstr>
      <vt:lpstr>Emergency Response Workflow</vt:lpstr>
      <vt:lpstr>Li4ero4ure Survey &amp; Prior Works</vt:lpstr>
      <vt:lpstr>Identified Research Gaps &amp; Proposed Value</vt:lpstr>
      <vt:lpstr>Expected Outcomes &amp; Deliverables</vt:lpstr>
      <vt:lpstr>Future System Enhancements</vt:lpstr>
      <vt:lpstr>Project Conclusion</vt:lpstr>
      <vt:lpstr>References &amp; Key Bibliography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SofeHer: An Intelligent AI-Driven Women Safely</dc:title>
  <dc:creator/>
  <cp:lastModifiedBy>Shalini</cp:lastModifiedBy>
  <cp:revision>4</cp:revision>
  <dcterms:created xsi:type="dcterms:W3CDTF">2026-09-21T09:50:00Z</dcterms:created>
  <dcterms:modified xsi:type="dcterms:W3CDTF">2026-09-21T09:53:13Z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2026-09-21T11:00:00Z</vt:filetime>
  </property>
  <property fmtid="{D5CDD505-2E9C-101B-9397-08002B2CF9AE}" pid="4" name="LastSaved">
    <vt:filetime>2026-09-21T11:00:00Z</vt:filetime>
  </property>
  <property fmtid="{D5CDD505-2E9C-101B-9397-08002B2CF9AE}" pid="5" name="KSOProductBuildVer">
    <vt:lpwstr>1033-12.1.0.28485</vt:lpwstr>
  </property>
  <property fmtid="{D5CDD505-2E9C-101B-9397-08002B2CF9AE}" pid="6" name="ICV">
    <vt:lpwstr>6AFB8B25843C4A1CBAC7D692253F514F_13</vt:lpwstr>
  </property>
</Properties>
</file>