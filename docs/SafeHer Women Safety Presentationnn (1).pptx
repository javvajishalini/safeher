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screen4x3"/>
  <p:notesSz cx="6858000" cy="9144000"/>
  <p:embeddedFontLs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59"/>
        <p:guide pos="28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1785" y="5333365"/>
            <a:ext cx="11603355" cy="1297940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110829"/>
            <a:ext cx="10101262" cy="876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SafeHer: An Intelligent AI-Driven Women Safety Platform with Smart Journey Monitoring &amp; Proactive Emergency Response</a:t>
            </a:r>
            <a:endParaRPr sz="285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3925" y="5572125"/>
            <a:ext cx="1524000" cy="1384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43F5E"/>
                </a:solidFill>
                <a:latin typeface="Times New Roman" panose="02020603050405020304" charset="0"/>
                <a:cs typeface="Times New Roman" panose="02020603050405020304" charset="0"/>
              </a:rPr>
              <a:t>PROJECT TEAM MEMBERS</a:t>
            </a:r>
            <a:endParaRPr sz="900" b="1" i="0" u="none">
              <a:solidFill>
                <a:srgbClr val="F43F5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84490" y="5591175"/>
            <a:ext cx="11239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BATCH NUMBER</a:t>
            </a:r>
            <a:endParaRPr sz="825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6260" y="5810250"/>
            <a:ext cx="11239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B15</a:t>
            </a:r>
            <a:endParaRPr sz="120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08440" y="5572125"/>
            <a:ext cx="111442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PROJECT GUIDE</a:t>
            </a:r>
            <a:endParaRPr sz="825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93505" y="5715000"/>
            <a:ext cx="1602740" cy="738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P. Sunanda</a:t>
            </a:r>
            <a:endParaRPr lang="en-US" sz="120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Assistant Professor, CSE</a:t>
            </a:r>
            <a:endParaRPr lang="en-US" sz="120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GPREC</a:t>
            </a:r>
            <a:endParaRPr lang="en-US" sz="120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925" y="5810250"/>
            <a:ext cx="13144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B. Usha Lalitha</a:t>
            </a:r>
            <a:endParaRPr sz="1125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3925" y="6010275"/>
            <a:ext cx="678180" cy="1504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239X1A050</a:t>
            </a:r>
            <a:r>
              <a:rPr lang="en-US" sz="975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sz="975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81225" y="5810250"/>
            <a:ext cx="13144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J. Shalini</a:t>
            </a:r>
            <a:endParaRPr sz="1125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81225" y="6010275"/>
            <a:ext cx="13144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249X5A05U1</a:t>
            </a:r>
            <a:endParaRPr sz="975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38525" y="5810250"/>
            <a:ext cx="13144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G. Deekshitha</a:t>
            </a:r>
            <a:endParaRPr sz="1125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38525" y="6010275"/>
            <a:ext cx="13144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239X1A0527</a:t>
            </a:r>
            <a:endParaRPr sz="975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2110680"/>
            <a:ext cx="11277600" cy="1571625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3672780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110680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110680"/>
            <a:ext cx="38100" cy="157162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725275" y="2110680"/>
            <a:ext cx="9525" cy="1571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910905"/>
            <a:ext cx="3632150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79850" y="3910905"/>
            <a:ext cx="3632150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02500" y="3910905"/>
            <a:ext cx="3632299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4134742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875" y="4134742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4134742"/>
            <a:ext cx="1905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06175" y="630435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87000" y="6486525"/>
            <a:ext cx="1809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Project Review • Batch B15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304800"/>
            <a:ext cx="4083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EXECUTIVE SUMMARY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04825"/>
            <a:ext cx="4083843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Project Abstract Overview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386905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Transitioning Personal Security from Reactive Panic to Proactive Mitigation</a:t>
            </a:r>
            <a:endParaRPr sz="13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000" y="2720280"/>
            <a:ext cx="107918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Women safety during travel and unpredicted emergencies remains a persistent challenge due to delayed distress signals, lack of real-time monitoring, and reliance on manual panic triggers. The proposed platform, </a:t>
            </a:r>
            <a:r>
              <a:rPr sz="1125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SafeHer</a:t>
            </a:r>
            <a:r>
              <a:rPr sz="1125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, introduces an intelligent web-based women safety ecosystem designed to transition personal security from reactive distress calling to proactive threat mitigation.</a:t>
            </a:r>
            <a:endParaRPr sz="1125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4875" y="4110930"/>
            <a:ext cx="37924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Intelligent Journey Monitoring</a:t>
            </a:r>
            <a:endParaRPr sz="120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7225" y="438715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Continuously evaluates transit parameters, spatial deviations, and missed check-in responses against contextual safety baselines.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27525" y="4110930"/>
            <a:ext cx="37924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Multi-Tiered Emergency Dispatch</a:t>
            </a:r>
            <a:endParaRPr sz="1200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79875" y="438715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Upon identifying elevated risk levels, automatically dispatches verified real-time coordinates, digital black box logs, and route telemetry.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88275" y="4110930"/>
            <a:ext cx="3603724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Times New Roman" panose="02020603050405020304" charset="0"/>
                <a:cs typeface="Times New Roman" panose="02020603050405020304" charset="0"/>
              </a:rPr>
              <a:t>Response Latency Minimization</a:t>
            </a:r>
            <a:endParaRPr sz="1200" b="1" i="0" u="none">
              <a:solidFill>
                <a:srgbClr val="16A3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02525" y="4387155"/>
            <a:ext cx="33274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Empowers users, designated contacts, and community assistance networks with immediate situational awareness during critical incidents.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163835"/>
            <a:ext cx="552450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611635"/>
            <a:ext cx="552450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0300" y="1163835"/>
            <a:ext cx="5524500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0300" y="2411610"/>
            <a:ext cx="5524500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449710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163835"/>
            <a:ext cx="5524500" cy="285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1638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72175" y="11638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897510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2611635"/>
            <a:ext cx="5524500" cy="285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6116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72175" y="26116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0300" y="2249685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0300" y="1163835"/>
            <a:ext cx="55245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0300" y="1163835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725275" y="1163835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0300" y="3497460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0300" y="2411610"/>
            <a:ext cx="55245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10300" y="2411610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725275" y="2411610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406723"/>
            <a:ext cx="1524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854523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406723"/>
            <a:ext cx="1524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654498"/>
            <a:ext cx="15240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53700" y="6486525"/>
            <a:ext cx="1476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Problem &amp; Motivation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304800"/>
            <a:ext cx="4345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PROBLEM STATEMENT &amp; MOTIVATION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504825"/>
            <a:ext cx="4345781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Introduction &amp; Domain Need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4875" y="1382910"/>
            <a:ext cx="6157912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Times New Roman" panose="02020603050405020304" charset="0"/>
                <a:cs typeface="Times New Roman" panose="02020603050405020304" charset="0"/>
              </a:rPr>
              <a:t>Travel Vulnerabilities</a:t>
            </a:r>
            <a:endParaRPr sz="1200" b="1" i="0" u="none">
              <a:solidFill>
                <a:srgbClr val="BE123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7225" y="1659135"/>
            <a:ext cx="521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Women face heightened security risks during late-night commutes, isolated transit routes, and unfamiliar travel environments where assistance is not readily accessible.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4875" y="2830710"/>
            <a:ext cx="6157912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Times New Roman" panose="02020603050405020304" charset="0"/>
                <a:cs typeface="Times New Roman" panose="02020603050405020304" charset="0"/>
              </a:rPr>
              <a:t>Conventional System Deficiencies</a:t>
            </a:r>
            <a:endParaRPr sz="1200" b="1" i="0" u="none">
              <a:solidFill>
                <a:srgbClr val="BE123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7225" y="3106935"/>
            <a:ext cx="521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Existing safety applications rely heavily on manual SOS button triggers, which are virtually impossible to press during sudden physical coercion or sudden incapacitation.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57975" y="1382910"/>
            <a:ext cx="55340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Times New Roman" panose="02020603050405020304" charset="0"/>
                <a:cs typeface="Times New Roman" panose="02020603050405020304" charset="0"/>
              </a:rPr>
              <a:t>Imperative for Proactive Safeguards</a:t>
            </a:r>
            <a:endParaRPr sz="1200" b="1" i="0" u="none">
              <a:solidFill>
                <a:srgbClr val="1D4ED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10325" y="1659135"/>
            <a:ext cx="521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Shift priority from post-incident panic alerts toward continuous monitoring that detects threats before escalation occurs via automated dynamic checks.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57975" y="2630685"/>
            <a:ext cx="55340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Times New Roman" panose="02020603050405020304" charset="0"/>
                <a:cs typeface="Times New Roman" panose="02020603050405020304" charset="0"/>
              </a:rPr>
              <a:t>Web-Based Accessibility Paradigm</a:t>
            </a:r>
            <a:endParaRPr sz="1200" b="1" i="0" u="none">
              <a:solidFill>
                <a:srgbClr val="1D4ED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10325" y="2906910"/>
            <a:ext cx="521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SafeHer operates as a high-availability web platform, eliminating mobile app store installation dependencies and ensuring cross-device compatibility.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2992635"/>
            <a:ext cx="11277600" cy="685800"/>
          </a:xfrm>
          <a:prstGeom prst="roundRect">
            <a:avLst>
              <a:gd name="adj" fmla="val 13888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163835"/>
            <a:ext cx="216396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35460" y="1163835"/>
            <a:ext cx="2164109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13870" y="1163835"/>
            <a:ext cx="2164109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292280" y="1163835"/>
            <a:ext cx="2164109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570690" y="1163835"/>
            <a:ext cx="216396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2040135"/>
            <a:ext cx="216396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35460" y="2040135"/>
            <a:ext cx="2164109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13870" y="2040135"/>
            <a:ext cx="2164109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92280" y="2040135"/>
            <a:ext cx="2164109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70690" y="2040135"/>
            <a:ext cx="216396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17231" y="3173610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41281" y="3173610"/>
            <a:ext cx="187642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755856" y="3173610"/>
            <a:ext cx="19431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531" y="325933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106" y="3259335"/>
            <a:ext cx="1333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72775" y="6486525"/>
            <a:ext cx="1247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Functional Scope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304800"/>
            <a:ext cx="5226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SYSTEM CAPABILITIES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04825"/>
            <a:ext cx="5226843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Proposed System &amp; Core Features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93043" y="3259335"/>
            <a:ext cx="1643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CORE SYSTEM FLOW: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0075" y="1306710"/>
            <a:ext cx="234776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1. Journey Tracking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0075" y="1497210"/>
            <a:ext cx="19734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Real-time GPS tracking along selected travel routes.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78335" y="1306710"/>
            <a:ext cx="23479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2. Dynamic Check-ins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78335" y="1497210"/>
            <a:ext cx="19736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Periodic prompts verifying user safety state.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56745" y="1306710"/>
            <a:ext cx="23479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3. Safe Zones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56745" y="1497210"/>
            <a:ext cx="19736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Geofenced alerts for high/low safety corridors.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35155" y="1306710"/>
            <a:ext cx="23479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4. Digital Safety Twin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35155" y="1497210"/>
            <a:ext cx="19736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Virtual state avatar mirroring user live status.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13565" y="1306710"/>
            <a:ext cx="234776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5. Black Box Logs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13565" y="1497210"/>
            <a:ext cx="19734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Immutable event logs recorded prior to SOS.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0075" y="2183010"/>
            <a:ext cx="234776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6. Hidden SOS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075" y="2373510"/>
            <a:ext cx="19734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Discreet non-visual emergency trigger options.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78335" y="2183010"/>
            <a:ext cx="23479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7. Reverse Tracking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78335" y="2373510"/>
            <a:ext cx="19736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Allows guardians to trace route back safely.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156745" y="2183010"/>
            <a:ext cx="23479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8. Contact Alerts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156745" y="2373510"/>
            <a:ext cx="19736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Instant SMS/Web push notification dispatch.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35155" y="2183010"/>
            <a:ext cx="23479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9. Vehicle Support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35155" y="2373510"/>
            <a:ext cx="19736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Logs cab/license plate info for reference.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713565" y="2183010"/>
            <a:ext cx="234776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10. Volunteer Hub</a:t>
            </a:r>
            <a:endParaRPr sz="97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13565" y="2373510"/>
            <a:ext cx="19734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Alerts registered nearby community helpers.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69631" y="3249810"/>
            <a:ext cx="1276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User Web Interface</a:t>
            </a:r>
            <a:endParaRPr sz="975" b="1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593681" y="3249810"/>
            <a:ext cx="166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AI + Telemetry Risk Engine</a:t>
            </a:r>
            <a:endParaRPr sz="975" b="1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908256" y="3249810"/>
            <a:ext cx="1733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Emergency Escalation Hub</a:t>
            </a:r>
            <a:endParaRPr sz="975" b="1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6725" y="2141934"/>
            <a:ext cx="2251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18345" y="2141934"/>
            <a:ext cx="337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851" y="2141934"/>
            <a:ext cx="3940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36224" y="2141934"/>
            <a:ext cx="1689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6725" y="2589014"/>
            <a:ext cx="2251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18345" y="2589014"/>
            <a:ext cx="337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5851" y="2589014"/>
            <a:ext cx="3940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036224" y="2589014"/>
            <a:ext cx="1689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6725" y="3186112"/>
            <a:ext cx="2251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8345" y="3186112"/>
            <a:ext cx="337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5851" y="3186112"/>
            <a:ext cx="3940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036224" y="3186112"/>
            <a:ext cx="1689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6725" y="3783210"/>
            <a:ext cx="2251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18345" y="3783210"/>
            <a:ext cx="337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95851" y="3783210"/>
            <a:ext cx="3940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036224" y="3783210"/>
            <a:ext cx="1689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6725" y="4380309"/>
            <a:ext cx="2251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18345" y="4380309"/>
            <a:ext cx="337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5851" y="4380309"/>
            <a:ext cx="3940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036224" y="4380309"/>
            <a:ext cx="1689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188624" y="1668660"/>
            <a:ext cx="904875" cy="208954"/>
          </a:xfrm>
          <a:prstGeom prst="roundRect">
            <a:avLst>
              <a:gd name="adj" fmla="val 1823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188624" y="2265759"/>
            <a:ext cx="904875" cy="208954"/>
          </a:xfrm>
          <a:prstGeom prst="roundRect">
            <a:avLst>
              <a:gd name="adj" fmla="val 1823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188624" y="2712839"/>
            <a:ext cx="904875" cy="208954"/>
          </a:xfrm>
          <a:prstGeom prst="roundRect">
            <a:avLst>
              <a:gd name="adj" fmla="val 1823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188624" y="3309937"/>
            <a:ext cx="647700" cy="208954"/>
          </a:xfrm>
          <a:prstGeom prst="roundRect">
            <a:avLst>
              <a:gd name="adj" fmla="val 1823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188624" y="3907035"/>
            <a:ext cx="904875" cy="208954"/>
          </a:xfrm>
          <a:prstGeom prst="roundRect">
            <a:avLst>
              <a:gd name="adj" fmla="val 1823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188624" y="4504134"/>
            <a:ext cx="904875" cy="208954"/>
          </a:xfrm>
          <a:prstGeom prst="roundRect">
            <a:avLst>
              <a:gd name="adj" fmla="val 1823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57200" y="1163835"/>
          <a:ext cx="11258548" cy="3823096"/>
        </p:xfrm>
        <a:graphic>
          <a:graphicData uri="http://schemas.openxmlformats.org/drawingml/2006/table">
            <a:tbl>
              <a:tblPr/>
              <a:tblGrid>
                <a:gridCol w="2251620"/>
                <a:gridCol w="3377505"/>
                <a:gridCol w="3940373"/>
                <a:gridCol w="1689050"/>
              </a:tblGrid>
              <a:tr h="54615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Layer / Subsystem</a:t>
                      </a:r>
                      <a:endParaRPr sz="975" b="1" i="0" u="none">
                        <a:solidFill>
                          <a:srgbClr val="FFFFFF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Technologies Selected</a:t>
                      </a:r>
                      <a:endParaRPr sz="975" b="1" i="0" u="none">
                        <a:solidFill>
                          <a:srgbClr val="FFFFFF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Functional Purpose</a:t>
                      </a:r>
                      <a:endParaRPr sz="975" b="1" i="0" u="none">
                        <a:solidFill>
                          <a:srgbClr val="FFFFFF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Status</a:t>
                      </a:r>
                      <a:endParaRPr sz="975" b="1" i="0" u="none">
                        <a:solidFill>
                          <a:srgbClr val="FFFFFF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4615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Frontend Client</a:t>
                      </a:r>
                      <a:endParaRPr sz="975" b="1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React.js, Vite, HTML5, CSS3, JavaScript (ES6+), Tailwind CSS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Responsive web dashboard, live tracking UI, dynamic check-in prompts.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5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Backend API Service</a:t>
                      </a:r>
                      <a:endParaRPr sz="975" b="1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Java 17, Spring Boot, RESTful APIs, Spring Security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Core business logic, session control, spatial workflow routing.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4615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Data Persistence</a:t>
                      </a:r>
                      <a:endParaRPr sz="975" b="1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PostgreSQL 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Relational schema for user profiles, black box logs, &amp; route history.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5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AI &amp; Intelligence</a:t>
                      </a:r>
                      <a:endParaRPr sz="975" b="1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Python-based ML risk model, NLP alert generator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Evaluates travel anomalies, missed check-in responses, &amp; risk scoring.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4615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Maps &amp; Telemetry</a:t>
                      </a:r>
                      <a:endParaRPr sz="975" b="1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HTML5 Geolocation API, OpenStreetMap / Google Maps API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Real-time coordinates capture, map rendering, route geofencing.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6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Security Layer</a:t>
                      </a:r>
                      <a:endParaRPr sz="975" b="1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JSON Web Tokens (JWT), Role-Based Access Control (RBAC)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Stateless authentication, data encryption, and secure endpoints.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1306175" y="630435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715625" y="6486525"/>
            <a:ext cx="13049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Architecture Stack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304800"/>
            <a:ext cx="6357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TECHNICAL STACK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504825"/>
            <a:ext cx="6357937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Technologies &amp; Implementation Roadmap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264824" y="1697235"/>
            <a:ext cx="1038225" cy="15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sz="825" b="1" i="0" u="none">
                <a:solidFill>
                  <a:srgbClr val="15803D"/>
                </a:solidFill>
                <a:latin typeface="Times New Roman" panose="02020603050405020304" charset="0"/>
                <a:cs typeface="Times New Roman" panose="02020603050405020304" charset="0"/>
              </a:rPr>
              <a:t>IMPLEMENTED</a:t>
            </a:r>
            <a:endParaRPr sz="825" b="1" i="0" u="none">
              <a:solidFill>
                <a:srgbClr val="15803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264824" y="2294334"/>
            <a:ext cx="1038225" cy="15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sz="825" b="1" i="0" u="none">
                <a:solidFill>
                  <a:srgbClr val="15803D"/>
                </a:solidFill>
                <a:latin typeface="Times New Roman" panose="02020603050405020304" charset="0"/>
                <a:cs typeface="Times New Roman" panose="02020603050405020304" charset="0"/>
              </a:rPr>
              <a:t>IMPLEMENTED</a:t>
            </a:r>
            <a:endParaRPr sz="825" b="1" i="0" u="none">
              <a:solidFill>
                <a:srgbClr val="15803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64824" y="2741414"/>
            <a:ext cx="1038225" cy="15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sz="825" b="1" i="0" u="none">
                <a:solidFill>
                  <a:srgbClr val="15803D"/>
                </a:solidFill>
                <a:latin typeface="Times New Roman" panose="02020603050405020304" charset="0"/>
                <a:cs typeface="Times New Roman" panose="02020603050405020304" charset="0"/>
              </a:rPr>
              <a:t>IMPLEMENTED</a:t>
            </a:r>
            <a:endParaRPr sz="825" b="1" i="0" u="none">
              <a:solidFill>
                <a:srgbClr val="15803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64824" y="3338512"/>
            <a:ext cx="781050" cy="15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sz="825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PLANNED</a:t>
            </a:r>
            <a:endParaRPr sz="825" b="1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64824" y="3935610"/>
            <a:ext cx="1038225" cy="15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sz="825" b="1" i="0" u="none">
                <a:solidFill>
                  <a:srgbClr val="15803D"/>
                </a:solidFill>
                <a:latin typeface="Times New Roman" panose="02020603050405020304" charset="0"/>
                <a:cs typeface="Times New Roman" panose="02020603050405020304" charset="0"/>
              </a:rPr>
              <a:t>IMPLEMENTED</a:t>
            </a:r>
            <a:endParaRPr sz="825" b="1" i="0" u="none">
              <a:solidFill>
                <a:srgbClr val="15803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64824" y="4532709"/>
            <a:ext cx="1038225" cy="15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sz="825" b="1" i="0" u="none">
                <a:solidFill>
                  <a:srgbClr val="15803D"/>
                </a:solidFill>
                <a:latin typeface="Times New Roman" panose="02020603050405020304" charset="0"/>
                <a:cs typeface="Times New Roman" panose="02020603050405020304" charset="0"/>
              </a:rPr>
              <a:t>IMPLEMENTED</a:t>
            </a:r>
            <a:endParaRPr sz="825" b="1" i="0" u="none">
              <a:solidFill>
                <a:srgbClr val="15803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563242"/>
            <a:ext cx="11277600" cy="1533525"/>
          </a:xfrm>
          <a:prstGeom prst="roundRect">
            <a:avLst>
              <a:gd name="adj" fmla="val 6211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201167"/>
            <a:ext cx="2533650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71850" y="2201167"/>
            <a:ext cx="2533650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86500" y="2201167"/>
            <a:ext cx="2533650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201150" y="2201167"/>
            <a:ext cx="2533650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287017"/>
            <a:ext cx="2533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201167"/>
            <a:ext cx="25336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201167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81325" y="2201167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71850" y="3287017"/>
            <a:ext cx="2533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71850" y="2201167"/>
            <a:ext cx="253365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1850" y="2201167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5975" y="2201167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6500" y="3287017"/>
            <a:ext cx="2533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86500" y="2201167"/>
            <a:ext cx="253365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86500" y="2201167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810625" y="2201167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201150" y="3287017"/>
            <a:ext cx="2533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201150" y="2201167"/>
            <a:ext cx="25336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201150" y="2201167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725275" y="2201167"/>
            <a:ext cx="9525" cy="1095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5325" y="4077592"/>
            <a:ext cx="3473350" cy="781050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59175" y="4077592"/>
            <a:ext cx="3473499" cy="781050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23175" y="4077592"/>
            <a:ext cx="3473350" cy="781050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150" y="2663130"/>
            <a:ext cx="15240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2663130"/>
            <a:ext cx="15240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4450" y="2663130"/>
            <a:ext cx="1524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437" y="2429767"/>
            <a:ext cx="257175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5" y="2429767"/>
            <a:ext cx="228600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025" y="2429767"/>
            <a:ext cx="22860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7962" y="2429767"/>
            <a:ext cx="200025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249042"/>
            <a:ext cx="15240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050" y="4249042"/>
            <a:ext cx="13335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050" y="4249042"/>
            <a:ext cx="171450" cy="1333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15650" y="6486525"/>
            <a:ext cx="11049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System Design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304800"/>
            <a:ext cx="5941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SYSTEM BLUEPRINT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504825"/>
            <a:ext cx="5941218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High-Level Architecture &amp; Integrations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95325" y="3801367"/>
            <a:ext cx="114966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43F5E"/>
                </a:solidFill>
                <a:latin typeface="Plus Jakarta Sans"/>
              </a:rPr>
              <a:t>EXTERNAL INTEGRATIONS &amp; RESPONSE DISPATCH</a:t>
            </a:r>
            <a:endParaRPr sz="900" b="1" i="0" u="none">
              <a:solidFill>
                <a:srgbClr val="F43F5E"/>
              </a:solidFill>
              <a:latin typeface="Plus Jakarta San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90525" y="2734567"/>
            <a:ext cx="2667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User Web Browser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90525" y="2953642"/>
            <a:ext cx="2667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React + Vite UI | Tailwind CSS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05175" y="2734567"/>
            <a:ext cx="2667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Spring Boot API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305175" y="2953642"/>
            <a:ext cx="2667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JWT Auth | REST Controllers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19825" y="2734567"/>
            <a:ext cx="2667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AI / Risk Module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19825" y="2953642"/>
            <a:ext cx="2667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Risk Scoring | Anomaly Logic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55225" y="2734567"/>
            <a:ext cx="825500" cy="173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PostgreSQL /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134475" y="2953642"/>
            <a:ext cx="2667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User Records &amp; Audit Logs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38200" y="4220467"/>
            <a:ext cx="3984500" cy="1714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Geolocation &amp; Maps API</a:t>
            </a:r>
            <a:endParaRPr sz="105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38200" y="4430017"/>
            <a:ext cx="3984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Times New Roman" panose="02020603050405020304" charset="0"/>
                <a:cs typeface="Times New Roman" panose="02020603050405020304" charset="0"/>
              </a:rPr>
              <a:t>Provides real-time route rendering &amp; reverse geocoding.</a:t>
            </a:r>
            <a:endParaRPr sz="900" b="0" i="0" u="none">
              <a:solidFill>
                <a:srgbClr val="CBD5E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502050" y="4220467"/>
            <a:ext cx="3984687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ADE80"/>
                </a:solidFill>
                <a:latin typeface="Times New Roman" panose="02020603050405020304" charset="0"/>
                <a:cs typeface="Times New Roman" panose="02020603050405020304" charset="0"/>
              </a:rPr>
              <a:t>Notification Gateway</a:t>
            </a:r>
            <a:endParaRPr sz="1050" b="1" i="0" u="none">
              <a:solidFill>
                <a:srgbClr val="4ADE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502050" y="4430017"/>
            <a:ext cx="32829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Times New Roman" panose="02020603050405020304" charset="0"/>
                <a:cs typeface="Times New Roman" panose="02020603050405020304" charset="0"/>
              </a:rPr>
              <a:t>Triggers instant SMS and automated emails to emergency contacts.</a:t>
            </a:r>
            <a:endParaRPr sz="900" b="0" i="0" u="none">
              <a:solidFill>
                <a:srgbClr val="CBD5E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166050" y="4220467"/>
            <a:ext cx="3984500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Volunteer Support Hub</a:t>
            </a:r>
            <a:endParaRPr sz="1050" b="1" i="0" u="none">
              <a:solidFill>
                <a:srgbClr val="FACC15"/>
              </a:solidFill>
              <a:latin typeface="Plus Jakarta San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66050" y="4430017"/>
            <a:ext cx="3282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Times New Roman" panose="02020603050405020304" charset="0"/>
                <a:cs typeface="Times New Roman" panose="02020603050405020304" charset="0"/>
              </a:rPr>
              <a:t>Dispatches spatial distress alerts to nearby verified community helpers.</a:t>
            </a:r>
            <a:endParaRPr sz="900" b="0" i="0" u="none">
              <a:solidFill>
                <a:srgbClr val="CBD5E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782192"/>
            <a:ext cx="2179290" cy="790575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31740" y="2782192"/>
            <a:ext cx="2179290" cy="790575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06280" y="2782192"/>
            <a:ext cx="2179290" cy="790575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80820" y="2782192"/>
            <a:ext cx="2179290" cy="790575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555360" y="2782192"/>
            <a:ext cx="2179439" cy="790575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725167"/>
            <a:ext cx="2179290" cy="790575"/>
          </a:xfrm>
          <a:prstGeom prst="roundRect">
            <a:avLst>
              <a:gd name="adj" fmla="val 12048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31740" y="3725167"/>
            <a:ext cx="2179290" cy="790575"/>
          </a:xfrm>
          <a:prstGeom prst="roundRect">
            <a:avLst>
              <a:gd name="adj" fmla="val 12048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06280" y="3725167"/>
            <a:ext cx="2179290" cy="790575"/>
          </a:xfrm>
          <a:prstGeom prst="roundRect">
            <a:avLst>
              <a:gd name="adj" fmla="val 12048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80820" y="3725167"/>
            <a:ext cx="2179290" cy="790575"/>
          </a:xfrm>
          <a:prstGeom prst="roundRect">
            <a:avLst>
              <a:gd name="adj" fmla="val 12048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555360" y="3725167"/>
            <a:ext cx="2179439" cy="790575"/>
          </a:xfrm>
          <a:prstGeom prst="roundRect">
            <a:avLst>
              <a:gd name="adj" fmla="val 12048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81025" y="2934592"/>
            <a:ext cx="466725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55565" y="2934592"/>
            <a:ext cx="495300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30105" y="2934592"/>
            <a:ext cx="495300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04645" y="2934592"/>
            <a:ext cx="495300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679185" y="2934592"/>
            <a:ext cx="495300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1025" y="3877567"/>
            <a:ext cx="542925" cy="180975"/>
          </a:xfrm>
          <a:prstGeom prst="roundRect">
            <a:avLst>
              <a:gd name="adj" fmla="val 21052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855565" y="3877567"/>
            <a:ext cx="495300" cy="180975"/>
          </a:xfrm>
          <a:prstGeom prst="roundRect">
            <a:avLst>
              <a:gd name="adj" fmla="val 21052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130105" y="3877567"/>
            <a:ext cx="495300" cy="180975"/>
          </a:xfrm>
          <a:prstGeom prst="roundRect">
            <a:avLst>
              <a:gd name="adj" fmla="val 21052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04645" y="3877567"/>
            <a:ext cx="485775" cy="180975"/>
          </a:xfrm>
          <a:prstGeom prst="roundRect">
            <a:avLst>
              <a:gd name="adj" fmla="val 21052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79185" y="3877567"/>
            <a:ext cx="495300" cy="180975"/>
          </a:xfrm>
          <a:prstGeom prst="roundRect">
            <a:avLst>
              <a:gd name="adj" fmla="val 21052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38865" y="630435"/>
            <a:ext cx="714375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10900" y="6486525"/>
            <a:ext cx="10096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Process Flow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304800"/>
            <a:ext cx="5715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EXECUTION WORKFLOW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" y="504825"/>
            <a:ext cx="571500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Implementation Methodology &amp; Flow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7225" y="2963167"/>
            <a:ext cx="4095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STEP 1</a:t>
            </a:r>
            <a:endParaRPr sz="825" b="1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1025" y="3172717"/>
            <a:ext cx="2414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User Auth</a:t>
            </a:r>
            <a:endParaRPr sz="975" b="1" i="0" u="none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1025" y="3325117"/>
            <a:ext cx="24145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B82F6"/>
                </a:solidFill>
                <a:latin typeface="Times New Roman" panose="02020603050405020304" charset="0"/>
                <a:cs typeface="Times New Roman" panose="02020603050405020304" charset="0"/>
              </a:rPr>
              <a:t>Secure JWT Login</a:t>
            </a:r>
            <a:endParaRPr sz="825" b="0" i="0" u="none">
              <a:solidFill>
                <a:srgbClr val="3B82F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31765" y="2963167"/>
            <a:ext cx="4381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STEP 2</a:t>
            </a:r>
            <a:endParaRPr sz="825" b="1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55565" y="3172717"/>
            <a:ext cx="2414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Preferences</a:t>
            </a:r>
            <a:endParaRPr sz="975" b="1" i="0" u="none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55565" y="3325117"/>
            <a:ext cx="24145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B82F6"/>
                </a:solidFill>
                <a:latin typeface="Times New Roman" panose="02020603050405020304" charset="0"/>
                <a:cs typeface="Times New Roman" panose="02020603050405020304" charset="0"/>
              </a:rPr>
              <a:t>Add Emergency Contacts</a:t>
            </a:r>
            <a:endParaRPr sz="825" b="0" i="0" u="none">
              <a:solidFill>
                <a:srgbClr val="3B82F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06305" y="2963167"/>
            <a:ext cx="4381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STEP 3</a:t>
            </a:r>
            <a:endParaRPr sz="825" b="1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30105" y="3172717"/>
            <a:ext cx="2414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Start Journey</a:t>
            </a:r>
            <a:endParaRPr sz="975" b="1" i="0" u="none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30105" y="3325117"/>
            <a:ext cx="24145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B82F6"/>
                </a:solidFill>
                <a:latin typeface="Times New Roman" panose="02020603050405020304" charset="0"/>
                <a:cs typeface="Times New Roman" panose="02020603050405020304" charset="0"/>
              </a:rPr>
              <a:t>Enable Live Tracking</a:t>
            </a:r>
            <a:endParaRPr sz="825" b="0" i="0" u="none">
              <a:solidFill>
                <a:srgbClr val="3B82F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80845" y="2963167"/>
            <a:ext cx="4381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STEP 4</a:t>
            </a:r>
            <a:endParaRPr sz="825" b="1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04645" y="3172717"/>
            <a:ext cx="2414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GPS Telemetry</a:t>
            </a:r>
            <a:endParaRPr sz="975" b="1" i="0" u="none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04645" y="3325117"/>
            <a:ext cx="24145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B82F6"/>
                </a:solidFill>
                <a:latin typeface="Times New Roman" panose="02020603050405020304" charset="0"/>
                <a:cs typeface="Times New Roman" panose="02020603050405020304" charset="0"/>
              </a:rPr>
              <a:t>Stream Location Data</a:t>
            </a:r>
            <a:endParaRPr sz="825" b="0" i="0" u="none">
              <a:solidFill>
                <a:srgbClr val="3B82F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55385" y="2963167"/>
            <a:ext cx="4381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STEP 5</a:t>
            </a:r>
            <a:endParaRPr sz="825" b="1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79185" y="3172717"/>
            <a:ext cx="241473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Zone Audit</a:t>
            </a:r>
            <a:endParaRPr sz="975" b="1" i="0" u="none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79185" y="3325117"/>
            <a:ext cx="241473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B82F6"/>
                </a:solidFill>
                <a:latin typeface="Times New Roman" panose="02020603050405020304" charset="0"/>
                <a:cs typeface="Times New Roman" panose="02020603050405020304" charset="0"/>
              </a:rPr>
              <a:t>Evaluate Geofences</a:t>
            </a:r>
            <a:endParaRPr sz="825" b="0" i="0" u="none">
              <a:solidFill>
                <a:srgbClr val="3B82F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7225" y="3906142"/>
            <a:ext cx="4857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E123C"/>
                </a:solidFill>
                <a:latin typeface="Times New Roman" panose="02020603050405020304" charset="0"/>
                <a:cs typeface="Times New Roman" panose="02020603050405020304" charset="0"/>
              </a:rPr>
              <a:t>STEP 10</a:t>
            </a:r>
            <a:endParaRPr sz="825" b="1" i="0" u="none">
              <a:solidFill>
                <a:srgbClr val="BE123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1025" y="4115692"/>
            <a:ext cx="2414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881337"/>
                </a:solidFill>
                <a:latin typeface="Times New Roman" panose="02020603050405020304" charset="0"/>
                <a:cs typeface="Times New Roman" panose="02020603050405020304" charset="0"/>
              </a:rPr>
              <a:t>Black Box Log</a:t>
            </a:r>
            <a:endParaRPr sz="975" b="1" i="0" u="none">
              <a:solidFill>
                <a:srgbClr val="8813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1025" y="4268092"/>
            <a:ext cx="24145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Persist Audit Trail</a:t>
            </a:r>
            <a:endParaRPr sz="825" b="0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31765" y="3906142"/>
            <a:ext cx="4381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E123C"/>
                </a:solidFill>
                <a:latin typeface="Times New Roman" panose="02020603050405020304" charset="0"/>
                <a:cs typeface="Times New Roman" panose="02020603050405020304" charset="0"/>
              </a:rPr>
              <a:t>STEP 9</a:t>
            </a:r>
            <a:endParaRPr sz="825" b="1" i="0" u="none">
              <a:solidFill>
                <a:srgbClr val="BE123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55565" y="4115692"/>
            <a:ext cx="2414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881337"/>
                </a:solidFill>
                <a:latin typeface="Times New Roman" panose="02020603050405020304" charset="0"/>
                <a:cs typeface="Times New Roman" panose="02020603050405020304" charset="0"/>
              </a:rPr>
              <a:t>SOS Trigger</a:t>
            </a:r>
            <a:endParaRPr sz="975" b="1" i="0" u="none">
              <a:solidFill>
                <a:srgbClr val="8813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55565" y="4268092"/>
            <a:ext cx="24145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Notify Emergency Hub</a:t>
            </a:r>
            <a:endParaRPr sz="825" b="0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206305" y="3906142"/>
            <a:ext cx="4381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E123C"/>
                </a:solidFill>
                <a:latin typeface="Times New Roman" panose="02020603050405020304" charset="0"/>
                <a:cs typeface="Times New Roman" panose="02020603050405020304" charset="0"/>
              </a:rPr>
              <a:t>STEP 8</a:t>
            </a:r>
            <a:endParaRPr sz="825" b="1" i="0" u="none">
              <a:solidFill>
                <a:srgbClr val="BE123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30105" y="4115692"/>
            <a:ext cx="2414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881337"/>
                </a:solidFill>
                <a:latin typeface="Times New Roman" panose="02020603050405020304" charset="0"/>
                <a:cs typeface="Times New Roman" panose="02020603050405020304" charset="0"/>
              </a:rPr>
              <a:t>Risk Escalation</a:t>
            </a:r>
            <a:endParaRPr sz="975" b="1" i="0" u="none">
              <a:solidFill>
                <a:srgbClr val="8813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30105" y="4268092"/>
            <a:ext cx="24145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Activate SOS Protocol</a:t>
            </a:r>
            <a:endParaRPr sz="825" b="0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80845" y="3906142"/>
            <a:ext cx="428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854D0E"/>
                </a:solidFill>
                <a:latin typeface="Times New Roman" panose="02020603050405020304" charset="0"/>
                <a:cs typeface="Times New Roman" panose="02020603050405020304" charset="0"/>
              </a:rPr>
              <a:t>STEP 7</a:t>
            </a:r>
            <a:endParaRPr sz="825" b="1" i="0" u="none">
              <a:solidFill>
                <a:srgbClr val="854D0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04645" y="4115692"/>
            <a:ext cx="2414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13F12"/>
                </a:solidFill>
                <a:latin typeface="Times New Roman" panose="02020603050405020304" charset="0"/>
                <a:cs typeface="Times New Roman" panose="02020603050405020304" charset="0"/>
              </a:rPr>
              <a:t>Check-in Prompt</a:t>
            </a:r>
            <a:endParaRPr sz="975" b="1" i="0" u="none">
              <a:solidFill>
                <a:srgbClr val="713F1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4645" y="4268092"/>
            <a:ext cx="24145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Detect Unresponsive</a:t>
            </a:r>
            <a:endParaRPr sz="825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755385" y="3906142"/>
            <a:ext cx="4381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854D0E"/>
                </a:solidFill>
                <a:latin typeface="Times New Roman" panose="02020603050405020304" charset="0"/>
                <a:cs typeface="Times New Roman" panose="02020603050405020304" charset="0"/>
              </a:rPr>
              <a:t>STEP 6</a:t>
            </a:r>
            <a:endParaRPr sz="825" b="1" i="0" u="none">
              <a:solidFill>
                <a:srgbClr val="854D0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679185" y="4115692"/>
            <a:ext cx="241473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13F12"/>
                </a:solidFill>
                <a:latin typeface="Times New Roman" panose="02020603050405020304" charset="0"/>
                <a:cs typeface="Times New Roman" panose="02020603050405020304" charset="0"/>
              </a:rPr>
              <a:t>AI Risk Scoring</a:t>
            </a:r>
            <a:endParaRPr sz="975" b="1" i="0" u="none">
              <a:solidFill>
                <a:srgbClr val="713F1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679185" y="4268092"/>
            <a:ext cx="241473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Detect Deviations</a:t>
            </a:r>
            <a:endParaRPr sz="825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0300" y="1163835"/>
            <a:ext cx="5524500" cy="2714625"/>
          </a:xfrm>
          <a:prstGeom prst="roundRect">
            <a:avLst>
              <a:gd name="adj" fmla="val 4210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48425" y="1697235"/>
            <a:ext cx="5048250" cy="40005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48425" y="2478285"/>
            <a:ext cx="5048250" cy="381000"/>
          </a:xfrm>
          <a:prstGeom prst="roundRect">
            <a:avLst>
              <a:gd name="adj" fmla="val 15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48425" y="3240285"/>
            <a:ext cx="5048250" cy="40005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350" y="2211585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350" y="2973585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58500" y="6486525"/>
            <a:ext cx="11620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AI Scoring Logic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04800"/>
            <a:ext cx="4655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ANALYTICAL INTELLIGENCE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504825"/>
            <a:ext cx="4655343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AI &amp; Smart Safety Mechanisms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354335"/>
            <a:ext cx="6905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Intelligence Engine Capabilities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8425" y="1401960"/>
            <a:ext cx="57435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AI RISK ASSESSMENT PIPELINE</a:t>
            </a:r>
            <a:endParaRPr sz="9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7700" y="1706760"/>
            <a:ext cx="5429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Risk Pattern Identification:</a:t>
            </a:r>
            <a:r>
              <a:rPr sz="105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Analyzes route anomalies against historical danger zones and unexpected deviations.</a:t>
            </a:r>
            <a:endParaRPr sz="105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7700" y="2202060"/>
            <a:ext cx="5429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Behavioral Tracking:</a:t>
            </a:r>
            <a:r>
              <a:rPr sz="105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Evaluates unexpected prolonged stationary stops during active transit.</a:t>
            </a:r>
            <a:endParaRPr sz="105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700" y="2697360"/>
            <a:ext cx="5429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Contextual Safety Scoring:</a:t>
            </a:r>
            <a:r>
              <a:rPr sz="105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Factors time of night, destination safety score, &amp; battery status into continuous evaluation.</a:t>
            </a:r>
            <a:endParaRPr sz="105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7700" y="3192660"/>
            <a:ext cx="5429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Intelligent Assistance:</a:t>
            </a:r>
            <a:r>
              <a:rPr sz="105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AI assists safety decision-making without triggering disruptive false alarms.</a:t>
            </a:r>
            <a:endParaRPr sz="105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31693" y="1811535"/>
            <a:ext cx="60817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Location + Check-in Status + Journey Context</a:t>
            </a:r>
            <a:endParaRPr sz="975" b="0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31693" y="2592585"/>
            <a:ext cx="608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AI Risk Scoring Logic (Low / Med / Critical)</a:t>
            </a:r>
            <a:endParaRPr sz="975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31693" y="3354585"/>
            <a:ext cx="60817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Recommended Safety Action &amp; Alert Dispatch</a:t>
            </a:r>
            <a:endParaRPr sz="975" b="0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1687710"/>
            <a:ext cx="114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350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2183010"/>
            <a:ext cx="114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350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2678310"/>
            <a:ext cx="114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350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3173610"/>
            <a:ext cx="114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350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2420242"/>
            <a:ext cx="11277600" cy="76200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3372742"/>
            <a:ext cx="5543550" cy="1504950"/>
          </a:xfrm>
          <a:prstGeom prst="roundRect">
            <a:avLst>
              <a:gd name="adj" fmla="val 632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91250" y="3372742"/>
            <a:ext cx="5543550" cy="1504950"/>
          </a:xfrm>
          <a:prstGeom prst="roundRect">
            <a:avLst>
              <a:gd name="adj" fmla="val 6329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4868167"/>
            <a:ext cx="554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3372742"/>
            <a:ext cx="554355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372742"/>
            <a:ext cx="9525" cy="1504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91225" y="3372742"/>
            <a:ext cx="9525" cy="1504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1250" y="4868167"/>
            <a:ext cx="554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91250" y="3372742"/>
            <a:ext cx="554355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91250" y="3372742"/>
            <a:ext cx="9525" cy="1504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725275" y="3372742"/>
            <a:ext cx="9525" cy="1504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625155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3625155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58475" y="6486525"/>
            <a:ext cx="13620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Escalation Protocol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504825"/>
            <a:ext cx="4845843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Emergency Response Workflow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7225" y="2620267"/>
            <a:ext cx="115347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2410C"/>
                </a:solidFill>
                <a:latin typeface="Times New Roman" panose="02020603050405020304" charset="0"/>
                <a:cs typeface="Times New Roman" panose="02020603050405020304" charset="0"/>
              </a:rPr>
              <a:t>Potential Risk / Route Anomaly Detected</a:t>
            </a:r>
            <a:endParaRPr sz="1050" b="1" i="0" u="none">
              <a:solidFill>
                <a:srgbClr val="C2410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7225" y="2829817"/>
            <a:ext cx="11534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A3412"/>
                </a:solidFill>
                <a:latin typeface="Times New Roman" panose="02020603050405020304" charset="0"/>
                <a:cs typeface="Times New Roman" panose="02020603050405020304" charset="0"/>
              </a:rPr>
              <a:t>Interactive User Safety Check-in Prompt Automatically Triggered on UI.</a:t>
            </a:r>
            <a:endParaRPr sz="975" b="0" i="0" u="none">
              <a:solidFill>
                <a:srgbClr val="9A341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4875" y="3601342"/>
            <a:ext cx="61817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Times New Roman" panose="02020603050405020304" charset="0"/>
                <a:cs typeface="Times New Roman" panose="02020603050405020304" charset="0"/>
              </a:rPr>
              <a:t>User Responds "SAFE"</a:t>
            </a:r>
            <a:endParaRPr sz="1200" b="1" i="0" u="none">
              <a:solidFill>
                <a:srgbClr val="15803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7225" y="3877567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66534"/>
                </a:solidFill>
                <a:latin typeface="Times New Roman" panose="02020603050405020304" charset="0"/>
                <a:cs typeface="Times New Roman" panose="02020603050405020304" charset="0"/>
              </a:rPr>
              <a:t>Reset risk timer and seamlessly continue journey telemetry monitoring without disturbing user or dispatching false alerts.</a:t>
            </a:r>
            <a:endParaRPr sz="1050" b="0" i="0" u="none">
              <a:solidFill>
                <a:srgbClr val="16653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38925" y="3601342"/>
            <a:ext cx="55530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Times New Roman" panose="02020603050405020304" charset="0"/>
                <a:cs typeface="Times New Roman" panose="02020603050405020304" charset="0"/>
              </a:rPr>
              <a:t>User Unresponsive / Timeout</a:t>
            </a:r>
            <a:endParaRPr sz="1200" b="1" i="0" u="none">
              <a:solidFill>
                <a:srgbClr val="BE123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67475" y="3877567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50" b="0" i="0" u="none">
              <a:solidFill>
                <a:srgbClr val="9F123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43675" y="3877567"/>
            <a:ext cx="56483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1. Automatically elevate system threat level to </a:t>
            </a:r>
            <a:r>
              <a:rPr sz="1050" b="1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HIGH</a:t>
            </a:r>
            <a:endParaRPr sz="1050" b="1" i="0" u="none">
              <a:solidFill>
                <a:srgbClr val="9F123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67475" y="4077592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50" b="0" i="0" u="none">
              <a:solidFill>
                <a:srgbClr val="9F123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43675" y="4077592"/>
            <a:ext cx="56483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2. Broadcast SMS &amp; Web alerts to emergency contacts</a:t>
            </a:r>
            <a:endParaRPr sz="1050" b="0" i="0" u="none">
              <a:solidFill>
                <a:srgbClr val="9F123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67475" y="4277617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50" b="0" i="0" u="none">
              <a:solidFill>
                <a:srgbClr val="9F123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43675" y="4277617"/>
            <a:ext cx="56483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3. Share live coordinates, Black Box logs &amp; reverse tracking</a:t>
            </a:r>
            <a:endParaRPr sz="1050" b="0" i="0" u="none">
              <a:solidFill>
                <a:srgbClr val="9F123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67475" y="4477642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50" b="0" i="0" u="none">
              <a:solidFill>
                <a:srgbClr val="9F123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43675" y="4477642"/>
            <a:ext cx="56483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F1239"/>
                </a:solidFill>
                <a:latin typeface="Times New Roman" panose="02020603050405020304" charset="0"/>
                <a:cs typeface="Times New Roman" panose="02020603050405020304" charset="0"/>
              </a:rPr>
              <a:t>4. Dispatch spatial distress signals to nearby helpers</a:t>
            </a:r>
            <a:endParaRPr sz="1050" b="0" i="0" u="none">
              <a:solidFill>
                <a:srgbClr val="9F123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725" y="2680394"/>
            <a:ext cx="279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65735" y="2680394"/>
            <a:ext cx="2076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42185" y="2680394"/>
            <a:ext cx="3356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99003" y="2680394"/>
            <a:ext cx="30262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6725" y="3636466"/>
            <a:ext cx="279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5735" y="3636466"/>
            <a:ext cx="2076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42185" y="3636466"/>
            <a:ext cx="3356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99003" y="3636466"/>
            <a:ext cx="30262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6725" y="4772025"/>
            <a:ext cx="279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5735" y="4772025"/>
            <a:ext cx="2076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42185" y="4772025"/>
            <a:ext cx="3356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99003" y="4772025"/>
            <a:ext cx="30262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163835"/>
          <a:ext cx="11258549" cy="4573785"/>
        </p:xfrm>
        <a:graphic>
          <a:graphicData uri="http://schemas.openxmlformats.org/drawingml/2006/table">
            <a:tbl>
              <a:tblPr/>
              <a:tblGrid>
                <a:gridCol w="2799010"/>
                <a:gridCol w="2076450"/>
                <a:gridCol w="3356818"/>
                <a:gridCol w="3026271"/>
              </a:tblGrid>
              <a:tr h="91475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Paper Title &amp; Authors</a:t>
                      </a:r>
                      <a:endParaRPr sz="975" b="1" i="0" u="none">
                        <a:solidFill>
                          <a:srgbClr val="FFFFFF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Venue &amp; Publication</a:t>
                      </a:r>
                      <a:endParaRPr sz="975" b="1" i="0" u="none">
                        <a:solidFill>
                          <a:srgbClr val="FFFFFF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Core Features &amp; Scope</a:t>
                      </a:r>
                      <a:endParaRPr sz="975" b="1" i="0" u="none">
                        <a:solidFill>
                          <a:srgbClr val="FFFFFF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Limitations &amp; SafeHer Improvements</a:t>
                      </a:r>
                      <a:endParaRPr sz="975" b="1" i="0" u="none">
                        <a:solidFill>
                          <a:srgbClr val="FFFFFF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91475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AI Powered Women Safety Android App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825" b="0" i="0" u="none">
                          <a:solidFill>
                            <a:srgbClr val="64748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Satyam Kumar, Vashu Verma, et al.</a:t>
                      </a:r>
                      <a:endParaRPr sz="825" b="0" i="0" u="none">
                        <a:solidFill>
                          <a:srgbClr val="64748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IEEE IC2PCT (2026)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750" b="0" i="0" u="none">
                          <a:solidFill>
                            <a:srgbClr val="0284C7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DOI: 10.1109/IC2PCT68894.2026.11584292</a:t>
                      </a:r>
                      <a:endParaRPr sz="750" b="0" i="0" u="none">
                        <a:solidFill>
                          <a:srgbClr val="0284C7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Android SOS feature, live GPS sharing, auto contact alerts, fake-call simulation, background audio recording, OTP auth, NLP Safety Diary.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Limitations: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Manual SOS triggers, lacks route tracking.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SafeHer: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Smart journey registration, expected arrival, deviation alerts, responder coordination.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475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FemiGuard: Smart Women's Safety with AI Chatbot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825" b="0" i="0" u="none">
                          <a:solidFill>
                            <a:srgbClr val="64748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A. M., Arinii M. K., et al.</a:t>
                      </a:r>
                      <a:endParaRPr sz="825" b="0" i="0" u="none">
                        <a:solidFill>
                          <a:srgbClr val="64748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IJFMR Journal (2025)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750" b="0" i="0" u="none">
                          <a:solidFill>
                            <a:srgbClr val="0284C7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DOI: 10.36948/ijfmr.2025.v07i05.58677</a:t>
                      </a:r>
                      <a:endParaRPr sz="750" b="0" i="0" u="none">
                        <a:solidFill>
                          <a:srgbClr val="0284C7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SOS alerts, live GPS, background voice recording, NLP chatbot, safe routes, location helplines, self-defence tutorials.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Limitations: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Reactive during active threat.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SafeHer: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Proactive journey monitoring, dynamic safety check-ins, discreet SOS, secure evidence management.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91475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AI Safety App with Threat Detection &amp; Routing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825" b="0" i="0" u="none">
                          <a:solidFill>
                            <a:srgbClr val="64748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S. R., Liza Mandal, et al.</a:t>
                      </a:r>
                      <a:endParaRPr sz="825" b="0" i="0" u="none">
                        <a:solidFill>
                          <a:srgbClr val="64748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IEEE ICECCC (2026)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750" b="0" i="0" u="none">
                          <a:solidFill>
                            <a:srgbClr val="0284C7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DOI: 10.1109/ICECCC70334.2026.11633022</a:t>
                      </a:r>
                      <a:endParaRPr sz="750" b="0" i="0" u="none">
                        <a:solidFill>
                          <a:srgbClr val="0284C7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Smartphone sensor threat detection, 1D-CNN-LSTM model, stealth validation, dynamic police routing, WebSockets &amp; SMS fallback.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Limitations: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Sensor false positives/negatives, battery drain.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SafeHer: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Contextual journey risk scoring, missed check-in detection, emergency dashboard.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475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RescueNow: Real-Time SOS &amp; Predictive Safety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825" b="0" i="0" u="none">
                          <a:solidFill>
                            <a:srgbClr val="64748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Dnyaneshwari Navale</a:t>
                      </a:r>
                      <a:endParaRPr sz="825" b="0" i="0" u="none">
                        <a:solidFill>
                          <a:srgbClr val="64748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IJSREM Journal (2024)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750" b="0" i="0" u="none">
                          <a:solidFill>
                            <a:srgbClr val="0284C7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DOI: 10.55041/ijsrem38086</a:t>
                      </a:r>
                      <a:endParaRPr sz="750" b="0" i="0" u="none">
                        <a:solidFill>
                          <a:srgbClr val="0284C7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Real-time SOS, voice/shake triggers, silent recording, geofencing, AI crime prediction, police dispatch, community ratings.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Limitations: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Post-incident focus without active transit checks.</a:t>
                      </a:r>
                      <a:r>
                        <a:rPr>
                          <a:latin typeface="Times New Roman" panose="02020603050405020304" charset="0"/>
                          <a:cs typeface="Times New Roman" panose="02020603050405020304" charset="0"/>
                        </a:rPr>
                        <a:t>
</a:t>
                      </a:r>
                      <a:r>
                        <a:rPr sz="975" b="1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SafeHer: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Planned journey monitoring, reverse tracking, last-safe-moment reconstruction.</a:t>
                      </a:r>
                      <a:endParaRPr sz="975" b="0" i="0" u="none">
                        <a:solidFill>
                          <a:srgbClr val="334155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1239500" y="630435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72775" y="6486525"/>
            <a:ext cx="1247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Academic Review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304800"/>
            <a:ext cx="47505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Space Grotesk"/>
              </a:rPr>
              <a:t>ACADEMIC FOUNDATION</a:t>
            </a:r>
            <a:endParaRPr sz="975" b="1" i="0" u="none">
              <a:solidFill>
                <a:srgbClr val="E11D48"/>
              </a:solidFill>
              <a:latin typeface="Space Grotesk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504825"/>
            <a:ext cx="4750593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Literature Survey &amp; Prior Works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3478410"/>
            <a:ext cx="11277600" cy="860821"/>
          </a:xfrm>
          <a:prstGeom prst="roundRect">
            <a:avLst>
              <a:gd name="adj" fmla="val 11065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163835"/>
            <a:ext cx="5543550" cy="2162175"/>
          </a:xfrm>
          <a:prstGeom prst="roundRect">
            <a:avLst>
              <a:gd name="adj" fmla="val 440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91250" y="1163835"/>
            <a:ext cx="5543550" cy="2162175"/>
          </a:xfrm>
          <a:prstGeom prst="roundRect">
            <a:avLst>
              <a:gd name="adj" fmla="val 4405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316485"/>
            <a:ext cx="554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163835"/>
            <a:ext cx="554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163835"/>
            <a:ext cx="38100" cy="21621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91225" y="1163835"/>
            <a:ext cx="9525" cy="2162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1250" y="3316485"/>
            <a:ext cx="554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91250" y="1163835"/>
            <a:ext cx="554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91250" y="1163835"/>
            <a:ext cx="38100" cy="21621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725275" y="1163835"/>
            <a:ext cx="9525" cy="2162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659385"/>
            <a:ext cx="95250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87673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387673"/>
            <a:ext cx="1524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68000" y="6486525"/>
            <a:ext cx="13525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Comparative Study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04800"/>
            <a:ext cx="80129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GAP ANALYSIS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04825"/>
            <a:ext cx="8012906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Reactive SOS Apps vs. Proactive Journey Monitoring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7225" y="3640335"/>
            <a:ext cx="11534775" cy="1524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Key Value Contribution:</a:t>
            </a:r>
            <a:endParaRPr sz="975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7225" y="3830835"/>
            <a:ext cx="109728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CBD5E1"/>
                </a:solidFill>
                <a:latin typeface="Times New Roman" panose="02020603050405020304" charset="0"/>
                <a:cs typeface="Times New Roman" panose="02020603050405020304" charset="0"/>
              </a:rPr>
              <a:t>SafeHer addresses critical literature gaps by replacing single-point SOS triggers with a continuous web-based safety twin that monitors transit progress, manages evidence securely, and orchestrates authorized responder coordination before a threat escalates.</a:t>
            </a:r>
            <a:endParaRPr sz="975" b="0" i="0" u="none">
              <a:solidFill>
                <a:srgbClr val="CBD5E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3450" y="1363860"/>
            <a:ext cx="614600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Times New Roman" panose="02020603050405020304" charset="0"/>
                <a:cs typeface="Times New Roman" panose="02020603050405020304" charset="0"/>
              </a:rPr>
              <a:t>Reactive SOS Applications (Existing Works)</a:t>
            </a:r>
            <a:endParaRPr sz="1200" b="1" i="0" u="none">
              <a:solidFill>
                <a:srgbClr val="991B1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67500" y="1363860"/>
            <a:ext cx="55245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Times New Roman" panose="02020603050405020304" charset="0"/>
                <a:cs typeface="Times New Roman" panose="02020603050405020304" charset="0"/>
              </a:rPr>
              <a:t>Proactive Journey Monitoring (SafeHer Solution)</a:t>
            </a:r>
            <a:endParaRPr sz="1200" b="1" i="0" u="none">
              <a:solidFill>
                <a:srgbClr val="065F4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1525" y="1637704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975" b="0" i="0" u="none">
              <a:solidFill>
                <a:srgbClr val="7F1D1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8200" y="1640085"/>
            <a:ext cx="5057775" cy="37147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Manual Trigger Dependency:</a:t>
            </a:r>
            <a:r>
              <a:rPr sz="975" b="0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 Require explicit user action (button press, shake) during active danger.</a:t>
            </a:r>
            <a:endParaRPr sz="975" b="0" i="0" u="none">
              <a:solidFill>
                <a:srgbClr val="7F1D1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1525" y="2009179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975" b="0" i="0" u="none">
              <a:solidFill>
                <a:srgbClr val="7F1D1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8200" y="2011560"/>
            <a:ext cx="5057775" cy="37147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Sensor Reliability Issues:</a:t>
            </a:r>
            <a:r>
              <a:rPr sz="975" b="0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 High rate of false positives/negatives in CNN-LSTM/accelerometer models.</a:t>
            </a:r>
            <a:endParaRPr sz="975" b="0" i="0" u="none">
              <a:solidFill>
                <a:srgbClr val="7F1D1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1525" y="2380654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975" b="0" i="0" u="none">
              <a:solidFill>
                <a:srgbClr val="7F1D1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8200" y="2383035"/>
            <a:ext cx="5057775" cy="37147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Lack of Transit Context:</a:t>
            </a:r>
            <a:r>
              <a:rPr sz="975" b="0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 Basic live GPS without expected arrival or route-deviation awareness.</a:t>
            </a:r>
            <a:endParaRPr sz="975" b="0" i="0" u="none">
              <a:solidFill>
                <a:srgbClr val="7F1D1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1525" y="2752129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975" b="0" i="0" u="none">
              <a:solidFill>
                <a:srgbClr val="7F1D1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8200" y="2754510"/>
            <a:ext cx="5057775" cy="37147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Fragmented Response:</a:t>
            </a:r>
            <a:r>
              <a:rPr sz="975" b="0" i="0" u="none">
                <a:solidFill>
                  <a:srgbClr val="7F1D1D"/>
                </a:solidFill>
                <a:latin typeface="Times New Roman" panose="02020603050405020304" charset="0"/>
                <a:cs typeface="Times New Roman" panose="02020603050405020304" charset="0"/>
              </a:rPr>
              <a:t> Isolated notifications lacking emergency dashboard and evidence chain.</a:t>
            </a:r>
            <a:endParaRPr sz="975" b="0" i="0" u="none">
              <a:solidFill>
                <a:srgbClr val="7F1D1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05575" y="1637704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975" b="0" i="0" u="none">
              <a:solidFill>
                <a:srgbClr val="064E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72250" y="1640085"/>
            <a:ext cx="5057775" cy="37147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Automated Check-in Escalation:</a:t>
            </a:r>
            <a:r>
              <a:rPr sz="975" b="0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 Triggers safety alerts automatically if user misses scheduled check-ins.</a:t>
            </a:r>
            <a:endParaRPr sz="975" b="0" i="0" u="none">
              <a:solidFill>
                <a:srgbClr val="064E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05575" y="2009179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975" b="0" i="0" u="none">
              <a:solidFill>
                <a:srgbClr val="064E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72250" y="2011560"/>
            <a:ext cx="5057775" cy="37147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Route Deviation Tracking:</a:t>
            </a:r>
            <a:r>
              <a:rPr sz="975" b="0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 Monitors active transit path against planned journey in real time.</a:t>
            </a:r>
            <a:endParaRPr sz="975" b="0" i="0" u="none">
              <a:solidFill>
                <a:srgbClr val="064E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05575" y="2380654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975" b="0" i="0" u="none">
              <a:solidFill>
                <a:srgbClr val="064E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72250" y="2383035"/>
            <a:ext cx="5057775" cy="37147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Contextual Risk Scoring:</a:t>
            </a:r>
            <a:r>
              <a:rPr sz="975" b="0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 Synthesizes journey parameters, time of day, and spatial geofences.</a:t>
            </a:r>
            <a:endParaRPr sz="975" b="0" i="0" u="none">
              <a:solidFill>
                <a:srgbClr val="064E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05575" y="2752129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975" b="0" i="0" u="none">
              <a:solidFill>
                <a:srgbClr val="064E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72250" y="2754510"/>
            <a:ext cx="5057775" cy="37147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Reverse Tracking &amp; Digital Black Box:</a:t>
            </a:r>
            <a:r>
              <a:rPr sz="975" b="0" i="0" u="none">
                <a:solidFill>
                  <a:srgbClr val="064E3B"/>
                </a:solidFill>
                <a:latin typeface="Times New Roman" panose="02020603050405020304" charset="0"/>
                <a:cs typeface="Times New Roman" panose="02020603050405020304" charset="0"/>
              </a:rPr>
              <a:t> Reconstructs last-safe-moment telemetry for responders.</a:t>
            </a:r>
            <a:endParaRPr sz="975" b="0" i="0" u="none">
              <a:solidFill>
                <a:srgbClr val="064E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63835"/>
            <a:ext cx="3632150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79850" y="1163835"/>
            <a:ext cx="3632150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102500" y="1163835"/>
            <a:ext cx="3632299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630685"/>
            <a:ext cx="3632150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79850" y="2630685"/>
            <a:ext cx="3632150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02500" y="2630685"/>
            <a:ext cx="3632299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387673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875" y="1387673"/>
            <a:ext cx="1714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2854523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875" y="2854523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525" y="2854523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91850" y="6486525"/>
            <a:ext cx="1028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Project Goals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304800"/>
            <a:ext cx="542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PROJECT IMPACT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04825"/>
            <a:ext cx="542925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Expected Outcomes &amp; Deliverables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5825" y="1363860"/>
            <a:ext cx="38115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Rapid Emergency Alerting</a:t>
            </a:r>
            <a:endParaRPr sz="1200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7225" y="164008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Significantly reduces emergency contact notification latency during distress situations via automated WebSocket and SMS push networks.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46575" y="1363860"/>
            <a:ext cx="37734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Continuous Journey Awareness</a:t>
            </a:r>
            <a:endParaRPr sz="120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79875" y="164008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Provides persistent situational awareness to authorized guardians during late-night transit without intrusive manual updates.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97775" y="1363860"/>
            <a:ext cx="3794224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Times New Roman" panose="02020603050405020304" charset="0"/>
                <a:cs typeface="Times New Roman" panose="02020603050405020304" charset="0"/>
              </a:rPr>
              <a:t>Early Threat Identification</a:t>
            </a:r>
            <a:endParaRPr sz="1200" b="1" i="0" u="none">
              <a:solidFill>
                <a:srgbClr val="D9770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02525" y="1640085"/>
            <a:ext cx="33274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Identifies potential risk scenarios (unplanned stops, route deviations) before physical threats escalate into unmanageable crises.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4875" y="2830710"/>
            <a:ext cx="37924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7C3AED"/>
                </a:solidFill>
                <a:latin typeface="Times New Roman" panose="02020603050405020304" charset="0"/>
                <a:cs typeface="Times New Roman" panose="02020603050405020304" charset="0"/>
              </a:rPr>
              <a:t>Emergency Black Box Access</a:t>
            </a:r>
            <a:endParaRPr sz="1200" b="1" i="0" u="none">
              <a:solidFill>
                <a:srgbClr val="7C3AE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7225" y="310693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Preserves critical route history, audio logs, and incident telemetry for post-event investigation and forensic reconstruction.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65625" y="2830710"/>
            <a:ext cx="37543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Times New Roman" panose="02020603050405020304" charset="0"/>
                <a:cs typeface="Times New Roman" panose="02020603050405020304" charset="0"/>
              </a:rPr>
              <a:t>Community Volunteer Network</a:t>
            </a:r>
            <a:endParaRPr sz="1200" b="1" i="0" u="none">
              <a:solidFill>
                <a:srgbClr val="0596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79875" y="310693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Mobilizes nearby registered and verified volunteers to offer localized immediate physical support during initial response windows.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50175" y="2830710"/>
            <a:ext cx="3641824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Times New Roman" panose="02020603050405020304" charset="0"/>
                <a:cs typeface="Times New Roman" panose="02020603050405020304" charset="0"/>
              </a:rPr>
              <a:t>Unified Web Platform</a:t>
            </a:r>
            <a:endParaRPr sz="1200" b="1" i="0" u="none">
              <a:solidFill>
                <a:srgbClr val="2563E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02525" y="3106935"/>
            <a:ext cx="33274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Delivers a high-availability platform accessible across browsers without installation friction or device operating system constraints.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63835"/>
            <a:ext cx="363215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79850" y="1163835"/>
            <a:ext cx="363215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102500" y="1163835"/>
            <a:ext cx="3632299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649735"/>
            <a:ext cx="363215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79850" y="2649735"/>
            <a:ext cx="363215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02500" y="2649735"/>
            <a:ext cx="3632299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449710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163835"/>
            <a:ext cx="36321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1638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9825" y="11638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79850" y="2449710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79850" y="1163835"/>
            <a:ext cx="36321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79850" y="11638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02475" y="11638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02500" y="2449710"/>
            <a:ext cx="3632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02500" y="1163835"/>
            <a:ext cx="3632299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02500" y="11638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725275" y="11638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2425" y="3858775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2649735"/>
            <a:ext cx="36321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26497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079825" y="26497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79850" y="3935610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79850" y="2649735"/>
            <a:ext cx="36321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279850" y="26497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902475" y="26497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02500" y="3935610"/>
            <a:ext cx="3632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02500" y="2649735"/>
            <a:ext cx="3632299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02500" y="26497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725275" y="2649735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875" y="1406723"/>
            <a:ext cx="1143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525" y="1406723"/>
            <a:ext cx="1714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875" y="2892623"/>
            <a:ext cx="1905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525" y="2892623"/>
            <a:ext cx="190500" cy="152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239500" y="630435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001375" y="6614795"/>
            <a:ext cx="1019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Future Scope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304800"/>
            <a:ext cx="4536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SCALABILITY ROADMAP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504825"/>
            <a:ext cx="4536281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Future System Enhancements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52475" y="1382910"/>
            <a:ext cx="39448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Wearable IoT Integration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7225" y="165913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Connect with smartwatches and biometric bands for automated stress pulse detection and gesture-based emergency triggers.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89425" y="1382910"/>
            <a:ext cx="38305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Voice-Activated Trigger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479875" y="165913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Implement speech recognition for hands-free, voice keyword emergency activation during physical restraint scenarios.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69225" y="1382910"/>
            <a:ext cx="3622774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Emergency Services API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02525" y="1659135"/>
            <a:ext cx="33274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Direct dispatch integration with local police control rooms and emergency response dispatch centers (112 API).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2475" y="2868810"/>
            <a:ext cx="39448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Advanced Geospatial AI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57225" y="314503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Predictive crime risk modeling leveraging dynamic spatio-temporal datasets, weather data, and street lighting density.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765625" y="2868810"/>
            <a:ext cx="37543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Multilingual Interface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479875" y="3145035"/>
            <a:ext cx="3327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Regional language adaptation and localized voice assistance for broader usability across diverse demographics.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588275" y="2868810"/>
            <a:ext cx="3603724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Zero-Knowledge Telemetry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02525" y="3145035"/>
            <a:ext cx="33274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Privacy-preserving location encryption algorithms to safeguard user travel logs from unauthorized third-party access.</a:t>
            </a:r>
            <a:endParaRPr sz="105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36270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691580"/>
            <a:ext cx="11277600" cy="676275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2501205"/>
            <a:ext cx="11277600" cy="676275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3310830"/>
            <a:ext cx="11277600" cy="676275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4120455"/>
            <a:ext cx="11277600" cy="676275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4930080"/>
            <a:ext cx="11277600" cy="676275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358330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691580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691580"/>
            <a:ext cx="38100" cy="6762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725275" y="1691580"/>
            <a:ext cx="9525" cy="676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16795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250120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501205"/>
            <a:ext cx="38100" cy="676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725275" y="2501205"/>
            <a:ext cx="9525" cy="676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3977580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3310830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310830"/>
            <a:ext cx="38100" cy="676275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725275" y="3310830"/>
            <a:ext cx="9525" cy="676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478720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412045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4120455"/>
            <a:ext cx="38100" cy="676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725275" y="4120455"/>
            <a:ext cx="9525" cy="676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5596830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4930080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4930080"/>
            <a:ext cx="38100" cy="6762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725275" y="4930080"/>
            <a:ext cx="9525" cy="676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00812"/>
            <a:ext cx="114300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7700" y="64865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9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96575" y="6486525"/>
            <a:ext cx="13239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Project Conclusion</a:t>
            </a:r>
            <a:endParaRPr sz="9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304800"/>
            <a:ext cx="2905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Times New Roman" panose="02020603050405020304" charset="0"/>
                <a:cs typeface="Times New Roman" panose="02020603050405020304" charset="0"/>
              </a:rPr>
              <a:t>SUMMARY</a:t>
            </a:r>
            <a:endParaRPr sz="975" b="1" i="0" u="none">
              <a:solidFill>
                <a:srgbClr val="E11D4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504825"/>
            <a:ext cx="2905125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Project Conclusion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" y="1853505"/>
            <a:ext cx="1150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1. Paradigm Shift to Proactive Protection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5800" y="2053530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SafeHer successfully redefines women safety platforms by transitioning from passive manual panic buttons to continuous, automated journey monitoring.</a:t>
            </a:r>
            <a:endParaRPr sz="975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5800" y="2663130"/>
            <a:ext cx="1150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2. Integrated Web Solution Architecture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2863155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Built on React, Spring Boot, and PostgreSQL/Supabase, providing a resilient web platform accessible without app store installation friction.</a:t>
            </a:r>
            <a:endParaRPr sz="975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" y="3472755"/>
            <a:ext cx="1150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3. AI-Assisted Risk Analysis Engine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" y="3672780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Combines real-time route telemetry, spatial geofences, and dynamic check-in responses to intelligently evaluate threat severity levels.</a:t>
            </a:r>
            <a:endParaRPr sz="975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5800" y="4282380"/>
            <a:ext cx="1150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4. Automated Multi-Tier Emergency Orchestration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5800" y="4482405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Ensures rapid notification dispatch to emergency contacts, reverse tracking access, and volunteer support hubs upon missed check-in triggers.</a:t>
            </a:r>
            <a:endParaRPr sz="975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5092005"/>
            <a:ext cx="1150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5. Practical Engineering &amp; Real-World Scalability</a:t>
            </a:r>
            <a:endParaRPr sz="11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5800" y="5292030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Lays a foundational architecture suitable for real-world deployment, smart city integration, law-enforcement APIs, and wearable device expansion.</a:t>
            </a:r>
            <a:endParaRPr sz="975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1905"/>
            <a:ext cx="1219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153160"/>
            <a:ext cx="11277600" cy="2795905"/>
          </a:xfrm>
          <a:prstGeom prst="roundRect">
            <a:avLst>
              <a:gd name="adj" fmla="val 39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51905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0017"/>
            <a:ext cx="114300" cy="114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700" y="6470333"/>
            <a:ext cx="2422525" cy="1536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SafeHer: AI-Driven Women Safety Platform</a:t>
            </a:r>
            <a:endParaRPr sz="10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15625" y="6475730"/>
            <a:ext cx="949960" cy="153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Academic Sources</a:t>
            </a:r>
            <a:endParaRPr sz="100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94030"/>
            <a:ext cx="241046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4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References &amp; Key Bibliography</a:t>
            </a:r>
            <a:endParaRPr sz="14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7225" y="1353065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[1]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Satyam Kumar, Vashu Verma, et al., "AI Powered Women Safety Android App," in </a:t>
            </a:r>
            <a:r>
              <a:rPr sz="1000" b="0" i="1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2026 IEEE 6th International Conference on Computing, Power, and Communication Technologies (IC2PCT)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, 2026. DOI: 10.1109/IC2PCT68894.2026.11584292.</a:t>
            </a:r>
            <a:endParaRPr sz="100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7225" y="1753115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[2]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A. M., Arinii M. K., et al., "FemiGuard: A Smart Women's Safety and Support System with AI Chatbot Powered by NLP," </a:t>
            </a:r>
            <a:r>
              <a:rPr sz="1000" b="0" i="1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International Journal for Multidisciplinary Research (IJFMR)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, vol. 7, no. 5, 2025. DOI: 10.36948/ijfmr.2025.v07i05.58677.</a:t>
            </a:r>
            <a:endParaRPr sz="100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7225" y="2153165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[3]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S. R., Liza Mandal, et al., "An AI-Powered Women's Safety Application with Autonomous Threat Detection and Dynamic Routing," in </a:t>
            </a:r>
            <a:r>
              <a:rPr sz="1000" b="0" i="1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2026 International Conference on Electronics, Computing, Communication and Control Technology (ICECCC)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, 2026. DOI: 10.1109/ICECCC70334.2026.11633022.</a:t>
            </a:r>
            <a:endParaRPr sz="100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225" y="2553215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[4]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Dnyaneshwari Navale, "RescueNow: Real-Time SOS and Predictive Women's Safety System," </a:t>
            </a:r>
            <a:r>
              <a:rPr sz="1000" b="0" i="1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International Journal of Scientific Research in Engineering and Management (IJSREM)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, vol. 8, 2024. DOI: 10.55041/ijsrem38086.</a:t>
            </a:r>
            <a:endParaRPr sz="100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7225" y="2953265"/>
            <a:ext cx="10332085" cy="153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[5]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S. Sharma, A. Kumar, and P. R. Rao, "Smart Women Safety System using IoT and Machine Learning," in </a:t>
            </a:r>
            <a:r>
              <a:rPr sz="1000" b="0" i="1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IEEE International Conference on Computing, Communication and Security (ICCCS)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, 2023.</a:t>
            </a:r>
            <a:endParaRPr sz="100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7225" y="3210440"/>
            <a:ext cx="7439660" cy="153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[6]</a:t>
            </a:r>
            <a:r>
              <a:rPr sz="100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Spring Boot Documentation &amp; React.js Technical Architecture Specifications, 2025. [Online]. Available: https://spring.io/projects/spring-boot</a:t>
            </a:r>
            <a:endParaRPr sz="100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13799</Words>
  <Application>WPS Presentation</Application>
  <PresentationFormat>On-screen Show (4:3)</PresentationFormat>
  <Paragraphs>573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Arial</vt:lpstr>
      <vt:lpstr>Space Grotesk</vt:lpstr>
      <vt:lpstr>Segoe Print</vt:lpstr>
      <vt:lpstr>Plus Jakarta Sans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Shalini</cp:lastModifiedBy>
  <cp:revision>5</cp:revision>
  <dcterms:created xsi:type="dcterms:W3CDTF">2013-01-27T09:14:00Z</dcterms:created>
  <dcterms:modified xsi:type="dcterms:W3CDTF">2026-10-13T16:02:09Z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1A300DBD361244439316E880E9588E99_13</vt:lpwstr>
  </property>
</Properties>
</file>